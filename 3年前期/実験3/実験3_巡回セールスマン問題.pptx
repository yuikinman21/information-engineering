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Lst>
  <p:notesMasterIdLst>
    <p:notesMasterId r:id="rId30"/>
  </p:notesMasterIdLst>
  <p:sldIdLst>
    <p:sldId id="256" r:id="rId5"/>
    <p:sldId id="257" r:id="rId6"/>
    <p:sldId id="260" r:id="rId7"/>
    <p:sldId id="258" r:id="rId8"/>
    <p:sldId id="271" r:id="rId9"/>
    <p:sldId id="259" r:id="rId10"/>
    <p:sldId id="262" r:id="rId11"/>
    <p:sldId id="261" r:id="rId12"/>
    <p:sldId id="263" r:id="rId13"/>
    <p:sldId id="268" r:id="rId14"/>
    <p:sldId id="270" r:id="rId15"/>
    <p:sldId id="264" r:id="rId16"/>
    <p:sldId id="278" r:id="rId17"/>
    <p:sldId id="272" r:id="rId18"/>
    <p:sldId id="266" r:id="rId19"/>
    <p:sldId id="283" r:id="rId20"/>
    <p:sldId id="275" r:id="rId21"/>
    <p:sldId id="276" r:id="rId22"/>
    <p:sldId id="277" r:id="rId23"/>
    <p:sldId id="279" r:id="rId24"/>
    <p:sldId id="281" r:id="rId25"/>
    <p:sldId id="282" r:id="rId26"/>
    <p:sldId id="285" r:id="rId27"/>
    <p:sldId id="274"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1C1A"/>
    <a:srgbClr val="95D292"/>
    <a:srgbClr val="4CAE44"/>
    <a:srgbClr val="FFC000"/>
    <a:srgbClr val="3D8DCC"/>
    <a:srgbClr val="A2C7E6"/>
    <a:srgbClr val="FFCB85"/>
    <a:srgbClr val="86CC82"/>
    <a:srgbClr val="C8DEF0"/>
    <a:srgbClr val="C8E8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183" autoAdjust="0"/>
    <p:restoredTop sz="94660"/>
  </p:normalViewPr>
  <p:slideViewPr>
    <p:cSldViewPr snapToGrid="0">
      <p:cViewPr varScale="1">
        <p:scale>
          <a:sx n="67" d="100"/>
          <a:sy n="67" d="100"/>
        </p:scale>
        <p:origin x="18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牧野　唯希" userId="ae3a697a-4538-4775-ae81-e276d3af3144" providerId="ADAL" clId="{5158EEAB-47F5-45D6-BE40-19485A2EE863}"/>
    <pc:docChg chg="undo custSel modSld">
      <pc:chgData name="牧野　唯希" userId="ae3a697a-4538-4775-ae81-e276d3af3144" providerId="ADAL" clId="{5158EEAB-47F5-45D6-BE40-19485A2EE863}" dt="2025-06-05T04:29:39.960" v="12" actId="27918"/>
      <pc:docMkLst>
        <pc:docMk/>
      </pc:docMkLst>
      <pc:sldChg chg="modSp mod">
        <pc:chgData name="牧野　唯希" userId="ae3a697a-4538-4775-ae81-e276d3af3144" providerId="ADAL" clId="{5158EEAB-47F5-45D6-BE40-19485A2EE863}" dt="2025-06-05T04:24:42.423" v="2" actId="20577"/>
        <pc:sldMkLst>
          <pc:docMk/>
          <pc:sldMk cId="3735163454" sldId="275"/>
        </pc:sldMkLst>
        <pc:spChg chg="mod">
          <ac:chgData name="牧野　唯希" userId="ae3a697a-4538-4775-ae81-e276d3af3144" providerId="ADAL" clId="{5158EEAB-47F5-45D6-BE40-19485A2EE863}" dt="2025-06-05T04:24:42.423" v="2" actId="20577"/>
          <ac:spMkLst>
            <pc:docMk/>
            <pc:sldMk cId="3735163454" sldId="275"/>
            <ac:spMk id="6" creationId="{AB062C4F-5D4A-25C6-BC56-8EFBE989FEDC}"/>
          </ac:spMkLst>
        </pc:spChg>
      </pc:sldChg>
      <pc:sldChg chg="modSp mod">
        <pc:chgData name="牧野　唯希" userId="ae3a697a-4538-4775-ae81-e276d3af3144" providerId="ADAL" clId="{5158EEAB-47F5-45D6-BE40-19485A2EE863}" dt="2025-06-05T04:29:39.960" v="12" actId="27918"/>
        <pc:sldMkLst>
          <pc:docMk/>
          <pc:sldMk cId="1491555098" sldId="282"/>
        </pc:sldMkLst>
        <pc:picChg chg="mod">
          <ac:chgData name="牧野　唯希" userId="ae3a697a-4538-4775-ae81-e276d3af3144" providerId="ADAL" clId="{5158EEAB-47F5-45D6-BE40-19485A2EE863}" dt="2025-06-05T04:24:52.702" v="4" actId="1076"/>
          <ac:picMkLst>
            <pc:docMk/>
            <pc:sldMk cId="1491555098" sldId="282"/>
            <ac:picMk id="14" creationId="{F781DE9D-761C-D17D-5093-0FBE42E98E27}"/>
          </ac:picMkLst>
        </pc:picChg>
      </pc:sldChg>
      <pc:sldChg chg="mod">
        <pc:chgData name="牧野　唯希" userId="ae3a697a-4538-4775-ae81-e276d3af3144" providerId="ADAL" clId="{5158EEAB-47F5-45D6-BE40-19485A2EE863}" dt="2025-06-05T04:25:40.620" v="10" actId="27918"/>
        <pc:sldMkLst>
          <pc:docMk/>
          <pc:sldMk cId="1589931731" sldId="285"/>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総移動距離</c:v>
                </c:pt>
              </c:strCache>
            </c:strRef>
          </c:tx>
          <c:spPr>
            <a:solidFill>
              <a:srgbClr val="3D8DCC"/>
            </a:solidFill>
            <a:ln w="28575">
              <a:solidFill>
                <a:srgbClr val="261C1A"/>
              </a:solidFill>
            </a:ln>
            <a:effectLst/>
          </c:spPr>
          <c:invertIfNegative val="0"/>
          <c:cat>
            <c:strRef>
              <c:f>Sheet1!$A$2:$A$5</c:f>
              <c:strCache>
                <c:ptCount val="4"/>
                <c:pt idx="0">
                  <c:v>最近隣法</c:v>
                </c:pt>
                <c:pt idx="1">
                  <c:v>2-opt法</c:v>
                </c:pt>
                <c:pt idx="2">
                  <c:v>多出発局所探索</c:v>
                </c:pt>
                <c:pt idx="3">
                  <c:v>Held-Kerp法</c:v>
                </c:pt>
              </c:strCache>
            </c:strRef>
          </c:cat>
          <c:val>
            <c:numRef>
              <c:f>Sheet1!$B$2:$B$5</c:f>
              <c:numCache>
                <c:formatCode>General</c:formatCode>
                <c:ptCount val="4"/>
                <c:pt idx="0">
                  <c:v>963.57</c:v>
                </c:pt>
                <c:pt idx="1">
                  <c:v>910.07</c:v>
                </c:pt>
                <c:pt idx="2">
                  <c:v>895.68</c:v>
                </c:pt>
                <c:pt idx="3">
                  <c:v>895.68</c:v>
                </c:pt>
              </c:numCache>
            </c:numRef>
          </c:val>
          <c:extLst>
            <c:ext xmlns:c16="http://schemas.microsoft.com/office/drawing/2014/chart" uri="{C3380CC4-5D6E-409C-BE32-E72D297353CC}">
              <c16:uniqueId val="{00000000-D8FE-44D8-9A1A-52E85B2E171B}"/>
            </c:ext>
          </c:extLst>
        </c:ser>
        <c:dLbls>
          <c:showLegendKey val="0"/>
          <c:showVal val="0"/>
          <c:showCatName val="0"/>
          <c:showSerName val="0"/>
          <c:showPercent val="0"/>
          <c:showBubbleSize val="0"/>
        </c:dLbls>
        <c:gapWidth val="219"/>
        <c:overlap val="-27"/>
        <c:axId val="1215669296"/>
        <c:axId val="1215668336"/>
      </c:barChart>
      <c:lineChart>
        <c:grouping val="stacked"/>
        <c:varyColors val="0"/>
        <c:ser>
          <c:idx val="1"/>
          <c:order val="1"/>
          <c:tx>
            <c:strRef>
              <c:f>Sheet1!$C$1</c:f>
              <c:strCache>
                <c:ptCount val="1"/>
                <c:pt idx="0">
                  <c:v>実行時間[s]</c:v>
                </c:pt>
              </c:strCache>
            </c:strRef>
          </c:tx>
          <c:spPr>
            <a:ln w="44450" cap="rnd">
              <a:solidFill>
                <a:srgbClr val="77C770"/>
              </a:solidFill>
              <a:round/>
            </a:ln>
            <a:effectLst/>
          </c:spPr>
          <c:marker>
            <c:symbol val="circle"/>
            <c:size val="15"/>
            <c:spPr>
              <a:solidFill>
                <a:srgbClr val="77C770">
                  <a:alpha val="95000"/>
                </a:srgbClr>
              </a:solidFill>
              <a:ln w="25400">
                <a:solidFill>
                  <a:srgbClr val="261C1A">
                    <a:alpha val="96000"/>
                  </a:srgbClr>
                </a:solidFill>
              </a:ln>
              <a:effectLst/>
            </c:spPr>
          </c:marker>
          <c:dPt>
            <c:idx val="3"/>
            <c:marker>
              <c:symbol val="circle"/>
              <c:size val="15"/>
              <c:spPr>
                <a:solidFill>
                  <a:srgbClr val="77C770">
                    <a:alpha val="95000"/>
                  </a:srgbClr>
                </a:solidFill>
                <a:ln w="25400">
                  <a:solidFill>
                    <a:srgbClr val="261C1A">
                      <a:alpha val="96000"/>
                    </a:srgbClr>
                  </a:solidFill>
                </a:ln>
                <a:effectLst/>
              </c:spPr>
            </c:marker>
            <c:bubble3D val="0"/>
            <c:spPr>
              <a:ln w="44450" cap="rnd">
                <a:noFill/>
                <a:round/>
              </a:ln>
              <a:effectLst/>
            </c:spPr>
            <c:extLst>
              <c:ext xmlns:c16="http://schemas.microsoft.com/office/drawing/2014/chart" uri="{C3380CC4-5D6E-409C-BE32-E72D297353CC}">
                <c16:uniqueId val="{00000000-7E6C-47C5-86C2-337A8C4E9E97}"/>
              </c:ext>
            </c:extLst>
          </c:dPt>
          <c:cat>
            <c:strRef>
              <c:f>Sheet1!$A$2:$A$5</c:f>
              <c:strCache>
                <c:ptCount val="4"/>
                <c:pt idx="0">
                  <c:v>最近隣法</c:v>
                </c:pt>
                <c:pt idx="1">
                  <c:v>2-opt法</c:v>
                </c:pt>
                <c:pt idx="2">
                  <c:v>多出発局所探索</c:v>
                </c:pt>
                <c:pt idx="3">
                  <c:v>Held-Kerp法</c:v>
                </c:pt>
              </c:strCache>
            </c:strRef>
          </c:cat>
          <c:val>
            <c:numRef>
              <c:f>Sheet1!$C$2:$C$5</c:f>
              <c:numCache>
                <c:formatCode>General</c:formatCode>
                <c:ptCount val="4"/>
                <c:pt idx="0">
                  <c:v>1.6699999999999999E-4</c:v>
                </c:pt>
                <c:pt idx="1">
                  <c:v>7.7010000000000004E-3</c:v>
                </c:pt>
                <c:pt idx="2">
                  <c:v>0.25761600000000001</c:v>
                </c:pt>
                <c:pt idx="3">
                  <c:v>62.253900000000002</c:v>
                </c:pt>
              </c:numCache>
            </c:numRef>
          </c:val>
          <c:smooth val="0"/>
          <c:extLst>
            <c:ext xmlns:c16="http://schemas.microsoft.com/office/drawing/2014/chart" uri="{C3380CC4-5D6E-409C-BE32-E72D297353CC}">
              <c16:uniqueId val="{00000001-D8FE-44D8-9A1A-52E85B2E171B}"/>
            </c:ext>
          </c:extLst>
        </c:ser>
        <c:dLbls>
          <c:showLegendKey val="0"/>
          <c:showVal val="0"/>
          <c:showCatName val="0"/>
          <c:showSerName val="0"/>
          <c:showPercent val="0"/>
          <c:showBubbleSize val="0"/>
        </c:dLbls>
        <c:marker val="1"/>
        <c:smooth val="0"/>
        <c:axId val="1508043376"/>
        <c:axId val="1488075344"/>
      </c:lineChart>
      <c:catAx>
        <c:axId val="1215669296"/>
        <c:scaling>
          <c:orientation val="minMax"/>
        </c:scaling>
        <c:delete val="0"/>
        <c:axPos val="b"/>
        <c:numFmt formatCode="General" sourceLinked="1"/>
        <c:majorTickMark val="none"/>
        <c:minorTickMark val="none"/>
        <c:tickLblPos val="nextTo"/>
        <c:spPr>
          <a:noFill/>
          <a:ln w="22225" cap="flat" cmpd="sng" algn="ctr">
            <a:solidFill>
              <a:srgbClr val="261C1A"/>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HGS創英角ｺﾞｼｯｸUB" panose="020B0900000000000000" pitchFamily="50" charset="-128"/>
                <a:ea typeface="HGS創英角ｺﾞｼｯｸUB" panose="020B0900000000000000" pitchFamily="50" charset="-128"/>
                <a:cs typeface="+mn-cs"/>
              </a:defRPr>
            </a:pPr>
            <a:endParaRPr lang="ja-JP"/>
          </a:p>
        </c:txPr>
        <c:crossAx val="1215668336"/>
        <c:crosses val="autoZero"/>
        <c:auto val="1"/>
        <c:lblAlgn val="ctr"/>
        <c:lblOffset val="100"/>
        <c:noMultiLvlLbl val="0"/>
      </c:catAx>
      <c:valAx>
        <c:axId val="1215668336"/>
        <c:scaling>
          <c:orientation val="minMax"/>
          <c:max val="1000"/>
          <c:min val="0"/>
        </c:scaling>
        <c:delete val="0"/>
        <c:axPos val="l"/>
        <c:majorGridlines>
          <c:spPr>
            <a:ln w="22225" cap="flat" cmpd="sng" algn="ctr">
              <a:solidFill>
                <a:schemeClr val="tx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ln>
                  <a:solidFill>
                    <a:srgbClr val="3D8DCC"/>
                  </a:solidFill>
                </a:ln>
                <a:solidFill>
                  <a:srgbClr val="3D8DCC"/>
                </a:solidFill>
                <a:latin typeface="HGS創英角ｺﾞｼｯｸUB" panose="020B0900000000000000" pitchFamily="50" charset="-128"/>
                <a:ea typeface="HGS創英角ｺﾞｼｯｸUB" panose="020B0900000000000000" pitchFamily="50" charset="-128"/>
                <a:cs typeface="+mn-cs"/>
              </a:defRPr>
            </a:pPr>
            <a:endParaRPr lang="ja-JP"/>
          </a:p>
        </c:txPr>
        <c:crossAx val="1215669296"/>
        <c:crosses val="autoZero"/>
        <c:crossBetween val="between"/>
      </c:valAx>
      <c:valAx>
        <c:axId val="1488075344"/>
        <c:scaling>
          <c:logBase val="10"/>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ln>
                  <a:solidFill>
                    <a:srgbClr val="77C770"/>
                  </a:solidFill>
                </a:ln>
                <a:solidFill>
                  <a:srgbClr val="77C770"/>
                </a:solidFill>
                <a:latin typeface="HGS創英角ｺﾞｼｯｸUB" panose="020B0900000000000000" pitchFamily="50" charset="-128"/>
                <a:ea typeface="HGS創英角ｺﾞｼｯｸUB" panose="020B0900000000000000" pitchFamily="50" charset="-128"/>
                <a:cs typeface="+mn-cs"/>
              </a:defRPr>
            </a:pPr>
            <a:endParaRPr lang="ja-JP"/>
          </a:p>
        </c:txPr>
        <c:crossAx val="1508043376"/>
        <c:crosses val="max"/>
        <c:crossBetween val="between"/>
      </c:valAx>
      <c:catAx>
        <c:axId val="1508043376"/>
        <c:scaling>
          <c:orientation val="minMax"/>
        </c:scaling>
        <c:delete val="1"/>
        <c:axPos val="b"/>
        <c:numFmt formatCode="General" sourceLinked="1"/>
        <c:majorTickMark val="out"/>
        <c:minorTickMark val="none"/>
        <c:tickLblPos val="nextTo"/>
        <c:crossAx val="1488075344"/>
        <c:crosses val="autoZero"/>
        <c:auto val="1"/>
        <c:lblAlgn val="ctr"/>
        <c:lblOffset val="100"/>
        <c:noMultiLvlLbl val="0"/>
      </c:catAx>
      <c:spPr>
        <a:solidFill>
          <a:schemeClr val="bg1"/>
        </a:solidFill>
        <a:ln>
          <a:noFill/>
        </a:ln>
        <a:effectLst/>
      </c:spPr>
    </c:plotArea>
    <c:legend>
      <c:legendPos val="b"/>
      <c:overlay val="0"/>
      <c:spPr>
        <a:noFill/>
        <a:ln>
          <a:noFill/>
        </a:ln>
        <a:effectLst/>
      </c:spPr>
      <c:txPr>
        <a:bodyPr rot="0" spcFirstLastPara="1" vertOverflow="ellipsis" vert="horz" wrap="square" anchor="ctr" anchorCtr="1"/>
        <a:lstStyle/>
        <a:p>
          <a:pPr>
            <a:defRPr sz="2000" b="0" i="0" u="none" strike="noStrike" kern="1200" baseline="0">
              <a:solidFill>
                <a:schemeClr val="tx1"/>
              </a:solidFill>
              <a:latin typeface="HGS創英角ｺﾞｼｯｸUB" panose="020B0900000000000000" pitchFamily="50" charset="-128"/>
              <a:ea typeface="HGS創英角ｺﾞｼｯｸUB" panose="020B0900000000000000"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【都市数20】総移動距離</c:v>
                </c:pt>
              </c:strCache>
            </c:strRef>
          </c:tx>
          <c:spPr>
            <a:solidFill>
              <a:srgbClr val="95D292"/>
            </a:solidFill>
            <a:ln w="28575">
              <a:solidFill>
                <a:srgbClr val="261C1A"/>
              </a:solidFill>
            </a:ln>
            <a:effectLst/>
          </c:spPr>
          <c:invertIfNegative val="0"/>
          <c:cat>
            <c:strRef>
              <c:f>Sheet1!$A$2:$A$5</c:f>
              <c:strCache>
                <c:ptCount val="4"/>
                <c:pt idx="0">
                  <c:v>最近隣法</c:v>
                </c:pt>
                <c:pt idx="1">
                  <c:v>2-opt法</c:v>
                </c:pt>
                <c:pt idx="2">
                  <c:v>多出発局所探索</c:v>
                </c:pt>
                <c:pt idx="3">
                  <c:v>Held-Kerp法</c:v>
                </c:pt>
              </c:strCache>
            </c:strRef>
          </c:cat>
          <c:val>
            <c:numRef>
              <c:f>Sheet1!$B$2:$B$5</c:f>
              <c:numCache>
                <c:formatCode>General</c:formatCode>
                <c:ptCount val="4"/>
                <c:pt idx="0">
                  <c:v>963.57</c:v>
                </c:pt>
                <c:pt idx="1">
                  <c:v>910.07</c:v>
                </c:pt>
                <c:pt idx="2">
                  <c:v>895.68</c:v>
                </c:pt>
                <c:pt idx="3">
                  <c:v>895.68</c:v>
                </c:pt>
              </c:numCache>
            </c:numRef>
          </c:val>
          <c:extLst>
            <c:ext xmlns:c16="http://schemas.microsoft.com/office/drawing/2014/chart" uri="{C3380CC4-5D6E-409C-BE32-E72D297353CC}">
              <c16:uniqueId val="{00000000-D8FE-44D8-9A1A-52E85B2E171B}"/>
            </c:ext>
          </c:extLst>
        </c:ser>
        <c:ser>
          <c:idx val="2"/>
          <c:order val="2"/>
          <c:tx>
            <c:strRef>
              <c:f>Sheet1!$D$1</c:f>
              <c:strCache>
                <c:ptCount val="1"/>
                <c:pt idx="0">
                  <c:v>【都市数25】総移動距離</c:v>
                </c:pt>
              </c:strCache>
            </c:strRef>
          </c:tx>
          <c:spPr>
            <a:solidFill>
              <a:srgbClr val="FFCB85"/>
            </a:solidFill>
            <a:ln w="28575">
              <a:solidFill>
                <a:srgbClr val="261C1A"/>
              </a:solidFill>
            </a:ln>
            <a:effectLst/>
          </c:spPr>
          <c:invertIfNegative val="0"/>
          <c:cat>
            <c:strRef>
              <c:f>Sheet1!$A$2:$A$5</c:f>
              <c:strCache>
                <c:ptCount val="4"/>
                <c:pt idx="0">
                  <c:v>最近隣法</c:v>
                </c:pt>
                <c:pt idx="1">
                  <c:v>2-opt法</c:v>
                </c:pt>
                <c:pt idx="2">
                  <c:v>多出発局所探索</c:v>
                </c:pt>
                <c:pt idx="3">
                  <c:v>Held-Kerp法</c:v>
                </c:pt>
              </c:strCache>
            </c:strRef>
          </c:cat>
          <c:val>
            <c:numRef>
              <c:f>Sheet1!$D$2:$D$5</c:f>
              <c:numCache>
                <c:formatCode>General</c:formatCode>
                <c:ptCount val="4"/>
                <c:pt idx="0">
                  <c:v>1171.43</c:v>
                </c:pt>
                <c:pt idx="1">
                  <c:v>1074.08</c:v>
                </c:pt>
                <c:pt idx="2">
                  <c:v>1025.23</c:v>
                </c:pt>
              </c:numCache>
            </c:numRef>
          </c:val>
          <c:extLst>
            <c:ext xmlns:c16="http://schemas.microsoft.com/office/drawing/2014/chart" uri="{C3380CC4-5D6E-409C-BE32-E72D297353CC}">
              <c16:uniqueId val="{00000000-10D8-4460-A741-B0F177BAE479}"/>
            </c:ext>
          </c:extLst>
        </c:ser>
        <c:ser>
          <c:idx val="4"/>
          <c:order val="4"/>
          <c:tx>
            <c:strRef>
              <c:f>Sheet1!$F$1</c:f>
              <c:strCache>
                <c:ptCount val="1"/>
                <c:pt idx="0">
                  <c:v>【都市数30】総移動距離</c:v>
                </c:pt>
              </c:strCache>
            </c:strRef>
          </c:tx>
          <c:spPr>
            <a:solidFill>
              <a:srgbClr val="A2C7E6"/>
            </a:solidFill>
            <a:ln w="28575">
              <a:solidFill>
                <a:srgbClr val="261C1A">
                  <a:alpha val="97000"/>
                </a:srgbClr>
              </a:solidFill>
            </a:ln>
            <a:effectLst/>
          </c:spPr>
          <c:invertIfNegative val="0"/>
          <c:cat>
            <c:strRef>
              <c:f>Sheet1!$A$2:$A$5</c:f>
              <c:strCache>
                <c:ptCount val="4"/>
                <c:pt idx="0">
                  <c:v>最近隣法</c:v>
                </c:pt>
                <c:pt idx="1">
                  <c:v>2-opt法</c:v>
                </c:pt>
                <c:pt idx="2">
                  <c:v>多出発局所探索</c:v>
                </c:pt>
                <c:pt idx="3">
                  <c:v>Held-Kerp法</c:v>
                </c:pt>
              </c:strCache>
            </c:strRef>
          </c:cat>
          <c:val>
            <c:numRef>
              <c:f>Sheet1!$F$2:$F$5</c:f>
              <c:numCache>
                <c:formatCode>General</c:formatCode>
                <c:ptCount val="4"/>
                <c:pt idx="0">
                  <c:v>1020.66</c:v>
                </c:pt>
                <c:pt idx="1">
                  <c:v>1019.59</c:v>
                </c:pt>
                <c:pt idx="2">
                  <c:v>994.4</c:v>
                </c:pt>
              </c:numCache>
            </c:numRef>
          </c:val>
          <c:extLst>
            <c:ext xmlns:c16="http://schemas.microsoft.com/office/drawing/2014/chart" uri="{C3380CC4-5D6E-409C-BE32-E72D297353CC}">
              <c16:uniqueId val="{00000002-10D8-4460-A741-B0F177BAE479}"/>
            </c:ext>
          </c:extLst>
        </c:ser>
        <c:dLbls>
          <c:showLegendKey val="0"/>
          <c:showVal val="0"/>
          <c:showCatName val="0"/>
          <c:showSerName val="0"/>
          <c:showPercent val="0"/>
          <c:showBubbleSize val="0"/>
        </c:dLbls>
        <c:gapWidth val="150"/>
        <c:axId val="1215669296"/>
        <c:axId val="1215668336"/>
      </c:barChart>
      <c:lineChart>
        <c:grouping val="stacked"/>
        <c:varyColors val="0"/>
        <c:ser>
          <c:idx val="1"/>
          <c:order val="1"/>
          <c:tx>
            <c:strRef>
              <c:f>Sheet1!$C$1</c:f>
              <c:strCache>
                <c:ptCount val="1"/>
                <c:pt idx="0">
                  <c:v>【都市数20】実行時間[s]</c:v>
                </c:pt>
              </c:strCache>
            </c:strRef>
          </c:tx>
          <c:spPr>
            <a:ln w="44450" cap="rnd">
              <a:solidFill>
                <a:srgbClr val="4CAE44"/>
              </a:solidFill>
              <a:round/>
            </a:ln>
            <a:effectLst/>
          </c:spPr>
          <c:marker>
            <c:symbol val="circle"/>
            <c:size val="14"/>
            <c:spPr>
              <a:solidFill>
                <a:srgbClr val="77C770">
                  <a:alpha val="97000"/>
                </a:srgbClr>
              </a:solidFill>
              <a:ln w="25400">
                <a:solidFill>
                  <a:srgbClr val="261C1A"/>
                </a:solidFill>
              </a:ln>
              <a:effectLst/>
            </c:spPr>
          </c:marker>
          <c:dPt>
            <c:idx val="3"/>
            <c:marker>
              <c:symbol val="circle"/>
              <c:size val="14"/>
              <c:spPr>
                <a:solidFill>
                  <a:srgbClr val="77C770">
                    <a:alpha val="97000"/>
                  </a:srgbClr>
                </a:solidFill>
                <a:ln w="25400">
                  <a:solidFill>
                    <a:srgbClr val="261C1A"/>
                  </a:solidFill>
                </a:ln>
                <a:effectLst/>
              </c:spPr>
            </c:marker>
            <c:bubble3D val="0"/>
            <c:spPr>
              <a:ln w="44450" cap="rnd">
                <a:noFill/>
                <a:round/>
              </a:ln>
              <a:effectLst/>
            </c:spPr>
            <c:extLst>
              <c:ext xmlns:c16="http://schemas.microsoft.com/office/drawing/2014/chart" uri="{C3380CC4-5D6E-409C-BE32-E72D297353CC}">
                <c16:uniqueId val="{00000007-10D8-4460-A741-B0F177BAE479}"/>
              </c:ext>
            </c:extLst>
          </c:dPt>
          <c:cat>
            <c:strRef>
              <c:f>Sheet1!$A$2:$A$5</c:f>
              <c:strCache>
                <c:ptCount val="4"/>
                <c:pt idx="0">
                  <c:v>最近隣法</c:v>
                </c:pt>
                <c:pt idx="1">
                  <c:v>2-opt法</c:v>
                </c:pt>
                <c:pt idx="2">
                  <c:v>多出発局所探索</c:v>
                </c:pt>
                <c:pt idx="3">
                  <c:v>Held-Kerp法</c:v>
                </c:pt>
              </c:strCache>
            </c:strRef>
          </c:cat>
          <c:val>
            <c:numRef>
              <c:f>Sheet1!$C$2:$C$5</c:f>
              <c:numCache>
                <c:formatCode>General</c:formatCode>
                <c:ptCount val="4"/>
                <c:pt idx="0">
                  <c:v>1.6699999999999999E-4</c:v>
                </c:pt>
                <c:pt idx="1">
                  <c:v>7.7010000000000004E-3</c:v>
                </c:pt>
                <c:pt idx="2">
                  <c:v>0.25761600000000001</c:v>
                </c:pt>
                <c:pt idx="3">
                  <c:v>62.253900000000002</c:v>
                </c:pt>
              </c:numCache>
            </c:numRef>
          </c:val>
          <c:smooth val="0"/>
          <c:extLst>
            <c:ext xmlns:c16="http://schemas.microsoft.com/office/drawing/2014/chart" uri="{C3380CC4-5D6E-409C-BE32-E72D297353CC}">
              <c16:uniqueId val="{00000001-D8FE-44D8-9A1A-52E85B2E171B}"/>
            </c:ext>
          </c:extLst>
        </c:ser>
        <c:ser>
          <c:idx val="3"/>
          <c:order val="3"/>
          <c:tx>
            <c:strRef>
              <c:f>Sheet1!$E$1</c:f>
              <c:strCache>
                <c:ptCount val="1"/>
                <c:pt idx="0">
                  <c:v>【都市数25】実行時間[s]</c:v>
                </c:pt>
              </c:strCache>
            </c:strRef>
          </c:tx>
          <c:spPr>
            <a:ln w="47625" cap="rnd" cmpd="sng">
              <a:solidFill>
                <a:srgbClr val="261C1A">
                  <a:alpha val="97000"/>
                </a:srgbClr>
              </a:solidFill>
              <a:round/>
            </a:ln>
            <a:effectLst/>
          </c:spPr>
          <c:marker>
            <c:symbol val="triangle"/>
            <c:size val="13"/>
            <c:spPr>
              <a:solidFill>
                <a:srgbClr val="FFC000">
                  <a:alpha val="99000"/>
                </a:srgbClr>
              </a:solidFill>
              <a:ln w="25400">
                <a:solidFill>
                  <a:srgbClr val="261C1A"/>
                </a:solidFill>
                <a:bevel/>
              </a:ln>
              <a:effectLst/>
            </c:spPr>
          </c:marker>
          <c:dPt>
            <c:idx val="3"/>
            <c:marker>
              <c:symbol val="triangle"/>
              <c:size val="13"/>
              <c:spPr>
                <a:noFill/>
                <a:ln w="25400">
                  <a:noFill/>
                  <a:bevel/>
                </a:ln>
                <a:effectLst/>
              </c:spPr>
            </c:marker>
            <c:bubble3D val="0"/>
            <c:spPr>
              <a:ln w="47625" cap="rnd" cmpd="sng">
                <a:noFill/>
                <a:round/>
              </a:ln>
              <a:effectLst/>
            </c:spPr>
            <c:extLst>
              <c:ext xmlns:c16="http://schemas.microsoft.com/office/drawing/2014/chart" uri="{C3380CC4-5D6E-409C-BE32-E72D297353CC}">
                <c16:uniqueId val="{00000005-10D8-4460-A741-B0F177BAE479}"/>
              </c:ext>
            </c:extLst>
          </c:dPt>
          <c:cat>
            <c:strRef>
              <c:f>Sheet1!$A$2:$A$5</c:f>
              <c:strCache>
                <c:ptCount val="4"/>
                <c:pt idx="0">
                  <c:v>最近隣法</c:v>
                </c:pt>
                <c:pt idx="1">
                  <c:v>2-opt法</c:v>
                </c:pt>
                <c:pt idx="2">
                  <c:v>多出発局所探索</c:v>
                </c:pt>
                <c:pt idx="3">
                  <c:v>Held-Kerp法</c:v>
                </c:pt>
              </c:strCache>
            </c:strRef>
          </c:cat>
          <c:val>
            <c:numRef>
              <c:f>Sheet1!$E$2:$E$5</c:f>
              <c:numCache>
                <c:formatCode>General</c:formatCode>
                <c:ptCount val="4"/>
                <c:pt idx="0">
                  <c:v>1.5200000000000001E-4</c:v>
                </c:pt>
                <c:pt idx="1">
                  <c:v>3.751E-3</c:v>
                </c:pt>
                <c:pt idx="2">
                  <c:v>0.42357699999999998</c:v>
                </c:pt>
              </c:numCache>
            </c:numRef>
          </c:val>
          <c:smooth val="0"/>
          <c:extLst>
            <c:ext xmlns:c16="http://schemas.microsoft.com/office/drawing/2014/chart" uri="{C3380CC4-5D6E-409C-BE32-E72D297353CC}">
              <c16:uniqueId val="{00000001-10D8-4460-A741-B0F177BAE479}"/>
            </c:ext>
          </c:extLst>
        </c:ser>
        <c:ser>
          <c:idx val="5"/>
          <c:order val="5"/>
          <c:tx>
            <c:strRef>
              <c:f>Sheet1!$G$1</c:f>
              <c:strCache>
                <c:ptCount val="1"/>
                <c:pt idx="0">
                  <c:v>【都市数30】実行時間[s]</c:v>
                </c:pt>
              </c:strCache>
            </c:strRef>
          </c:tx>
          <c:spPr>
            <a:ln w="34925" cap="rnd">
              <a:solidFill>
                <a:srgbClr val="3D8DCC"/>
              </a:solidFill>
              <a:round/>
            </a:ln>
            <a:effectLst/>
          </c:spPr>
          <c:marker>
            <c:symbol val="square"/>
            <c:size val="10"/>
            <c:spPr>
              <a:solidFill>
                <a:srgbClr val="3D8DCC"/>
              </a:solidFill>
              <a:ln w="25400">
                <a:solidFill>
                  <a:srgbClr val="261C1A"/>
                </a:solidFill>
              </a:ln>
              <a:effectLst/>
            </c:spPr>
          </c:marker>
          <c:dPt>
            <c:idx val="3"/>
            <c:marker>
              <c:symbol val="square"/>
              <c:size val="10"/>
              <c:spPr>
                <a:noFill/>
                <a:ln w="25400">
                  <a:noFill/>
                </a:ln>
                <a:effectLst/>
              </c:spPr>
            </c:marker>
            <c:bubble3D val="0"/>
            <c:spPr>
              <a:ln w="34925" cap="rnd">
                <a:noFill/>
                <a:round/>
              </a:ln>
              <a:effectLst/>
            </c:spPr>
            <c:extLst>
              <c:ext xmlns:c16="http://schemas.microsoft.com/office/drawing/2014/chart" uri="{C3380CC4-5D6E-409C-BE32-E72D297353CC}">
                <c16:uniqueId val="{00000004-10D8-4460-A741-B0F177BAE479}"/>
              </c:ext>
            </c:extLst>
          </c:dPt>
          <c:cat>
            <c:strRef>
              <c:f>Sheet1!$A$2:$A$5</c:f>
              <c:strCache>
                <c:ptCount val="4"/>
                <c:pt idx="0">
                  <c:v>最近隣法</c:v>
                </c:pt>
                <c:pt idx="1">
                  <c:v>2-opt法</c:v>
                </c:pt>
                <c:pt idx="2">
                  <c:v>多出発局所探索</c:v>
                </c:pt>
                <c:pt idx="3">
                  <c:v>Held-Kerp法</c:v>
                </c:pt>
              </c:strCache>
            </c:strRef>
          </c:cat>
          <c:val>
            <c:numRef>
              <c:f>Sheet1!$G$2:$G$5</c:f>
              <c:numCache>
                <c:formatCode>General</c:formatCode>
                <c:ptCount val="4"/>
                <c:pt idx="0">
                  <c:v>1.6000000000000001E-4</c:v>
                </c:pt>
                <c:pt idx="1">
                  <c:v>4.5170000000000002E-3</c:v>
                </c:pt>
                <c:pt idx="2">
                  <c:v>0.96287900000000004</c:v>
                </c:pt>
              </c:numCache>
            </c:numRef>
          </c:val>
          <c:smooth val="0"/>
          <c:extLst>
            <c:ext xmlns:c16="http://schemas.microsoft.com/office/drawing/2014/chart" uri="{C3380CC4-5D6E-409C-BE32-E72D297353CC}">
              <c16:uniqueId val="{00000003-10D8-4460-A741-B0F177BAE479}"/>
            </c:ext>
          </c:extLst>
        </c:ser>
        <c:dLbls>
          <c:showLegendKey val="0"/>
          <c:showVal val="0"/>
          <c:showCatName val="0"/>
          <c:showSerName val="0"/>
          <c:showPercent val="0"/>
          <c:showBubbleSize val="0"/>
        </c:dLbls>
        <c:marker val="1"/>
        <c:smooth val="0"/>
        <c:axId val="1508043376"/>
        <c:axId val="1488075344"/>
      </c:lineChart>
      <c:catAx>
        <c:axId val="1215669296"/>
        <c:scaling>
          <c:orientation val="minMax"/>
        </c:scaling>
        <c:delete val="0"/>
        <c:axPos val="b"/>
        <c:numFmt formatCode="General" sourceLinked="1"/>
        <c:majorTickMark val="none"/>
        <c:minorTickMark val="none"/>
        <c:tickLblPos val="nextTo"/>
        <c:spPr>
          <a:noFill/>
          <a:ln w="22225" cap="flat" cmpd="sng" algn="ctr">
            <a:solidFill>
              <a:srgbClr val="261C1A"/>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HGS創英角ｺﾞｼｯｸUB" panose="020B0900000000000000" pitchFamily="50" charset="-128"/>
                <a:ea typeface="HGS創英角ｺﾞｼｯｸUB" panose="020B0900000000000000" pitchFamily="50" charset="-128"/>
                <a:cs typeface="+mn-cs"/>
              </a:defRPr>
            </a:pPr>
            <a:endParaRPr lang="ja-JP"/>
          </a:p>
        </c:txPr>
        <c:crossAx val="1215668336"/>
        <c:crosses val="autoZero"/>
        <c:auto val="1"/>
        <c:lblAlgn val="ctr"/>
        <c:lblOffset val="100"/>
        <c:noMultiLvlLbl val="0"/>
      </c:catAx>
      <c:valAx>
        <c:axId val="1215668336"/>
        <c:scaling>
          <c:orientation val="minMax"/>
          <c:max val="1200"/>
          <c:min val="0"/>
        </c:scaling>
        <c:delete val="0"/>
        <c:axPos val="l"/>
        <c:majorGridlines>
          <c:spPr>
            <a:ln w="22225" cap="flat" cmpd="sng" algn="ctr">
              <a:solidFill>
                <a:schemeClr val="tx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ln>
                  <a:solidFill>
                    <a:srgbClr val="261C1A"/>
                  </a:solidFill>
                </a:ln>
                <a:solidFill>
                  <a:srgbClr val="261C1A"/>
                </a:solidFill>
                <a:latin typeface="HGS創英角ｺﾞｼｯｸUB" panose="020B0900000000000000" pitchFamily="50" charset="-128"/>
                <a:ea typeface="HGS創英角ｺﾞｼｯｸUB" panose="020B0900000000000000" pitchFamily="50" charset="-128"/>
                <a:cs typeface="+mn-cs"/>
              </a:defRPr>
            </a:pPr>
            <a:endParaRPr lang="ja-JP"/>
          </a:p>
        </c:txPr>
        <c:crossAx val="1215669296"/>
        <c:crosses val="autoZero"/>
        <c:crossBetween val="between"/>
      </c:valAx>
      <c:valAx>
        <c:axId val="1488075344"/>
        <c:scaling>
          <c:logBase val="10"/>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ln>
                  <a:solidFill>
                    <a:srgbClr val="261C1A"/>
                  </a:solidFill>
                </a:ln>
                <a:solidFill>
                  <a:srgbClr val="261C1A"/>
                </a:solidFill>
                <a:latin typeface="HGS創英角ｺﾞｼｯｸUB" panose="020B0900000000000000" pitchFamily="50" charset="-128"/>
                <a:ea typeface="HGS創英角ｺﾞｼｯｸUB" panose="020B0900000000000000" pitchFamily="50" charset="-128"/>
                <a:cs typeface="+mn-cs"/>
              </a:defRPr>
            </a:pPr>
            <a:endParaRPr lang="ja-JP"/>
          </a:p>
        </c:txPr>
        <c:crossAx val="1508043376"/>
        <c:crosses val="max"/>
        <c:crossBetween val="between"/>
      </c:valAx>
      <c:catAx>
        <c:axId val="1508043376"/>
        <c:scaling>
          <c:orientation val="minMax"/>
        </c:scaling>
        <c:delete val="1"/>
        <c:axPos val="b"/>
        <c:numFmt formatCode="General" sourceLinked="1"/>
        <c:majorTickMark val="out"/>
        <c:minorTickMark val="none"/>
        <c:tickLblPos val="nextTo"/>
        <c:crossAx val="1488075344"/>
        <c:crosses val="autoZero"/>
        <c:auto val="1"/>
        <c:lblAlgn val="ctr"/>
        <c:lblOffset val="100"/>
        <c:noMultiLvlLbl val="0"/>
      </c:catAx>
      <c:spPr>
        <a:solidFill>
          <a:schemeClr val="bg1"/>
        </a:solidFill>
        <a:ln>
          <a:noFill/>
        </a:ln>
        <a:effectLst/>
      </c:spPr>
    </c:plotArea>
    <c:legend>
      <c:legendPos val="b"/>
      <c:layout>
        <c:manualLayout>
          <c:xMode val="edge"/>
          <c:yMode val="edge"/>
          <c:x val="3.5169082125603872E-2"/>
          <c:y val="0.86516300775368438"/>
          <c:w val="0.92362318840579705"/>
          <c:h val="0.13483699224631565"/>
        </c:manualLayout>
      </c:layout>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HGS創英角ｺﾞｼｯｸUB" panose="020B0900000000000000" pitchFamily="50" charset="-128"/>
              <a:ea typeface="HGS創英角ｺﾞｼｯｸUB" panose="020B0900000000000000" pitchFamily="50" charset="-128"/>
              <a:cs typeface="+mn-cs"/>
            </a:defRPr>
          </a:pPr>
          <a:endParaRPr lang="ja-JP"/>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05E835-095A-4FE9-B0B7-EC6DC6419588}"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kumimoji="1" lang="ja-JP" altLang="en-US"/>
        </a:p>
      </dgm:t>
    </dgm:pt>
    <dgm:pt modelId="{DD72D4D9-C1C1-418B-B52D-34F64DD435E4}">
      <dgm:prSet phldrT="[テキスト]" custT="1"/>
      <dgm:spPr>
        <a:solidFill>
          <a:srgbClr val="FEBE69"/>
        </a:solidFill>
      </dgm:spPr>
      <dgm:t>
        <a:bodyPr/>
        <a:lstStyle/>
        <a:p>
          <a:r>
            <a:rPr lang="ja-JP" altLang="en-US" sz="3200">
              <a:latin typeface="HGS創英角ｺﾞｼｯｸUB" panose="020B0900000000000000" pitchFamily="50" charset="-128"/>
              <a:ea typeface="HGS創英角ｺﾞｼｯｸUB" panose="020B0900000000000000" pitchFamily="50" charset="-128"/>
              <a:cs typeface="+mn-lt"/>
            </a:rPr>
            <a:t>物流と配送</a:t>
          </a:r>
          <a:endParaRPr kumimoji="1" lang="ja-JP" altLang="en-US" sz="3200"/>
        </a:p>
      </dgm:t>
    </dgm:pt>
    <dgm:pt modelId="{EB91C77D-1391-4EF0-8C23-8642B75F1B21}" type="parTrans" cxnId="{1DD8E81C-1620-4AEE-9FA8-14DBF5BC2178}">
      <dgm:prSet/>
      <dgm:spPr/>
      <dgm:t>
        <a:bodyPr/>
        <a:lstStyle/>
        <a:p>
          <a:endParaRPr kumimoji="1" lang="ja-JP" altLang="en-US"/>
        </a:p>
      </dgm:t>
    </dgm:pt>
    <dgm:pt modelId="{55F8098D-D53A-4918-9E5D-9DF10D703FFC}" type="sibTrans" cxnId="{1DD8E81C-1620-4AEE-9FA8-14DBF5BC2178}">
      <dgm:prSet/>
      <dgm:spPr/>
      <dgm:t>
        <a:bodyPr/>
        <a:lstStyle/>
        <a:p>
          <a:endParaRPr kumimoji="1" lang="ja-JP" altLang="en-US"/>
        </a:p>
      </dgm:t>
    </dgm:pt>
    <dgm:pt modelId="{CD2BFE27-7051-4E99-ADF4-473416F2F666}">
      <dgm:prSet phldrT="[テキスト]" custT="1"/>
      <dgm:spPr>
        <a:solidFill>
          <a:srgbClr val="FFE3BD">
            <a:alpha val="89804"/>
          </a:srgbClr>
        </a:solidFill>
      </dgm:spPr>
      <dgm:t>
        <a:bodyPr/>
        <a:lstStyle/>
        <a:p>
          <a:r>
            <a:rPr lang="ja-JP" altLang="en-US" sz="2000">
              <a:latin typeface="HGS創英角ｺﾞｼｯｸUB" panose="020B0900000000000000" pitchFamily="50" charset="-128"/>
              <a:ea typeface="HGS創英角ｺﾞｼｯｸUB" panose="020B0900000000000000" pitchFamily="50" charset="-128"/>
              <a:cs typeface="+mn-lt"/>
            </a:rPr>
            <a:t>商品の配送やサービスの提供において、効率的なルートを計画</a:t>
          </a:r>
          <a:endParaRPr kumimoji="1" lang="ja-JP" altLang="en-US" sz="2000"/>
        </a:p>
      </dgm:t>
    </dgm:pt>
    <dgm:pt modelId="{6FDB6AF0-0291-46AC-8F65-54A32073E823}" type="parTrans" cxnId="{7B99FFC5-AD80-424A-81FB-690122371600}">
      <dgm:prSet/>
      <dgm:spPr/>
      <dgm:t>
        <a:bodyPr/>
        <a:lstStyle/>
        <a:p>
          <a:endParaRPr kumimoji="1" lang="ja-JP" altLang="en-US"/>
        </a:p>
      </dgm:t>
    </dgm:pt>
    <dgm:pt modelId="{E0F5AFA7-A2CE-4542-8AC9-59D53508E0A6}" type="sibTrans" cxnId="{7B99FFC5-AD80-424A-81FB-690122371600}">
      <dgm:prSet/>
      <dgm:spPr/>
      <dgm:t>
        <a:bodyPr/>
        <a:lstStyle/>
        <a:p>
          <a:endParaRPr kumimoji="1" lang="ja-JP" altLang="en-US"/>
        </a:p>
      </dgm:t>
    </dgm:pt>
    <dgm:pt modelId="{1730C14D-A973-4402-8D2C-EF20C9F5D181}">
      <dgm:prSet phldrT="[テキスト]" custT="1"/>
      <dgm:spPr>
        <a:solidFill>
          <a:srgbClr val="77C770"/>
        </a:solidFill>
      </dgm:spPr>
      <dgm:t>
        <a:bodyPr/>
        <a:lstStyle/>
        <a:p>
          <a:r>
            <a:rPr lang="ja-JP" altLang="en-US" sz="2400">
              <a:latin typeface="HGS創英角ｺﾞｼｯｸUB" panose="020B0900000000000000" pitchFamily="50" charset="-128"/>
              <a:ea typeface="HGS創英角ｺﾞｼｯｸUB" panose="020B0900000000000000" pitchFamily="50" charset="-128"/>
              <a:cs typeface="+mn-lt"/>
            </a:rPr>
            <a:t>旅行プランニング</a:t>
          </a:r>
          <a:endParaRPr kumimoji="1" lang="ja-JP" altLang="en-US" sz="2400"/>
        </a:p>
      </dgm:t>
    </dgm:pt>
    <dgm:pt modelId="{EAC7ED21-DDE2-4BBA-943B-3A5DD053D2EC}" type="parTrans" cxnId="{59A0174E-D9AF-4D78-B929-9C518AD0069F}">
      <dgm:prSet/>
      <dgm:spPr/>
      <dgm:t>
        <a:bodyPr/>
        <a:lstStyle/>
        <a:p>
          <a:endParaRPr kumimoji="1" lang="ja-JP" altLang="en-US"/>
        </a:p>
      </dgm:t>
    </dgm:pt>
    <dgm:pt modelId="{9CC18491-EBEB-4350-B15C-8B22C1BA3A30}" type="sibTrans" cxnId="{59A0174E-D9AF-4D78-B929-9C518AD0069F}">
      <dgm:prSet/>
      <dgm:spPr/>
      <dgm:t>
        <a:bodyPr/>
        <a:lstStyle/>
        <a:p>
          <a:endParaRPr kumimoji="1" lang="ja-JP" altLang="en-US"/>
        </a:p>
      </dgm:t>
    </dgm:pt>
    <dgm:pt modelId="{E465E2D5-0453-41C7-A96E-316F12CF629E}">
      <dgm:prSet phldrT="[テキスト]" custT="1"/>
      <dgm:spPr>
        <a:solidFill>
          <a:srgbClr val="C8E8C6">
            <a:alpha val="89804"/>
          </a:srgbClr>
        </a:solidFill>
      </dgm:spPr>
      <dgm:t>
        <a:bodyPr/>
        <a:lstStyle/>
        <a:p>
          <a:r>
            <a:rPr lang="ja-JP" altLang="en-US" sz="2000">
              <a:latin typeface="HGS創英角ｺﾞｼｯｸUB" panose="020B0900000000000000" pitchFamily="50" charset="-128"/>
              <a:ea typeface="HGS創英角ｺﾞｼｯｸUB" panose="020B0900000000000000" pitchFamily="50" charset="-128"/>
              <a:cs typeface="+mn-lt"/>
            </a:rPr>
            <a:t>観光資源を効率的に</a:t>
          </a:r>
          <a:br>
            <a:rPr lang="en-US" altLang="ja-JP" sz="2000">
              <a:latin typeface="HGS創英角ｺﾞｼｯｸUB" panose="020B0900000000000000" pitchFamily="50" charset="-128"/>
              <a:ea typeface="HGS創英角ｺﾞｼｯｸUB" panose="020B0900000000000000" pitchFamily="50" charset="-128"/>
              <a:cs typeface="+mn-lt"/>
            </a:rPr>
          </a:br>
          <a:r>
            <a:rPr lang="ja-JP" altLang="en-US" sz="2000">
              <a:latin typeface="HGS創英角ｺﾞｼｯｸUB" panose="020B0900000000000000" pitchFamily="50" charset="-128"/>
              <a:ea typeface="HGS創英角ｺﾞｼｯｸUB" panose="020B0900000000000000" pitchFamily="50" charset="-128"/>
              <a:cs typeface="+mn-lt"/>
            </a:rPr>
            <a:t>巡るためのルートの</a:t>
          </a:r>
          <a:br>
            <a:rPr lang="en-US" altLang="ja-JP" sz="2000">
              <a:latin typeface="HGS創英角ｺﾞｼｯｸUB" panose="020B0900000000000000" pitchFamily="50" charset="-128"/>
              <a:ea typeface="HGS創英角ｺﾞｼｯｸUB" panose="020B0900000000000000" pitchFamily="50" charset="-128"/>
              <a:cs typeface="+mn-lt"/>
            </a:rPr>
          </a:br>
          <a:r>
            <a:rPr lang="ja-JP" altLang="en-US" sz="2000">
              <a:latin typeface="HGS創英角ｺﾞｼｯｸUB" panose="020B0900000000000000" pitchFamily="50" charset="-128"/>
              <a:ea typeface="HGS創英角ｺﾞｼｯｸUB" panose="020B0900000000000000" pitchFamily="50" charset="-128"/>
              <a:cs typeface="+mn-lt"/>
            </a:rPr>
            <a:t>設計</a:t>
          </a:r>
          <a:endParaRPr kumimoji="1" lang="ja-JP" altLang="en-US" sz="2000"/>
        </a:p>
      </dgm:t>
    </dgm:pt>
    <dgm:pt modelId="{3CBBD19A-32A0-4A39-B941-044F60E5F277}" type="parTrans" cxnId="{60B074DF-C031-4718-B26C-F03A8DAF12D2}">
      <dgm:prSet/>
      <dgm:spPr/>
      <dgm:t>
        <a:bodyPr/>
        <a:lstStyle/>
        <a:p>
          <a:endParaRPr kumimoji="1" lang="ja-JP" altLang="en-US"/>
        </a:p>
      </dgm:t>
    </dgm:pt>
    <dgm:pt modelId="{8ED99994-1D08-441D-A707-6B02C05EBAB1}" type="sibTrans" cxnId="{60B074DF-C031-4718-B26C-F03A8DAF12D2}">
      <dgm:prSet/>
      <dgm:spPr/>
      <dgm:t>
        <a:bodyPr/>
        <a:lstStyle/>
        <a:p>
          <a:endParaRPr kumimoji="1" lang="ja-JP" altLang="en-US"/>
        </a:p>
      </dgm:t>
    </dgm:pt>
    <dgm:pt modelId="{DA5D0A7F-6DB5-4F4E-AD49-EBC8EC344373}">
      <dgm:prSet phldrT="[テキスト]" custT="1"/>
      <dgm:spPr>
        <a:solidFill>
          <a:srgbClr val="3D8DCC"/>
        </a:solidFill>
      </dgm:spPr>
      <dgm:t>
        <a:bodyPr/>
        <a:lstStyle/>
        <a:p>
          <a:r>
            <a:rPr lang="ja-JP" altLang="en-US" sz="2800">
              <a:latin typeface="HGS創英角ｺﾞｼｯｸUB" panose="020B0900000000000000" pitchFamily="50" charset="-128"/>
              <a:ea typeface="HGS創英角ｺﾞｼｯｸUB" panose="020B0900000000000000" pitchFamily="50" charset="-128"/>
              <a:cs typeface="+mn-lt"/>
            </a:rPr>
            <a:t>ロボティクス</a:t>
          </a:r>
          <a:endParaRPr kumimoji="1" lang="ja-JP" altLang="en-US" sz="2800"/>
        </a:p>
      </dgm:t>
    </dgm:pt>
    <dgm:pt modelId="{595AB4B9-198A-459B-9511-C504F3EAD4D0}" type="parTrans" cxnId="{D8AB7C38-BD78-474C-B61F-7B2C857BFF8F}">
      <dgm:prSet/>
      <dgm:spPr/>
      <dgm:t>
        <a:bodyPr/>
        <a:lstStyle/>
        <a:p>
          <a:endParaRPr kumimoji="1" lang="ja-JP" altLang="en-US"/>
        </a:p>
      </dgm:t>
    </dgm:pt>
    <dgm:pt modelId="{5032981C-DF63-48C7-B761-0C451BC617D9}" type="sibTrans" cxnId="{D8AB7C38-BD78-474C-B61F-7B2C857BFF8F}">
      <dgm:prSet/>
      <dgm:spPr/>
      <dgm:t>
        <a:bodyPr/>
        <a:lstStyle/>
        <a:p>
          <a:endParaRPr kumimoji="1" lang="ja-JP" altLang="en-US"/>
        </a:p>
      </dgm:t>
    </dgm:pt>
    <dgm:pt modelId="{C7E7477C-D0C4-472C-A73C-1C9891DAB31A}">
      <dgm:prSet phldrT="[テキスト]" custT="1"/>
      <dgm:spPr>
        <a:solidFill>
          <a:srgbClr val="C8DEF0">
            <a:alpha val="89804"/>
          </a:srgbClr>
        </a:solidFill>
      </dgm:spPr>
      <dgm:t>
        <a:bodyPr/>
        <a:lstStyle/>
        <a:p>
          <a:r>
            <a:rPr lang="ja-JP" altLang="en-US" sz="2000">
              <a:latin typeface="HGS創英角ｺﾞｼｯｸUB" panose="020B0900000000000000" pitchFamily="50" charset="-128"/>
              <a:ea typeface="HGS創英角ｺﾞｼｯｸUB" panose="020B0900000000000000" pitchFamily="50" charset="-128"/>
              <a:cs typeface="+mn-lt"/>
            </a:rPr>
            <a:t>自律移動ロボットや</a:t>
          </a:r>
          <a:br>
            <a:rPr lang="en-US" altLang="ja-JP" sz="2000">
              <a:latin typeface="HGS創英角ｺﾞｼｯｸUB" panose="020B0900000000000000" pitchFamily="50" charset="-128"/>
              <a:ea typeface="HGS創英角ｺﾞｼｯｸUB" panose="020B0900000000000000" pitchFamily="50" charset="-128"/>
              <a:cs typeface="+mn-lt"/>
            </a:rPr>
          </a:br>
          <a:r>
            <a:rPr lang="ja-JP" altLang="en-US" sz="2000">
              <a:latin typeface="HGS創英角ｺﾞｼｯｸUB" panose="020B0900000000000000" pitchFamily="50" charset="-128"/>
              <a:ea typeface="HGS創英角ｺﾞｼｯｸUB" panose="020B0900000000000000" pitchFamily="50" charset="-128"/>
              <a:cs typeface="+mn-lt"/>
            </a:rPr>
            <a:t>ドローンが効果的なルートを計画</a:t>
          </a:r>
          <a:endParaRPr kumimoji="1" lang="ja-JP" altLang="en-US" sz="2000"/>
        </a:p>
      </dgm:t>
    </dgm:pt>
    <dgm:pt modelId="{C23A87EE-A1EE-46FF-8E0F-3E702D11CB64}" type="parTrans" cxnId="{C919BE37-437A-4FBB-A6F9-E64221887553}">
      <dgm:prSet/>
      <dgm:spPr/>
      <dgm:t>
        <a:bodyPr/>
        <a:lstStyle/>
        <a:p>
          <a:endParaRPr kumimoji="1" lang="ja-JP" altLang="en-US"/>
        </a:p>
      </dgm:t>
    </dgm:pt>
    <dgm:pt modelId="{9631F5E5-8DCE-4166-849D-4329C6B35EB6}" type="sibTrans" cxnId="{C919BE37-437A-4FBB-A6F9-E64221887553}">
      <dgm:prSet/>
      <dgm:spPr/>
      <dgm:t>
        <a:bodyPr/>
        <a:lstStyle/>
        <a:p>
          <a:endParaRPr kumimoji="1" lang="ja-JP" altLang="en-US"/>
        </a:p>
      </dgm:t>
    </dgm:pt>
    <dgm:pt modelId="{28F8506E-26DF-4FCF-83A6-4821340BD9F5}" type="pres">
      <dgm:prSet presAssocID="{CC05E835-095A-4FE9-B0B7-EC6DC6419588}" presName="Name0" presStyleCnt="0">
        <dgm:presLayoutVars>
          <dgm:dir/>
          <dgm:animLvl val="lvl"/>
          <dgm:resizeHandles val="exact"/>
        </dgm:presLayoutVars>
      </dgm:prSet>
      <dgm:spPr/>
    </dgm:pt>
    <dgm:pt modelId="{C9461CCB-A749-4A6D-B7E6-A357439DE269}" type="pres">
      <dgm:prSet presAssocID="{DD72D4D9-C1C1-418B-B52D-34F64DD435E4}" presName="composite" presStyleCnt="0"/>
      <dgm:spPr/>
    </dgm:pt>
    <dgm:pt modelId="{F1B4ADFA-A224-4F1F-ABC3-570EF3BEBF55}" type="pres">
      <dgm:prSet presAssocID="{DD72D4D9-C1C1-418B-B52D-34F64DD435E4}" presName="parTx" presStyleLbl="alignNode1" presStyleIdx="0" presStyleCnt="3">
        <dgm:presLayoutVars>
          <dgm:chMax val="0"/>
          <dgm:chPref val="0"/>
          <dgm:bulletEnabled val="1"/>
        </dgm:presLayoutVars>
      </dgm:prSet>
      <dgm:spPr/>
    </dgm:pt>
    <dgm:pt modelId="{FC06EE24-8B77-4A88-891A-EB7AE0F31B20}" type="pres">
      <dgm:prSet presAssocID="{DD72D4D9-C1C1-418B-B52D-34F64DD435E4}" presName="desTx" presStyleLbl="alignAccFollowNode1" presStyleIdx="0" presStyleCnt="3">
        <dgm:presLayoutVars>
          <dgm:bulletEnabled val="1"/>
        </dgm:presLayoutVars>
      </dgm:prSet>
      <dgm:spPr/>
    </dgm:pt>
    <dgm:pt modelId="{E1ABA81A-23B7-4F13-A165-6F88D1B039D2}" type="pres">
      <dgm:prSet presAssocID="{55F8098D-D53A-4918-9E5D-9DF10D703FFC}" presName="space" presStyleCnt="0"/>
      <dgm:spPr/>
    </dgm:pt>
    <dgm:pt modelId="{2C5D21A1-F892-4946-93B4-B8F23DFAF4D8}" type="pres">
      <dgm:prSet presAssocID="{1730C14D-A973-4402-8D2C-EF20C9F5D181}" presName="composite" presStyleCnt="0"/>
      <dgm:spPr/>
    </dgm:pt>
    <dgm:pt modelId="{8BD7608A-D9BD-43C9-8868-C0C513DA7DA0}" type="pres">
      <dgm:prSet presAssocID="{1730C14D-A973-4402-8D2C-EF20C9F5D181}" presName="parTx" presStyleLbl="alignNode1" presStyleIdx="1" presStyleCnt="3">
        <dgm:presLayoutVars>
          <dgm:chMax val="0"/>
          <dgm:chPref val="0"/>
          <dgm:bulletEnabled val="1"/>
        </dgm:presLayoutVars>
      </dgm:prSet>
      <dgm:spPr/>
    </dgm:pt>
    <dgm:pt modelId="{EBAA6399-CA48-40B0-95CA-5F7E68F3D025}" type="pres">
      <dgm:prSet presAssocID="{1730C14D-A973-4402-8D2C-EF20C9F5D181}" presName="desTx" presStyleLbl="alignAccFollowNode1" presStyleIdx="1" presStyleCnt="3">
        <dgm:presLayoutVars>
          <dgm:bulletEnabled val="1"/>
        </dgm:presLayoutVars>
      </dgm:prSet>
      <dgm:spPr/>
    </dgm:pt>
    <dgm:pt modelId="{8686044A-7B6E-46F8-B385-F1785DC6D187}" type="pres">
      <dgm:prSet presAssocID="{9CC18491-EBEB-4350-B15C-8B22C1BA3A30}" presName="space" presStyleCnt="0"/>
      <dgm:spPr/>
    </dgm:pt>
    <dgm:pt modelId="{7FFA6C54-95AE-4E41-A5B7-5DA1B90546CB}" type="pres">
      <dgm:prSet presAssocID="{DA5D0A7F-6DB5-4F4E-AD49-EBC8EC344373}" presName="composite" presStyleCnt="0"/>
      <dgm:spPr/>
    </dgm:pt>
    <dgm:pt modelId="{7C1031DB-945B-45E7-89D7-588F237EEBC4}" type="pres">
      <dgm:prSet presAssocID="{DA5D0A7F-6DB5-4F4E-AD49-EBC8EC344373}" presName="parTx" presStyleLbl="alignNode1" presStyleIdx="2" presStyleCnt="3">
        <dgm:presLayoutVars>
          <dgm:chMax val="0"/>
          <dgm:chPref val="0"/>
          <dgm:bulletEnabled val="1"/>
        </dgm:presLayoutVars>
      </dgm:prSet>
      <dgm:spPr/>
    </dgm:pt>
    <dgm:pt modelId="{B7C40D03-F621-473E-B1C7-3C7338A2A9FF}" type="pres">
      <dgm:prSet presAssocID="{DA5D0A7F-6DB5-4F4E-AD49-EBC8EC344373}" presName="desTx" presStyleLbl="alignAccFollowNode1" presStyleIdx="2" presStyleCnt="3">
        <dgm:presLayoutVars>
          <dgm:bulletEnabled val="1"/>
        </dgm:presLayoutVars>
      </dgm:prSet>
      <dgm:spPr/>
    </dgm:pt>
  </dgm:ptLst>
  <dgm:cxnLst>
    <dgm:cxn modelId="{17C28F0D-6024-44EF-9C8A-93A3685BC4FA}" type="presOf" srcId="{DA5D0A7F-6DB5-4F4E-AD49-EBC8EC344373}" destId="{7C1031DB-945B-45E7-89D7-588F237EEBC4}" srcOrd="0" destOrd="0" presId="urn:microsoft.com/office/officeart/2005/8/layout/hList1"/>
    <dgm:cxn modelId="{1DD8E81C-1620-4AEE-9FA8-14DBF5BC2178}" srcId="{CC05E835-095A-4FE9-B0B7-EC6DC6419588}" destId="{DD72D4D9-C1C1-418B-B52D-34F64DD435E4}" srcOrd="0" destOrd="0" parTransId="{EB91C77D-1391-4EF0-8C23-8642B75F1B21}" sibTransId="{55F8098D-D53A-4918-9E5D-9DF10D703FFC}"/>
    <dgm:cxn modelId="{4C86462A-89FB-406F-927B-B42C065A4CC3}" type="presOf" srcId="{C7E7477C-D0C4-472C-A73C-1C9891DAB31A}" destId="{B7C40D03-F621-473E-B1C7-3C7338A2A9FF}" srcOrd="0" destOrd="0" presId="urn:microsoft.com/office/officeart/2005/8/layout/hList1"/>
    <dgm:cxn modelId="{C919BE37-437A-4FBB-A6F9-E64221887553}" srcId="{DA5D0A7F-6DB5-4F4E-AD49-EBC8EC344373}" destId="{C7E7477C-D0C4-472C-A73C-1C9891DAB31A}" srcOrd="0" destOrd="0" parTransId="{C23A87EE-A1EE-46FF-8E0F-3E702D11CB64}" sibTransId="{9631F5E5-8DCE-4166-849D-4329C6B35EB6}"/>
    <dgm:cxn modelId="{D8AB7C38-BD78-474C-B61F-7B2C857BFF8F}" srcId="{CC05E835-095A-4FE9-B0B7-EC6DC6419588}" destId="{DA5D0A7F-6DB5-4F4E-AD49-EBC8EC344373}" srcOrd="2" destOrd="0" parTransId="{595AB4B9-198A-459B-9511-C504F3EAD4D0}" sibTransId="{5032981C-DF63-48C7-B761-0C451BC617D9}"/>
    <dgm:cxn modelId="{B4BCC05E-00D8-4025-8160-A6D5332D489B}" type="presOf" srcId="{CD2BFE27-7051-4E99-ADF4-473416F2F666}" destId="{FC06EE24-8B77-4A88-891A-EB7AE0F31B20}" srcOrd="0" destOrd="0" presId="urn:microsoft.com/office/officeart/2005/8/layout/hList1"/>
    <dgm:cxn modelId="{59A0174E-D9AF-4D78-B929-9C518AD0069F}" srcId="{CC05E835-095A-4FE9-B0B7-EC6DC6419588}" destId="{1730C14D-A973-4402-8D2C-EF20C9F5D181}" srcOrd="1" destOrd="0" parTransId="{EAC7ED21-DDE2-4BBA-943B-3A5DD053D2EC}" sibTransId="{9CC18491-EBEB-4350-B15C-8B22C1BA3A30}"/>
    <dgm:cxn modelId="{D9C9B27A-5CD7-406B-B382-E259A6CD55EF}" type="presOf" srcId="{1730C14D-A973-4402-8D2C-EF20C9F5D181}" destId="{8BD7608A-D9BD-43C9-8868-C0C513DA7DA0}" srcOrd="0" destOrd="0" presId="urn:microsoft.com/office/officeart/2005/8/layout/hList1"/>
    <dgm:cxn modelId="{99029A87-CA51-4E55-AC3C-173590986FF2}" type="presOf" srcId="{CC05E835-095A-4FE9-B0B7-EC6DC6419588}" destId="{28F8506E-26DF-4FCF-83A6-4821340BD9F5}" srcOrd="0" destOrd="0" presId="urn:microsoft.com/office/officeart/2005/8/layout/hList1"/>
    <dgm:cxn modelId="{AA1AB79E-A682-4A32-9623-9026BA5CF74E}" type="presOf" srcId="{E465E2D5-0453-41C7-A96E-316F12CF629E}" destId="{EBAA6399-CA48-40B0-95CA-5F7E68F3D025}" srcOrd="0" destOrd="0" presId="urn:microsoft.com/office/officeart/2005/8/layout/hList1"/>
    <dgm:cxn modelId="{9A1146AE-8AE8-4FE2-B192-8A9F02BED4FA}" type="presOf" srcId="{DD72D4D9-C1C1-418B-B52D-34F64DD435E4}" destId="{F1B4ADFA-A224-4F1F-ABC3-570EF3BEBF55}" srcOrd="0" destOrd="0" presId="urn:microsoft.com/office/officeart/2005/8/layout/hList1"/>
    <dgm:cxn modelId="{7B99FFC5-AD80-424A-81FB-690122371600}" srcId="{DD72D4D9-C1C1-418B-B52D-34F64DD435E4}" destId="{CD2BFE27-7051-4E99-ADF4-473416F2F666}" srcOrd="0" destOrd="0" parTransId="{6FDB6AF0-0291-46AC-8F65-54A32073E823}" sibTransId="{E0F5AFA7-A2CE-4542-8AC9-59D53508E0A6}"/>
    <dgm:cxn modelId="{60B074DF-C031-4718-B26C-F03A8DAF12D2}" srcId="{1730C14D-A973-4402-8D2C-EF20C9F5D181}" destId="{E465E2D5-0453-41C7-A96E-316F12CF629E}" srcOrd="0" destOrd="0" parTransId="{3CBBD19A-32A0-4A39-B941-044F60E5F277}" sibTransId="{8ED99994-1D08-441D-A707-6B02C05EBAB1}"/>
    <dgm:cxn modelId="{9DDCE233-E74D-4378-AC36-C9C3914EEB71}" type="presParOf" srcId="{28F8506E-26DF-4FCF-83A6-4821340BD9F5}" destId="{C9461CCB-A749-4A6D-B7E6-A357439DE269}" srcOrd="0" destOrd="0" presId="urn:microsoft.com/office/officeart/2005/8/layout/hList1"/>
    <dgm:cxn modelId="{00EDF6E6-F004-4043-A0EE-3AF133EA43CC}" type="presParOf" srcId="{C9461CCB-A749-4A6D-B7E6-A357439DE269}" destId="{F1B4ADFA-A224-4F1F-ABC3-570EF3BEBF55}" srcOrd="0" destOrd="0" presId="urn:microsoft.com/office/officeart/2005/8/layout/hList1"/>
    <dgm:cxn modelId="{49E89BF1-8B68-4799-AF7C-974284AF8DA9}" type="presParOf" srcId="{C9461CCB-A749-4A6D-B7E6-A357439DE269}" destId="{FC06EE24-8B77-4A88-891A-EB7AE0F31B20}" srcOrd="1" destOrd="0" presId="urn:microsoft.com/office/officeart/2005/8/layout/hList1"/>
    <dgm:cxn modelId="{D117EA2C-44DE-423E-8F6A-543C7F3E385B}" type="presParOf" srcId="{28F8506E-26DF-4FCF-83A6-4821340BD9F5}" destId="{E1ABA81A-23B7-4F13-A165-6F88D1B039D2}" srcOrd="1" destOrd="0" presId="urn:microsoft.com/office/officeart/2005/8/layout/hList1"/>
    <dgm:cxn modelId="{A6EB9586-9556-4874-9C4E-E7FB5F95F540}" type="presParOf" srcId="{28F8506E-26DF-4FCF-83A6-4821340BD9F5}" destId="{2C5D21A1-F892-4946-93B4-B8F23DFAF4D8}" srcOrd="2" destOrd="0" presId="urn:microsoft.com/office/officeart/2005/8/layout/hList1"/>
    <dgm:cxn modelId="{AFE83E2E-6097-43C3-8EB3-DDD74250C921}" type="presParOf" srcId="{2C5D21A1-F892-4946-93B4-B8F23DFAF4D8}" destId="{8BD7608A-D9BD-43C9-8868-C0C513DA7DA0}" srcOrd="0" destOrd="0" presId="urn:microsoft.com/office/officeart/2005/8/layout/hList1"/>
    <dgm:cxn modelId="{428EC04F-CBF8-4E39-9A59-78562258382B}" type="presParOf" srcId="{2C5D21A1-F892-4946-93B4-B8F23DFAF4D8}" destId="{EBAA6399-CA48-40B0-95CA-5F7E68F3D025}" srcOrd="1" destOrd="0" presId="urn:microsoft.com/office/officeart/2005/8/layout/hList1"/>
    <dgm:cxn modelId="{F6BEDFBF-65C7-4A3C-BBF2-76F7918959A6}" type="presParOf" srcId="{28F8506E-26DF-4FCF-83A6-4821340BD9F5}" destId="{8686044A-7B6E-46F8-B385-F1785DC6D187}" srcOrd="3" destOrd="0" presId="urn:microsoft.com/office/officeart/2005/8/layout/hList1"/>
    <dgm:cxn modelId="{75F44A2E-42F2-449F-8CDA-9BE745D8BEAB}" type="presParOf" srcId="{28F8506E-26DF-4FCF-83A6-4821340BD9F5}" destId="{7FFA6C54-95AE-4E41-A5B7-5DA1B90546CB}" srcOrd="4" destOrd="0" presId="urn:microsoft.com/office/officeart/2005/8/layout/hList1"/>
    <dgm:cxn modelId="{97572A2F-D06C-4957-BCC9-68B833A0068D}" type="presParOf" srcId="{7FFA6C54-95AE-4E41-A5B7-5DA1B90546CB}" destId="{7C1031DB-945B-45E7-89D7-588F237EEBC4}" srcOrd="0" destOrd="0" presId="urn:microsoft.com/office/officeart/2005/8/layout/hList1"/>
    <dgm:cxn modelId="{198233E6-DE14-4E89-8048-A270294C13E7}" type="presParOf" srcId="{7FFA6C54-95AE-4E41-A5B7-5DA1B90546CB}" destId="{B7C40D03-F621-473E-B1C7-3C7338A2A9FF}" srcOrd="1" destOrd="0" presId="urn:microsoft.com/office/officeart/2005/8/layout/hList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B4ADFA-A224-4F1F-ABC3-570EF3BEBF55}">
      <dsp:nvSpPr>
        <dsp:cNvPr id="0" name=""/>
        <dsp:cNvSpPr/>
      </dsp:nvSpPr>
      <dsp:spPr>
        <a:xfrm>
          <a:off x="3148" y="34673"/>
          <a:ext cx="3069828" cy="1152000"/>
        </a:xfrm>
        <a:prstGeom prst="rect">
          <a:avLst/>
        </a:prstGeom>
        <a:solidFill>
          <a:srgbClr val="FEBE69"/>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ja-JP" altLang="en-US" sz="3200" kern="1200">
              <a:latin typeface="HGS創英角ｺﾞｼｯｸUB" panose="020B0900000000000000" pitchFamily="50" charset="-128"/>
              <a:ea typeface="HGS創英角ｺﾞｼｯｸUB" panose="020B0900000000000000" pitchFamily="50" charset="-128"/>
              <a:cs typeface="+mn-lt"/>
            </a:rPr>
            <a:t>物流と配送</a:t>
          </a:r>
          <a:endParaRPr kumimoji="1" lang="ja-JP" altLang="en-US" sz="3200" kern="1200"/>
        </a:p>
      </dsp:txBody>
      <dsp:txXfrm>
        <a:off x="3148" y="34673"/>
        <a:ext cx="3069828" cy="1152000"/>
      </dsp:txXfrm>
    </dsp:sp>
    <dsp:sp modelId="{FC06EE24-8B77-4A88-891A-EB7AE0F31B20}">
      <dsp:nvSpPr>
        <dsp:cNvPr id="0" name=""/>
        <dsp:cNvSpPr/>
      </dsp:nvSpPr>
      <dsp:spPr>
        <a:xfrm>
          <a:off x="3148" y="1186674"/>
          <a:ext cx="3069828" cy="1756800"/>
        </a:xfrm>
        <a:prstGeom prst="rect">
          <a:avLst/>
        </a:prstGeom>
        <a:solidFill>
          <a:srgbClr val="FFE3BD">
            <a:alpha val="89804"/>
          </a:srgb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ja-JP" altLang="en-US" sz="2000" kern="1200">
              <a:latin typeface="HGS創英角ｺﾞｼｯｸUB" panose="020B0900000000000000" pitchFamily="50" charset="-128"/>
              <a:ea typeface="HGS創英角ｺﾞｼｯｸUB" panose="020B0900000000000000" pitchFamily="50" charset="-128"/>
              <a:cs typeface="+mn-lt"/>
            </a:rPr>
            <a:t>商品の配送やサービスの提供において、効率的なルートを計画</a:t>
          </a:r>
          <a:endParaRPr kumimoji="1" lang="ja-JP" altLang="en-US" sz="2000" kern="1200"/>
        </a:p>
      </dsp:txBody>
      <dsp:txXfrm>
        <a:off x="3148" y="1186674"/>
        <a:ext cx="3069828" cy="1756800"/>
      </dsp:txXfrm>
    </dsp:sp>
    <dsp:sp modelId="{8BD7608A-D9BD-43C9-8868-C0C513DA7DA0}">
      <dsp:nvSpPr>
        <dsp:cNvPr id="0" name=""/>
        <dsp:cNvSpPr/>
      </dsp:nvSpPr>
      <dsp:spPr>
        <a:xfrm>
          <a:off x="3502752" y="34673"/>
          <a:ext cx="3069828" cy="1152000"/>
        </a:xfrm>
        <a:prstGeom prst="rect">
          <a:avLst/>
        </a:prstGeom>
        <a:solidFill>
          <a:srgbClr val="77C770"/>
        </a:solidFill>
        <a:ln w="12700" cap="flat" cmpd="sng" algn="ctr">
          <a:solidFill>
            <a:schemeClr val="accent4">
              <a:hueOff val="4900445"/>
              <a:satOff val="-20388"/>
              <a:lumOff val="4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ja-JP" altLang="en-US" sz="2400" kern="1200">
              <a:latin typeface="HGS創英角ｺﾞｼｯｸUB" panose="020B0900000000000000" pitchFamily="50" charset="-128"/>
              <a:ea typeface="HGS創英角ｺﾞｼｯｸUB" panose="020B0900000000000000" pitchFamily="50" charset="-128"/>
              <a:cs typeface="+mn-lt"/>
            </a:rPr>
            <a:t>旅行プランニング</a:t>
          </a:r>
          <a:endParaRPr kumimoji="1" lang="ja-JP" altLang="en-US" sz="2400" kern="1200"/>
        </a:p>
      </dsp:txBody>
      <dsp:txXfrm>
        <a:off x="3502752" y="34673"/>
        <a:ext cx="3069828" cy="1152000"/>
      </dsp:txXfrm>
    </dsp:sp>
    <dsp:sp modelId="{EBAA6399-CA48-40B0-95CA-5F7E68F3D025}">
      <dsp:nvSpPr>
        <dsp:cNvPr id="0" name=""/>
        <dsp:cNvSpPr/>
      </dsp:nvSpPr>
      <dsp:spPr>
        <a:xfrm>
          <a:off x="3502752" y="1186674"/>
          <a:ext cx="3069828" cy="1756800"/>
        </a:xfrm>
        <a:prstGeom prst="rect">
          <a:avLst/>
        </a:prstGeom>
        <a:solidFill>
          <a:srgbClr val="C8E8C6">
            <a:alpha val="89804"/>
          </a:srgbClr>
        </a:solidFill>
        <a:ln w="12700" cap="flat" cmpd="sng" algn="ctr">
          <a:solidFill>
            <a:schemeClr val="accent4">
              <a:tint val="40000"/>
              <a:alpha val="90000"/>
              <a:hueOff val="5430963"/>
              <a:satOff val="-25622"/>
              <a:lumOff val="-92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ja-JP" altLang="en-US" sz="2000" kern="1200">
              <a:latin typeface="HGS創英角ｺﾞｼｯｸUB" panose="020B0900000000000000" pitchFamily="50" charset="-128"/>
              <a:ea typeface="HGS創英角ｺﾞｼｯｸUB" panose="020B0900000000000000" pitchFamily="50" charset="-128"/>
              <a:cs typeface="+mn-lt"/>
            </a:rPr>
            <a:t>観光資源を効率的に</a:t>
          </a:r>
          <a:br>
            <a:rPr lang="en-US" altLang="ja-JP" sz="2000" kern="1200">
              <a:latin typeface="HGS創英角ｺﾞｼｯｸUB" panose="020B0900000000000000" pitchFamily="50" charset="-128"/>
              <a:ea typeface="HGS創英角ｺﾞｼｯｸUB" panose="020B0900000000000000" pitchFamily="50" charset="-128"/>
              <a:cs typeface="+mn-lt"/>
            </a:rPr>
          </a:br>
          <a:r>
            <a:rPr lang="ja-JP" altLang="en-US" sz="2000" kern="1200">
              <a:latin typeface="HGS創英角ｺﾞｼｯｸUB" panose="020B0900000000000000" pitchFamily="50" charset="-128"/>
              <a:ea typeface="HGS創英角ｺﾞｼｯｸUB" panose="020B0900000000000000" pitchFamily="50" charset="-128"/>
              <a:cs typeface="+mn-lt"/>
            </a:rPr>
            <a:t>巡るためのルートの</a:t>
          </a:r>
          <a:br>
            <a:rPr lang="en-US" altLang="ja-JP" sz="2000" kern="1200">
              <a:latin typeface="HGS創英角ｺﾞｼｯｸUB" panose="020B0900000000000000" pitchFamily="50" charset="-128"/>
              <a:ea typeface="HGS創英角ｺﾞｼｯｸUB" panose="020B0900000000000000" pitchFamily="50" charset="-128"/>
              <a:cs typeface="+mn-lt"/>
            </a:rPr>
          </a:br>
          <a:r>
            <a:rPr lang="ja-JP" altLang="en-US" sz="2000" kern="1200">
              <a:latin typeface="HGS創英角ｺﾞｼｯｸUB" panose="020B0900000000000000" pitchFamily="50" charset="-128"/>
              <a:ea typeface="HGS創英角ｺﾞｼｯｸUB" panose="020B0900000000000000" pitchFamily="50" charset="-128"/>
              <a:cs typeface="+mn-lt"/>
            </a:rPr>
            <a:t>設計</a:t>
          </a:r>
          <a:endParaRPr kumimoji="1" lang="ja-JP" altLang="en-US" sz="2000" kern="1200"/>
        </a:p>
      </dsp:txBody>
      <dsp:txXfrm>
        <a:off x="3502752" y="1186674"/>
        <a:ext cx="3069828" cy="1756800"/>
      </dsp:txXfrm>
    </dsp:sp>
    <dsp:sp modelId="{7C1031DB-945B-45E7-89D7-588F237EEBC4}">
      <dsp:nvSpPr>
        <dsp:cNvPr id="0" name=""/>
        <dsp:cNvSpPr/>
      </dsp:nvSpPr>
      <dsp:spPr>
        <a:xfrm>
          <a:off x="7002357" y="34673"/>
          <a:ext cx="3069828" cy="1152000"/>
        </a:xfrm>
        <a:prstGeom prst="rect">
          <a:avLst/>
        </a:prstGeom>
        <a:solidFill>
          <a:srgbClr val="3D8DCC"/>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ja-JP" altLang="en-US" sz="2800" kern="1200">
              <a:latin typeface="HGS創英角ｺﾞｼｯｸUB" panose="020B0900000000000000" pitchFamily="50" charset="-128"/>
              <a:ea typeface="HGS創英角ｺﾞｼｯｸUB" panose="020B0900000000000000" pitchFamily="50" charset="-128"/>
              <a:cs typeface="+mn-lt"/>
            </a:rPr>
            <a:t>ロボティクス</a:t>
          </a:r>
          <a:endParaRPr kumimoji="1" lang="ja-JP" altLang="en-US" sz="2800" kern="1200"/>
        </a:p>
      </dsp:txBody>
      <dsp:txXfrm>
        <a:off x="7002357" y="34673"/>
        <a:ext cx="3069828" cy="1152000"/>
      </dsp:txXfrm>
    </dsp:sp>
    <dsp:sp modelId="{B7C40D03-F621-473E-B1C7-3C7338A2A9FF}">
      <dsp:nvSpPr>
        <dsp:cNvPr id="0" name=""/>
        <dsp:cNvSpPr/>
      </dsp:nvSpPr>
      <dsp:spPr>
        <a:xfrm>
          <a:off x="7002357" y="1186674"/>
          <a:ext cx="3069828" cy="1756800"/>
        </a:xfrm>
        <a:prstGeom prst="rect">
          <a:avLst/>
        </a:prstGeom>
        <a:solidFill>
          <a:srgbClr val="C8DEF0">
            <a:alpha val="89804"/>
          </a:srgbClr>
        </a:solidFill>
        <a:ln w="12700" cap="flat" cmpd="sng" algn="ctr">
          <a:solidFill>
            <a:schemeClr val="accent4">
              <a:tint val="40000"/>
              <a:alpha val="90000"/>
              <a:hueOff val="10861925"/>
              <a:satOff val="-51245"/>
              <a:lumOff val="-185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ja-JP" altLang="en-US" sz="2000" kern="1200">
              <a:latin typeface="HGS創英角ｺﾞｼｯｸUB" panose="020B0900000000000000" pitchFamily="50" charset="-128"/>
              <a:ea typeface="HGS創英角ｺﾞｼｯｸUB" panose="020B0900000000000000" pitchFamily="50" charset="-128"/>
              <a:cs typeface="+mn-lt"/>
            </a:rPr>
            <a:t>自律移動ロボットや</a:t>
          </a:r>
          <a:br>
            <a:rPr lang="en-US" altLang="ja-JP" sz="2000" kern="1200">
              <a:latin typeface="HGS創英角ｺﾞｼｯｸUB" panose="020B0900000000000000" pitchFamily="50" charset="-128"/>
              <a:ea typeface="HGS創英角ｺﾞｼｯｸUB" panose="020B0900000000000000" pitchFamily="50" charset="-128"/>
              <a:cs typeface="+mn-lt"/>
            </a:rPr>
          </a:br>
          <a:r>
            <a:rPr lang="ja-JP" altLang="en-US" sz="2000" kern="1200">
              <a:latin typeface="HGS創英角ｺﾞｼｯｸUB" panose="020B0900000000000000" pitchFamily="50" charset="-128"/>
              <a:ea typeface="HGS創英角ｺﾞｼｯｸUB" panose="020B0900000000000000" pitchFamily="50" charset="-128"/>
              <a:cs typeface="+mn-lt"/>
            </a:rPr>
            <a:t>ドローンが効果的なルートを計画</a:t>
          </a:r>
          <a:endParaRPr kumimoji="1" lang="ja-JP" altLang="en-US" sz="2000" kern="1200"/>
        </a:p>
      </dsp:txBody>
      <dsp:txXfrm>
        <a:off x="7002357" y="1186674"/>
        <a:ext cx="3069828" cy="17568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6EAFDF-D33A-458E-B1F9-CC3A7056CCEE}" type="datetimeFigureOut">
              <a:rPr kumimoji="1" lang="ja-JP" altLang="en-US" smtClean="0"/>
              <a:t>2025/6/4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6DBC1B-97B1-4808-8609-C68770CFC25B}" type="slidenum">
              <a:rPr kumimoji="1" lang="ja-JP" altLang="en-US" smtClean="0"/>
              <a:t>‹#›</a:t>
            </a:fld>
            <a:endParaRPr kumimoji="1" lang="ja-JP" altLang="en-US"/>
          </a:p>
        </p:txBody>
      </p:sp>
    </p:spTree>
    <p:extLst>
      <p:ext uri="{BB962C8B-B14F-4D97-AF65-F5344CB8AC3E}">
        <p14:creationId xmlns:p14="http://schemas.microsoft.com/office/powerpoint/2010/main" val="35668252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9600B-5D06-1F5A-B5DC-D094F32B764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8569BC0-5EC1-DACF-1E19-BB13EAB2AED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D28D70D-9E32-F0BC-5D14-FFF0CC0AB45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507B35-7B57-B3A1-6EC3-4A11167DD430}"/>
              </a:ext>
            </a:extLst>
          </p:cNvPr>
          <p:cNvSpPr>
            <a:spLocks noGrp="1"/>
          </p:cNvSpPr>
          <p:nvPr>
            <p:ph type="sldNum" sz="quarter" idx="5"/>
          </p:nvPr>
        </p:nvSpPr>
        <p:spPr/>
        <p:txBody>
          <a:bodyPr/>
          <a:lstStyle/>
          <a:p>
            <a:fld id="{E06DBC1B-97B1-4808-8609-C68770CFC25B}" type="slidenum">
              <a:rPr kumimoji="1" lang="ja-JP" altLang="en-US" smtClean="0"/>
              <a:t>13</a:t>
            </a:fld>
            <a:endParaRPr kumimoji="1" lang="ja-JP" altLang="en-US"/>
          </a:p>
        </p:txBody>
      </p:sp>
    </p:spTree>
    <p:extLst>
      <p:ext uri="{BB962C8B-B14F-4D97-AF65-F5344CB8AC3E}">
        <p14:creationId xmlns:p14="http://schemas.microsoft.com/office/powerpoint/2010/main" val="308023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06DBC1B-97B1-4808-8609-C68770CFC25B}" type="slidenum">
              <a:rPr kumimoji="1" lang="ja-JP" altLang="en-US" smtClean="0"/>
              <a:t>14</a:t>
            </a:fld>
            <a:endParaRPr kumimoji="1" lang="ja-JP" altLang="en-US"/>
          </a:p>
        </p:txBody>
      </p:sp>
    </p:spTree>
    <p:extLst>
      <p:ext uri="{BB962C8B-B14F-4D97-AF65-F5344CB8AC3E}">
        <p14:creationId xmlns:p14="http://schemas.microsoft.com/office/powerpoint/2010/main" val="9435824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06DBC1B-97B1-4808-8609-C68770CFC25B}" type="slidenum">
              <a:rPr kumimoji="1" lang="ja-JP" altLang="en-US" smtClean="0"/>
              <a:t>19</a:t>
            </a:fld>
            <a:endParaRPr kumimoji="1" lang="ja-JP" altLang="en-US"/>
          </a:p>
        </p:txBody>
      </p:sp>
    </p:spTree>
    <p:extLst>
      <p:ext uri="{BB962C8B-B14F-4D97-AF65-F5344CB8AC3E}">
        <p14:creationId xmlns:p14="http://schemas.microsoft.com/office/powerpoint/2010/main" val="30356810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E06DBC1B-97B1-4808-8609-C68770CFC25B}" type="slidenum">
              <a:rPr kumimoji="1" lang="ja-JP" altLang="en-US" smtClean="0"/>
              <a:t>22</a:t>
            </a:fld>
            <a:endParaRPr kumimoji="1" lang="ja-JP" altLang="en-US"/>
          </a:p>
        </p:txBody>
      </p:sp>
    </p:spTree>
    <p:extLst>
      <p:ext uri="{BB962C8B-B14F-4D97-AF65-F5344CB8AC3E}">
        <p14:creationId xmlns:p14="http://schemas.microsoft.com/office/powerpoint/2010/main" val="1077269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904242CC-0B40-4A76-B62C-688E73BD2721}" type="datetime1">
              <a:rPr kumimoji="1" lang="ja-JP" altLang="en-US" smtClean="0"/>
              <a:t>2025/6/4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3932030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5D298D8A-8D45-4BBC-9134-87FB65E3D9B4}" type="datetime1">
              <a:rPr kumimoji="1" lang="ja-JP" altLang="en-US" smtClean="0"/>
              <a:t>2025/6/4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lvl1pPr>
              <a:defRPr sz="2000"/>
            </a:lvl1pPr>
          </a:lstStyle>
          <a:p>
            <a:fld id="{9E365578-86CB-437F-8A21-C7B14E4ACE69}" type="slidenum">
              <a:rPr kumimoji="1" lang="ja-JP" altLang="en-US" smtClean="0"/>
              <a:pPr/>
              <a:t>‹#›</a:t>
            </a:fld>
            <a:endParaRPr kumimoji="1" lang="ja-JP" altLang="en-US"/>
          </a:p>
        </p:txBody>
      </p:sp>
    </p:spTree>
    <p:extLst>
      <p:ext uri="{BB962C8B-B14F-4D97-AF65-F5344CB8AC3E}">
        <p14:creationId xmlns:p14="http://schemas.microsoft.com/office/powerpoint/2010/main" val="333767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6C478519-970C-417E-9B2F-BF52E7F7A05C}" type="datetime1">
              <a:rPr kumimoji="1" lang="ja-JP" altLang="en-US" smtClean="0"/>
              <a:t>2025/6/4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2237753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5D0C5C0A-3661-4CBD-B9B3-AB4DF4610986}" type="datetime1">
              <a:rPr kumimoji="1" lang="ja-JP" altLang="en-US" smtClean="0"/>
              <a:t>2025/6/4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57296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A595F15D-9B00-4B2D-B9AB-11B9213DAA78}" type="datetime1">
              <a:rPr kumimoji="1" lang="ja-JP" altLang="en-US" smtClean="0"/>
              <a:t>2025/6/4</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12051982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0ABD3ED0-5A87-4A45-9676-2DC595600066}" type="datetime1">
              <a:rPr kumimoji="1" lang="ja-JP" altLang="en-US" smtClean="0"/>
              <a:t>2025/6/4</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4261039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4A5A0A-8E7D-4A20-BEA3-3FAE3CFAB09D}" type="datetime1">
              <a:rPr kumimoji="1" lang="ja-JP" altLang="en-US" smtClean="0"/>
              <a:t>2025/6/4</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17170031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9A83FAF8-B321-46FD-8515-C2909F0A6028}" type="datetime1">
              <a:rPr kumimoji="1" lang="ja-JP" altLang="en-US" smtClean="0"/>
              <a:t>2025/6/4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76266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02CDE81D-4A0C-4639-985C-C22583BBEC61}" type="datetime1">
              <a:rPr kumimoji="1" lang="ja-JP" altLang="en-US" smtClean="0"/>
              <a:t>2025/6/4</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4108654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D47F186-1EDD-40CB-ADA0-97FFEEF0ADC6}" type="datetime1">
              <a:rPr kumimoji="1" lang="ja-JP" altLang="en-US" smtClean="0"/>
              <a:t>2025/6/4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606370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A6A9E175-8F33-4756-B204-84FBFE02344C}" type="datetime1">
              <a:rPr kumimoji="1" lang="ja-JP" altLang="en-US" smtClean="0"/>
              <a:t>2025/6/4</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4227026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C8663F-AFF3-4031-B506-E4A6886C86C6}" type="datetime1">
              <a:rPr kumimoji="1" lang="ja-JP" altLang="en-US" smtClean="0"/>
              <a:t>2025/6/4</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365578-86CB-437F-8A21-C7B14E4ACE69}" type="slidenum">
              <a:rPr kumimoji="1" lang="ja-JP" altLang="en-US" smtClean="0"/>
              <a:t>‹#›</a:t>
            </a:fld>
            <a:endParaRPr kumimoji="1" lang="ja-JP" altLang="en-US"/>
          </a:p>
        </p:txBody>
      </p:sp>
    </p:spTree>
    <p:extLst>
      <p:ext uri="{BB962C8B-B14F-4D97-AF65-F5344CB8AC3E}">
        <p14:creationId xmlns:p14="http://schemas.microsoft.com/office/powerpoint/2010/main" val="278950167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1.xml"/><Relationship Id="rId7" Type="http://schemas.openxmlformats.org/officeDocument/2006/relationships/image" Target="../media/image3.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microsoft.com/office/2007/relationships/hdphoto" Target="../media/hdphoto1.wdp"/></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B4C48C-1032-4DCA-242A-B601CE5B8795}"/>
              </a:ext>
            </a:extLst>
          </p:cNvPr>
          <p:cNvSpPr>
            <a:spLocks noGrp="1"/>
          </p:cNvSpPr>
          <p:nvPr>
            <p:ph type="ctrTitle"/>
          </p:nvPr>
        </p:nvSpPr>
        <p:spPr>
          <a:xfrm>
            <a:off x="4348102" y="1494386"/>
            <a:ext cx="5111032" cy="396907"/>
          </a:xfrm>
        </p:spPr>
        <p:txBody>
          <a:bodyPr>
            <a:noAutofit/>
          </a:bodyPr>
          <a:lstStyle/>
          <a:p>
            <a:r>
              <a:rPr kumimoji="1" lang="ja-JP" altLang="en-US" sz="2000">
                <a:latin typeface="HGS創英角ｺﾞｼｯｸUB" panose="020B0900000000000000" pitchFamily="50" charset="-128"/>
                <a:ea typeface="HGS創英角ｺﾞｼｯｸUB" panose="020B0900000000000000" pitchFamily="50" charset="-128"/>
              </a:rPr>
              <a:t>最適化アルゴリズムに関する実験</a:t>
            </a:r>
          </a:p>
        </p:txBody>
      </p:sp>
      <p:sp>
        <p:nvSpPr>
          <p:cNvPr id="4" name="テキスト ボックス 3">
            <a:extLst>
              <a:ext uri="{FF2B5EF4-FFF2-40B4-BE49-F238E27FC236}">
                <a16:creationId xmlns:a16="http://schemas.microsoft.com/office/drawing/2014/main" id="{0EB76750-2153-93B0-D05D-6162E6145165}"/>
              </a:ext>
            </a:extLst>
          </p:cNvPr>
          <p:cNvSpPr txBox="1"/>
          <p:nvPr/>
        </p:nvSpPr>
        <p:spPr>
          <a:xfrm>
            <a:off x="2779293" y="3570747"/>
            <a:ext cx="7172325" cy="2308324"/>
          </a:xfrm>
          <a:prstGeom prst="rect">
            <a:avLst/>
          </a:prstGeom>
          <a:noFill/>
        </p:spPr>
        <p:txBody>
          <a:bodyPr wrap="square" lIns="91440" tIns="45720" rIns="91440" bIns="45720" rtlCol="0" anchor="t">
            <a:spAutoFit/>
          </a:bodyPr>
          <a:lstStyle/>
          <a:p>
            <a:pPr algn="ctr"/>
            <a:r>
              <a:rPr kumimoji="1" lang="ja-JP" altLang="en-US" sz="2400" dirty="0">
                <a:solidFill>
                  <a:srgbClr val="261C1A"/>
                </a:solidFill>
                <a:latin typeface="HGS創英角ｺﾞｼｯｸUB" panose="020B0900000000000000" pitchFamily="50" charset="-128"/>
                <a:ea typeface="HGS創英角ｺﾞｼｯｸUB" panose="020B0900000000000000" pitchFamily="50" charset="-128"/>
              </a:rPr>
              <a:t>８班</a:t>
            </a:r>
            <a:endParaRPr kumimoji="1" lang="en-US" altLang="ja-JP" sz="2400" dirty="0">
              <a:solidFill>
                <a:srgbClr val="261C1A"/>
              </a:solidFill>
              <a:latin typeface="HGS創英角ｺﾞｼｯｸUB" panose="020B0900000000000000" pitchFamily="50" charset="-128"/>
              <a:ea typeface="HGS創英角ｺﾞｼｯｸUB" panose="020B0900000000000000" pitchFamily="50" charset="-128"/>
            </a:endParaRPr>
          </a:p>
          <a:p>
            <a:pPr indent="2243138"/>
            <a:r>
              <a:rPr kumimoji="1" lang="en-US" altLang="ja-JP" sz="2400" dirty="0">
                <a:solidFill>
                  <a:srgbClr val="261C1A"/>
                </a:solidFill>
                <a:latin typeface="HGS創英角ｺﾞｼｯｸUB" panose="020B0900000000000000" pitchFamily="50" charset="-128"/>
                <a:ea typeface="HGS創英角ｺﾞｼｯｸUB" panose="020B0900000000000000" pitchFamily="50" charset="-128"/>
              </a:rPr>
              <a:t>AJG23049	</a:t>
            </a:r>
            <a:r>
              <a:rPr kumimoji="1" lang="ja-JP" sz="2400" dirty="0">
                <a:solidFill>
                  <a:srgbClr val="261C1A"/>
                </a:solidFill>
                <a:latin typeface="HGS創英角ｺﾞｼｯｸUB" panose="020B0900000000000000" pitchFamily="50" charset="-128"/>
                <a:ea typeface="HGS創英角ｺﾞｼｯｸUB" panose="020B0900000000000000" pitchFamily="50" charset="-128"/>
              </a:rPr>
              <a:t>山本理</a:t>
            </a:r>
            <a:endParaRPr lang="en-US" altLang="ja-JP" sz="2400" dirty="0">
              <a:solidFill>
                <a:srgbClr val="261C1A"/>
              </a:solidFill>
              <a:latin typeface="HGS創英角ｺﾞｼｯｸUB" panose="020B0900000000000000" pitchFamily="50" charset="-128"/>
              <a:ea typeface="HGS創英角ｺﾞｼｯｸUB" panose="020B0900000000000000" pitchFamily="50" charset="-128"/>
            </a:endParaRPr>
          </a:p>
          <a:p>
            <a:pPr indent="2243138"/>
            <a:r>
              <a:rPr lang="ja-JP" altLang="en-US" sz="2400" dirty="0">
                <a:solidFill>
                  <a:srgbClr val="261C1A"/>
                </a:solidFill>
                <a:latin typeface="HGS創英角ｺﾞｼｯｸUB" panose="020B0900000000000000" pitchFamily="50" charset="-128"/>
                <a:ea typeface="HGS創英角ｺﾞｼｯｸUB" panose="020B0900000000000000" pitchFamily="50" charset="-128"/>
              </a:rPr>
              <a:t>AJG23050</a:t>
            </a:r>
            <a:r>
              <a:rPr lang="en-US" altLang="ja-JP" sz="2400" dirty="0">
                <a:solidFill>
                  <a:srgbClr val="261C1A"/>
                </a:solidFill>
                <a:latin typeface="HGS創英角ｺﾞｼｯｸUB" panose="020B0900000000000000" pitchFamily="50" charset="-128"/>
                <a:ea typeface="HGS創英角ｺﾞｼｯｸUB" panose="020B0900000000000000" pitchFamily="50" charset="-128"/>
              </a:rPr>
              <a:t>	</a:t>
            </a:r>
            <a:r>
              <a:rPr lang="ja-JP" sz="2400" dirty="0">
                <a:solidFill>
                  <a:srgbClr val="261C1A"/>
                </a:solidFill>
                <a:latin typeface="HGS創英角ｺﾞｼｯｸUB" panose="020B0900000000000000" pitchFamily="50" charset="-128"/>
                <a:ea typeface="HGS創英角ｺﾞｼｯｸUB" panose="020B0900000000000000" pitchFamily="50" charset="-128"/>
              </a:rPr>
              <a:t>浅野輝心</a:t>
            </a:r>
            <a:endParaRPr lang="ja-JP" altLang="en-US" sz="2400" dirty="0">
              <a:solidFill>
                <a:srgbClr val="261C1A"/>
              </a:solidFill>
              <a:latin typeface="HGS創英角ｺﾞｼｯｸUB" panose="020B0900000000000000" pitchFamily="50" charset="-128"/>
              <a:ea typeface="HGS創英角ｺﾞｼｯｸUB" panose="020B0900000000000000" pitchFamily="50" charset="-128"/>
            </a:endParaRPr>
          </a:p>
          <a:p>
            <a:pPr indent="2243138"/>
            <a:r>
              <a:rPr kumimoji="1" lang="ja-JP" altLang="en-US" sz="2400" dirty="0">
                <a:solidFill>
                  <a:srgbClr val="261C1A"/>
                </a:solidFill>
                <a:latin typeface="HGS創英角ｺﾞｼｯｸUB" panose="020B0900000000000000" pitchFamily="50" charset="-128"/>
                <a:ea typeface="HGS創英角ｺﾞｼｯｸUB" panose="020B0900000000000000" pitchFamily="50" charset="-128"/>
              </a:rPr>
              <a:t>AJG23051</a:t>
            </a:r>
            <a:r>
              <a:rPr kumimoji="1" lang="en-US" altLang="ja-JP" sz="2400" dirty="0">
                <a:solidFill>
                  <a:srgbClr val="261C1A"/>
                </a:solidFill>
                <a:latin typeface="HGS創英角ｺﾞｼｯｸUB" panose="020B0900000000000000" pitchFamily="50" charset="-128"/>
                <a:ea typeface="HGS創英角ｺﾞｼｯｸUB" panose="020B0900000000000000" pitchFamily="50" charset="-128"/>
              </a:rPr>
              <a:t>	</a:t>
            </a:r>
            <a:r>
              <a:rPr kumimoji="1" lang="ja-JP" altLang="en-US" sz="2400" dirty="0">
                <a:solidFill>
                  <a:srgbClr val="261C1A"/>
                </a:solidFill>
                <a:latin typeface="HGS創英角ｺﾞｼｯｸUB" panose="020B0900000000000000" pitchFamily="50" charset="-128"/>
                <a:ea typeface="HGS創英角ｺﾞｼｯｸUB" panose="020B0900000000000000" pitchFamily="50" charset="-128"/>
              </a:rPr>
              <a:t>高井晴</a:t>
            </a:r>
            <a:endParaRPr lang="en-US" altLang="ja-JP" sz="2400" dirty="0">
              <a:solidFill>
                <a:srgbClr val="261C1A"/>
              </a:solidFill>
              <a:latin typeface="HGS創英角ｺﾞｼｯｸUB" panose="020B0900000000000000" pitchFamily="50" charset="-128"/>
              <a:ea typeface="HGS創英角ｺﾞｼｯｸUB" panose="020B0900000000000000" pitchFamily="50" charset="-128"/>
            </a:endParaRPr>
          </a:p>
          <a:p>
            <a:pPr indent="2243138"/>
            <a:r>
              <a:rPr lang="ja-JP" altLang="en-US" sz="2400" dirty="0">
                <a:solidFill>
                  <a:srgbClr val="261C1A"/>
                </a:solidFill>
                <a:latin typeface="HGS創英角ｺﾞｼｯｸUB" panose="020B0900000000000000" pitchFamily="50" charset="-128"/>
                <a:ea typeface="HGS創英角ｺﾞｼｯｸUB" panose="020B0900000000000000" pitchFamily="50" charset="-128"/>
              </a:rPr>
              <a:t>AJG23052</a:t>
            </a:r>
            <a:r>
              <a:rPr lang="en-US" altLang="ja-JP" sz="2400" dirty="0">
                <a:solidFill>
                  <a:srgbClr val="261C1A"/>
                </a:solidFill>
                <a:latin typeface="HGS創英角ｺﾞｼｯｸUB" panose="020B0900000000000000" pitchFamily="50" charset="-128"/>
                <a:ea typeface="HGS創英角ｺﾞｼｯｸUB" panose="020B0900000000000000" pitchFamily="50" charset="-128"/>
              </a:rPr>
              <a:t>	</a:t>
            </a:r>
            <a:r>
              <a:rPr lang="ja-JP" sz="2400" dirty="0">
                <a:solidFill>
                  <a:srgbClr val="261C1A"/>
                </a:solidFill>
                <a:latin typeface="HGS創英角ｺﾞｼｯｸUB" panose="020B0900000000000000" pitchFamily="50" charset="-128"/>
                <a:ea typeface="HGS創英角ｺﾞｼｯｸUB" panose="020B0900000000000000" pitchFamily="50" charset="-128"/>
              </a:rPr>
              <a:t>湯村新太</a:t>
            </a:r>
            <a:endParaRPr lang="en-US" altLang="ja-JP" sz="2400" dirty="0">
              <a:solidFill>
                <a:srgbClr val="261C1A"/>
              </a:solidFill>
              <a:latin typeface="HGS創英角ｺﾞｼｯｸUB" panose="020B0900000000000000" pitchFamily="50" charset="-128"/>
              <a:ea typeface="HGS創英角ｺﾞｼｯｸUB" panose="020B0900000000000000" pitchFamily="50" charset="-128"/>
            </a:endParaRPr>
          </a:p>
          <a:p>
            <a:pPr indent="2243138"/>
            <a:r>
              <a:rPr lang="ja-JP" altLang="en-US" sz="2400" dirty="0">
                <a:solidFill>
                  <a:srgbClr val="261C1A"/>
                </a:solidFill>
                <a:latin typeface="HGS創英角ｺﾞｼｯｸUB" panose="020B0900000000000000" pitchFamily="50" charset="-128"/>
                <a:ea typeface="HGS創英角ｺﾞｼｯｸUB" panose="020B0900000000000000" pitchFamily="50" charset="-128"/>
              </a:rPr>
              <a:t>AJG23055</a:t>
            </a:r>
            <a:r>
              <a:rPr lang="en-US" altLang="ja-JP" sz="2400" dirty="0">
                <a:solidFill>
                  <a:srgbClr val="261C1A"/>
                </a:solidFill>
                <a:latin typeface="HGS創英角ｺﾞｼｯｸUB" panose="020B0900000000000000" pitchFamily="50" charset="-128"/>
                <a:ea typeface="HGS創英角ｺﾞｼｯｸUB" panose="020B0900000000000000" pitchFamily="50" charset="-128"/>
              </a:rPr>
              <a:t>	</a:t>
            </a:r>
            <a:r>
              <a:rPr lang="ja-JP" altLang="en-US" sz="2400" dirty="0">
                <a:solidFill>
                  <a:srgbClr val="261C1A"/>
                </a:solidFill>
                <a:latin typeface="HGS創英角ｺﾞｼｯｸUB" panose="020B0900000000000000" pitchFamily="50" charset="-128"/>
                <a:ea typeface="HGS創英角ｺﾞｼｯｸUB" panose="020B0900000000000000" pitchFamily="50" charset="-128"/>
              </a:rPr>
              <a:t>牧野唯希</a:t>
            </a:r>
            <a:endParaRPr lang="en-US" altLang="ja-JP" sz="2400" dirty="0">
              <a:solidFill>
                <a:srgbClr val="261C1A"/>
              </a:solidFill>
              <a:latin typeface="HGS創英角ｺﾞｼｯｸUB" panose="020B0900000000000000" pitchFamily="50" charset="-128"/>
              <a:ea typeface="HGS創英角ｺﾞｼｯｸUB" panose="020B0900000000000000" pitchFamily="50" charset="-128"/>
            </a:endParaRPr>
          </a:p>
        </p:txBody>
      </p:sp>
      <p:sp>
        <p:nvSpPr>
          <p:cNvPr id="8" name="字幕 2">
            <a:extLst>
              <a:ext uri="{FF2B5EF4-FFF2-40B4-BE49-F238E27FC236}">
                <a16:creationId xmlns:a16="http://schemas.microsoft.com/office/drawing/2014/main" id="{EBB600BE-EB0A-184B-9A45-9C36E6E280F4}"/>
              </a:ext>
            </a:extLst>
          </p:cNvPr>
          <p:cNvSpPr txBox="1">
            <a:spLocks/>
          </p:cNvSpPr>
          <p:nvPr/>
        </p:nvSpPr>
        <p:spPr>
          <a:xfrm>
            <a:off x="807618" y="495980"/>
            <a:ext cx="9144000" cy="11899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5400">
                <a:latin typeface="HGS創英角ｺﾞｼｯｸUB" panose="020B0900000000000000" pitchFamily="50" charset="-128"/>
                <a:ea typeface="HGS創英角ｺﾞｼｯｸUB" panose="020B0900000000000000" pitchFamily="50" charset="-128"/>
              </a:rPr>
              <a:t>巡回セールスマン問題</a:t>
            </a:r>
          </a:p>
        </p:txBody>
      </p:sp>
      <p:cxnSp>
        <p:nvCxnSpPr>
          <p:cNvPr id="13" name="直線コネクタ 12">
            <a:extLst>
              <a:ext uri="{FF2B5EF4-FFF2-40B4-BE49-F238E27FC236}">
                <a16:creationId xmlns:a16="http://schemas.microsoft.com/office/drawing/2014/main" id="{39B6D2CE-0271-79DF-D067-5D366A655605}"/>
              </a:ext>
            </a:extLst>
          </p:cNvPr>
          <p:cNvCxnSpPr>
            <a:cxnSpLocks/>
          </p:cNvCxnSpPr>
          <p:nvPr/>
        </p:nvCxnSpPr>
        <p:spPr>
          <a:xfrm flipV="1">
            <a:off x="1895475" y="1495425"/>
            <a:ext cx="6938254" cy="627"/>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pic>
        <p:nvPicPr>
          <p:cNvPr id="5" name="図 4">
            <a:extLst>
              <a:ext uri="{FF2B5EF4-FFF2-40B4-BE49-F238E27FC236}">
                <a16:creationId xmlns:a16="http://schemas.microsoft.com/office/drawing/2014/main" id="{4A6C76B7-FFE9-8148-2DCE-7EF23EDB13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26807" y="949197"/>
            <a:ext cx="2730640" cy="4959605"/>
          </a:xfrm>
          <a:prstGeom prst="rect">
            <a:avLst/>
          </a:prstGeom>
        </p:spPr>
      </p:pic>
      <p:pic>
        <p:nvPicPr>
          <p:cNvPr id="19" name="図 18" descr="アイコン&#10;&#10;AI によって生成されたコンテンツは間違っている可能性があります。">
            <a:extLst>
              <a:ext uri="{FF2B5EF4-FFF2-40B4-BE49-F238E27FC236}">
                <a16:creationId xmlns:a16="http://schemas.microsoft.com/office/drawing/2014/main" id="{011D3CDC-5ED6-56B6-DE40-D4DFFB2F892E}"/>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2577913" y="2488617"/>
            <a:ext cx="2289299" cy="1597271"/>
          </a:xfrm>
          <a:prstGeom prst="rect">
            <a:avLst/>
          </a:prstGeom>
        </p:spPr>
      </p:pic>
      <p:pic>
        <p:nvPicPr>
          <p:cNvPr id="20" name="図 19" descr="アイコン&#10;&#10;AI によって生成されたコンテンツは間違っている可能性があります。">
            <a:extLst>
              <a:ext uri="{FF2B5EF4-FFF2-40B4-BE49-F238E27FC236}">
                <a16:creationId xmlns:a16="http://schemas.microsoft.com/office/drawing/2014/main" id="{F6A1BB96-167E-0EB4-F983-8CCAEEC8AF6C}"/>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807618" y="4173398"/>
            <a:ext cx="2289299" cy="1597271"/>
          </a:xfrm>
          <a:prstGeom prst="rect">
            <a:avLst/>
          </a:prstGeom>
        </p:spPr>
      </p:pic>
      <p:sp>
        <p:nvSpPr>
          <p:cNvPr id="23" name="テキスト ボックス 22">
            <a:extLst>
              <a:ext uri="{FF2B5EF4-FFF2-40B4-BE49-F238E27FC236}">
                <a16:creationId xmlns:a16="http://schemas.microsoft.com/office/drawing/2014/main" id="{8240E5F8-BFC0-DFB9-37AD-C3A3F4E48896}"/>
              </a:ext>
            </a:extLst>
          </p:cNvPr>
          <p:cNvSpPr txBox="1"/>
          <p:nvPr/>
        </p:nvSpPr>
        <p:spPr>
          <a:xfrm>
            <a:off x="358526" y="1485857"/>
            <a:ext cx="6096000" cy="400110"/>
          </a:xfrm>
          <a:prstGeom prst="rect">
            <a:avLst/>
          </a:prstGeom>
          <a:noFill/>
        </p:spPr>
        <p:txBody>
          <a:bodyPr wrap="square">
            <a:spAutoFit/>
          </a:bodyPr>
          <a:lstStyle/>
          <a:p>
            <a:pPr algn="ctr"/>
            <a:r>
              <a:rPr lang="en-US" altLang="ja-JP" b="0" i="0">
                <a:effectLst/>
                <a:latin typeface="HGS創英角ｺﾞｼｯｸUB" panose="020B0900000000000000" pitchFamily="50" charset="-128"/>
                <a:ea typeface="HGS創英角ｺﾞｼｯｸUB" panose="020B0900000000000000" pitchFamily="50" charset="-128"/>
              </a:rPr>
              <a:t>Traveling </a:t>
            </a:r>
            <a:r>
              <a:rPr lang="en-US" altLang="ja-JP" sz="2000">
                <a:latin typeface="HGS創英角ｺﾞｼｯｸUB" panose="020B0900000000000000" pitchFamily="50" charset="-128"/>
                <a:ea typeface="HGS創英角ｺﾞｼｯｸUB" panose="020B0900000000000000" pitchFamily="50" charset="-128"/>
              </a:rPr>
              <a:t>S</a:t>
            </a:r>
            <a:r>
              <a:rPr lang="en-US" altLang="ja-JP" sz="2000" b="0" i="0">
                <a:effectLst/>
                <a:latin typeface="HGS創英角ｺﾞｼｯｸUB" panose="020B0900000000000000" pitchFamily="50" charset="-128"/>
                <a:ea typeface="HGS創英角ｺﾞｼｯｸUB" panose="020B0900000000000000" pitchFamily="50" charset="-128"/>
              </a:rPr>
              <a:t>alesman</a:t>
            </a:r>
            <a:r>
              <a:rPr lang="en-US" altLang="ja-JP" b="0" i="0">
                <a:effectLst/>
                <a:latin typeface="HGS創英角ｺﾞｼｯｸUB" panose="020B0900000000000000" pitchFamily="50" charset="-128"/>
                <a:ea typeface="HGS創英角ｺﾞｼｯｸUB" panose="020B0900000000000000" pitchFamily="50" charset="-128"/>
              </a:rPr>
              <a:t> Problem</a:t>
            </a:r>
            <a:endParaRPr lang="ja-JP" altLang="en-US">
              <a:latin typeface="HGS創英角ｺﾞｼｯｸUB" panose="020B0900000000000000" pitchFamily="50" charset="-128"/>
              <a:ea typeface="HGS創英角ｺﾞｼｯｸUB" panose="020B0900000000000000" pitchFamily="50" charset="-128"/>
            </a:endParaRPr>
          </a:p>
        </p:txBody>
      </p:sp>
      <p:sp>
        <p:nvSpPr>
          <p:cNvPr id="3" name="スライド番号プレースホルダー 2">
            <a:extLst>
              <a:ext uri="{FF2B5EF4-FFF2-40B4-BE49-F238E27FC236}">
                <a16:creationId xmlns:a16="http://schemas.microsoft.com/office/drawing/2014/main" id="{3729D881-9DC6-4538-B77A-BD5929F22023}"/>
              </a:ext>
            </a:extLst>
          </p:cNvPr>
          <p:cNvSpPr>
            <a:spLocks noGrp="1"/>
          </p:cNvSpPr>
          <p:nvPr>
            <p:ph type="sldNum" sz="quarter" idx="12"/>
          </p:nvPr>
        </p:nvSpPr>
        <p:spPr/>
        <p:txBody>
          <a:bodyPr/>
          <a:lstStyle/>
          <a:p>
            <a:fld id="{9E365578-86CB-437F-8A21-C7B14E4ACE69}" type="slidenum">
              <a:rPr kumimoji="1" lang="ja-JP" altLang="en-US" sz="2000" smtClean="0"/>
              <a:t>1</a:t>
            </a:fld>
            <a:endParaRPr kumimoji="1" lang="ja-JP" altLang="en-US" sz="2000"/>
          </a:p>
        </p:txBody>
      </p:sp>
    </p:spTree>
    <p:extLst>
      <p:ext uri="{BB962C8B-B14F-4D97-AF65-F5344CB8AC3E}">
        <p14:creationId xmlns:p14="http://schemas.microsoft.com/office/powerpoint/2010/main" val="4023134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4D46AB-D791-290F-9AAF-32AE27CA906D}"/>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背景</a:t>
            </a:r>
          </a:p>
        </p:txBody>
      </p:sp>
      <p:sp>
        <p:nvSpPr>
          <p:cNvPr id="3" name="コンテンツ プレースホルダー 2">
            <a:extLst>
              <a:ext uri="{FF2B5EF4-FFF2-40B4-BE49-F238E27FC236}">
                <a16:creationId xmlns:a16="http://schemas.microsoft.com/office/drawing/2014/main" id="{0148BB1B-A6EF-7D82-12EC-69B3FAE54F5B}"/>
              </a:ext>
            </a:extLst>
          </p:cNvPr>
          <p:cNvSpPr>
            <a:spLocks noGrp="1"/>
          </p:cNvSpPr>
          <p:nvPr>
            <p:ph idx="1"/>
          </p:nvPr>
        </p:nvSpPr>
        <p:spPr>
          <a:xfrm>
            <a:off x="1058333" y="1559984"/>
            <a:ext cx="9973734" cy="933979"/>
          </a:xfrm>
        </p:spPr>
        <p:txBody>
          <a:bodyPr vert="horz" lIns="91440" tIns="45720" rIns="91440" bIns="45720" rtlCol="0" anchor="t">
            <a:normAutofit/>
          </a:bodyPr>
          <a:lstStyle/>
          <a:p>
            <a:pPr marL="0" indent="0">
              <a:buNone/>
            </a:pPr>
            <a:r>
              <a:rPr lang="ja-JP" sz="2400">
                <a:solidFill>
                  <a:srgbClr val="FF0000"/>
                </a:solidFill>
                <a:latin typeface="HGS創英角ｺﾞｼｯｸUB" panose="020B0900000000000000" pitchFamily="50" charset="-128"/>
                <a:ea typeface="HGS創英角ｺﾞｼｯｸUB" panose="020B0900000000000000" pitchFamily="50" charset="-128"/>
                <a:cs typeface="+mn-lt"/>
              </a:rPr>
              <a:t>工程の効率化</a:t>
            </a:r>
            <a:r>
              <a:rPr lang="ja-JP" sz="2400">
                <a:solidFill>
                  <a:srgbClr val="171923"/>
                </a:solidFill>
                <a:latin typeface="HGS創英角ｺﾞｼｯｸUB" panose="020B0900000000000000" pitchFamily="50" charset="-128"/>
                <a:ea typeface="HGS創英角ｺﾞｼｯｸUB" panose="020B0900000000000000" pitchFamily="50" charset="-128"/>
                <a:cs typeface="+mn-lt"/>
              </a:rPr>
              <a:t>や</a:t>
            </a:r>
            <a:r>
              <a:rPr lang="ja-JP" sz="2400">
                <a:solidFill>
                  <a:srgbClr val="FF0000"/>
                </a:solidFill>
                <a:latin typeface="HGS創英角ｺﾞｼｯｸUB" panose="020B0900000000000000" pitchFamily="50" charset="-128"/>
                <a:ea typeface="HGS創英角ｺﾞｼｯｸUB" panose="020B0900000000000000" pitchFamily="50" charset="-128"/>
                <a:cs typeface="+mn-lt"/>
              </a:rPr>
              <a:t>コスト削減</a:t>
            </a:r>
            <a:r>
              <a:rPr lang="ja-JP" altLang="en-US" sz="2400">
                <a:solidFill>
                  <a:srgbClr val="171923"/>
                </a:solidFill>
                <a:latin typeface="HGS創英角ｺﾞｼｯｸUB" panose="020B0900000000000000" pitchFamily="50" charset="-128"/>
                <a:ea typeface="HGS創英角ｺﾞｼｯｸUB" panose="020B0900000000000000" pitchFamily="50" charset="-128"/>
                <a:cs typeface="+mn-lt"/>
              </a:rPr>
              <a:t>は産業を発展させるうえで必要不可欠</a:t>
            </a:r>
            <a:endParaRPr lang="ja-JP">
              <a:solidFill>
                <a:srgbClr val="171923"/>
              </a:solidFill>
              <a:latin typeface="HGS創英角ｺﾞｼｯｸUB" panose="020B0900000000000000" pitchFamily="50" charset="-128"/>
              <a:ea typeface="HGS創英角ｺﾞｼｯｸUB" panose="020B0900000000000000" pitchFamily="50" charset="-128"/>
              <a:cs typeface="Calibri"/>
            </a:endParaRPr>
          </a:p>
        </p:txBody>
      </p:sp>
      <p:grpSp>
        <p:nvGrpSpPr>
          <p:cNvPr id="14" name="グループ化 13">
            <a:extLst>
              <a:ext uri="{FF2B5EF4-FFF2-40B4-BE49-F238E27FC236}">
                <a16:creationId xmlns:a16="http://schemas.microsoft.com/office/drawing/2014/main" id="{22A33F25-D92F-98D5-CACD-5D088AE6DF1C}"/>
              </a:ext>
            </a:extLst>
          </p:cNvPr>
          <p:cNvGrpSpPr/>
          <p:nvPr/>
        </p:nvGrpSpPr>
        <p:grpSpPr>
          <a:xfrm>
            <a:off x="1058333" y="2463034"/>
            <a:ext cx="10075334" cy="3155604"/>
            <a:chOff x="1058333" y="2943226"/>
            <a:chExt cx="10075334" cy="3155604"/>
          </a:xfrm>
        </p:grpSpPr>
        <p:graphicFrame>
          <p:nvGraphicFramePr>
            <p:cNvPr id="5" name="図表 4">
              <a:extLst>
                <a:ext uri="{FF2B5EF4-FFF2-40B4-BE49-F238E27FC236}">
                  <a16:creationId xmlns:a16="http://schemas.microsoft.com/office/drawing/2014/main" id="{AD226415-6951-E23D-83A8-620D1F208760}"/>
                </a:ext>
              </a:extLst>
            </p:cNvPr>
            <p:cNvGraphicFramePr/>
            <p:nvPr>
              <p:extLst>
                <p:ext uri="{D42A27DB-BD31-4B8C-83A1-F6EECF244321}">
                  <p14:modId xmlns:p14="http://schemas.microsoft.com/office/powerpoint/2010/main" val="2643757731"/>
                </p:ext>
              </p:extLst>
            </p:nvPr>
          </p:nvGraphicFramePr>
          <p:xfrm>
            <a:off x="1058333" y="2943226"/>
            <a:ext cx="10075334" cy="29781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 name="図 8" descr="アイコン&#10;&#10;AI によって生成されたコンテンツは間違っている可能性があります。">
              <a:extLst>
                <a:ext uri="{FF2B5EF4-FFF2-40B4-BE49-F238E27FC236}">
                  <a16:creationId xmlns:a16="http://schemas.microsoft.com/office/drawing/2014/main" id="{BB885F60-1344-61E6-BF48-8547EAD6B99A}"/>
                </a:ext>
              </a:extLst>
            </p:cNvPr>
            <p:cNvPicPr>
              <a:picLocks noChangeAspect="1"/>
            </p:cNvPicPr>
            <p:nvPr/>
          </p:nvPicPr>
          <p:blipFill>
            <a:blip r:embed="rId7">
              <a:extLst>
                <a:ext uri="{28A0092B-C50C-407E-A947-70E740481C1C}">
                  <a14:useLocalDpi xmlns:a14="http://schemas.microsoft.com/office/drawing/2010/main" val="0"/>
                </a:ext>
              </a:extLst>
            </a:blip>
            <a:srcRect l="52336" t="62968"/>
            <a:stretch/>
          </p:blipFill>
          <p:spPr>
            <a:xfrm>
              <a:off x="9547586" y="5044303"/>
              <a:ext cx="1412987" cy="1054527"/>
            </a:xfrm>
            <a:prstGeom prst="rect">
              <a:avLst/>
            </a:prstGeom>
          </p:spPr>
        </p:pic>
        <p:pic>
          <p:nvPicPr>
            <p:cNvPr id="11" name="図 10" descr="時計 が含まれている画像&#10;&#10;AI によって生成されたコンテンツは間違っている可能性があります。">
              <a:extLst>
                <a:ext uri="{FF2B5EF4-FFF2-40B4-BE49-F238E27FC236}">
                  <a16:creationId xmlns:a16="http://schemas.microsoft.com/office/drawing/2014/main" id="{F6F7BC87-AFE7-9099-39AF-6EBD21E4E56B}"/>
                </a:ext>
              </a:extLst>
            </p:cNvPr>
            <p:cNvPicPr>
              <a:picLocks noChangeAspect="1"/>
            </p:cNvPicPr>
            <p:nvPr/>
          </p:nvPicPr>
          <p:blipFill>
            <a:blip r:embed="rId8">
              <a:extLst>
                <a:ext uri="{28A0092B-C50C-407E-A947-70E740481C1C}">
                  <a14:useLocalDpi xmlns:a14="http://schemas.microsoft.com/office/drawing/2010/main" val="0"/>
                </a:ext>
              </a:extLst>
            </a:blip>
            <a:srcRect l="54618" t="63310"/>
            <a:stretch/>
          </p:blipFill>
          <p:spPr>
            <a:xfrm>
              <a:off x="5692746" y="5044303"/>
              <a:ext cx="1463146" cy="991714"/>
            </a:xfrm>
            <a:prstGeom prst="rect">
              <a:avLst/>
            </a:prstGeom>
          </p:spPr>
        </p:pic>
        <p:pic>
          <p:nvPicPr>
            <p:cNvPr id="13" name="図 12" descr="テキスト&#10;&#10;AI によって生成されたコンテンツは間違っている可能性があります。">
              <a:extLst>
                <a:ext uri="{FF2B5EF4-FFF2-40B4-BE49-F238E27FC236}">
                  <a16:creationId xmlns:a16="http://schemas.microsoft.com/office/drawing/2014/main" id="{106DCE6C-C58E-AAB7-2801-08EDD713BE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427106" y="5247782"/>
              <a:ext cx="1412987" cy="762320"/>
            </a:xfrm>
            <a:prstGeom prst="rect">
              <a:avLst/>
            </a:prstGeom>
          </p:spPr>
        </p:pic>
      </p:grpSp>
      <p:cxnSp>
        <p:nvCxnSpPr>
          <p:cNvPr id="15" name="直線コネクタ 14">
            <a:extLst>
              <a:ext uri="{FF2B5EF4-FFF2-40B4-BE49-F238E27FC236}">
                <a16:creationId xmlns:a16="http://schemas.microsoft.com/office/drawing/2014/main" id="{EEEDFB49-AAEC-A72C-6311-0AD1EF5BAF32}"/>
              </a:ext>
            </a:extLst>
          </p:cNvPr>
          <p:cNvCxnSpPr>
            <a:cxnSpLocks/>
          </p:cNvCxnSpPr>
          <p:nvPr/>
        </p:nvCxnSpPr>
        <p:spPr>
          <a:xfrm>
            <a:off x="838200" y="1413933"/>
            <a:ext cx="1312333"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4" name="スライド番号プレースホルダー 3">
            <a:extLst>
              <a:ext uri="{FF2B5EF4-FFF2-40B4-BE49-F238E27FC236}">
                <a16:creationId xmlns:a16="http://schemas.microsoft.com/office/drawing/2014/main" id="{0ECA993A-CC50-DF43-FDAE-6EB214F9E121}"/>
              </a:ext>
            </a:extLst>
          </p:cNvPr>
          <p:cNvSpPr>
            <a:spLocks noGrp="1"/>
          </p:cNvSpPr>
          <p:nvPr>
            <p:ph type="sldNum" sz="quarter" idx="12"/>
          </p:nvPr>
        </p:nvSpPr>
        <p:spPr/>
        <p:txBody>
          <a:bodyPr/>
          <a:lstStyle/>
          <a:p>
            <a:fld id="{9E365578-86CB-437F-8A21-C7B14E4ACE69}" type="slidenum">
              <a:rPr kumimoji="1" lang="ja-JP" altLang="en-US" sz="2000" smtClean="0"/>
              <a:t>2</a:t>
            </a:fld>
            <a:endParaRPr kumimoji="1" lang="ja-JP" altLang="en-US" sz="2000"/>
          </a:p>
        </p:txBody>
      </p:sp>
    </p:spTree>
    <p:extLst>
      <p:ext uri="{BB962C8B-B14F-4D97-AF65-F5344CB8AC3E}">
        <p14:creationId xmlns:p14="http://schemas.microsoft.com/office/powerpoint/2010/main" val="11202056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940B-4F5E-827B-4490-81D9CEBC09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0CF689-A59E-115F-F250-F6D35C3FA19C}"/>
              </a:ext>
            </a:extLst>
          </p:cNvPr>
          <p:cNvSpPr>
            <a:spLocks noGrp="1"/>
          </p:cNvSpPr>
          <p:nvPr>
            <p:ph type="title"/>
          </p:nvPr>
        </p:nvSpPr>
        <p:spPr/>
        <p:txBody>
          <a:bodyPr/>
          <a:lstStyle/>
          <a:p>
            <a:r>
              <a:rPr lang="ja-JP" altLang="en-US">
                <a:latin typeface="HGS創英角ｺﾞｼｯｸUB" panose="020B0900000000000000" pitchFamily="50" charset="-128"/>
                <a:ea typeface="HGS創英角ｺﾞｼｯｸUB" panose="020B0900000000000000" pitchFamily="50" charset="-128"/>
              </a:rPr>
              <a:t>目的</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347B451C-4D3E-097B-EEC8-91EC86395688}"/>
              </a:ext>
            </a:extLst>
          </p:cNvPr>
          <p:cNvSpPr>
            <a:spLocks noGrp="1"/>
          </p:cNvSpPr>
          <p:nvPr>
            <p:ph idx="1"/>
          </p:nvPr>
        </p:nvSpPr>
        <p:spPr>
          <a:xfrm>
            <a:off x="838200" y="1825625"/>
            <a:ext cx="10515600" cy="1772708"/>
          </a:xfrm>
        </p:spPr>
        <p:txBody>
          <a:bodyPr/>
          <a:lstStyle/>
          <a:p>
            <a:r>
              <a:rPr lang="ja-JP" altLang="en-US">
                <a:latin typeface="HGS創英角ｺﾞｼｯｸUB" panose="020B0900000000000000" pitchFamily="50" charset="-128"/>
                <a:ea typeface="HGS創英角ｺﾞｼｯｸUB" panose="020B0900000000000000" pitchFamily="50" charset="-128"/>
              </a:rPr>
              <a:t>構築法や改善法を用いて経路を</a:t>
            </a:r>
            <a:r>
              <a:rPr lang="ja-JP" altLang="en-US">
                <a:solidFill>
                  <a:srgbClr val="FF0000"/>
                </a:solidFill>
                <a:latin typeface="HGS創英角ｺﾞｼｯｸUB" panose="020B0900000000000000" pitchFamily="50" charset="-128"/>
                <a:ea typeface="HGS創英角ｺﾞｼｯｸUB" panose="020B0900000000000000" pitchFamily="50" charset="-128"/>
              </a:rPr>
              <a:t>構築改善する方法</a:t>
            </a:r>
            <a:r>
              <a:rPr lang="ja-JP" altLang="en-US">
                <a:latin typeface="HGS創英角ｺﾞｼｯｸUB" panose="020B0900000000000000" pitchFamily="50" charset="-128"/>
                <a:ea typeface="HGS創英角ｺﾞｼｯｸUB" panose="020B0900000000000000" pitchFamily="50" charset="-128"/>
              </a:rPr>
              <a:t>を習得する</a:t>
            </a:r>
            <a:endParaRPr lang="en-US" altLang="ja-JP">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計算時間から各アルゴリズムを比較する</a:t>
            </a:r>
            <a:endParaRPr lang="en-US" altLang="ja-JP">
              <a:latin typeface="HGS創英角ｺﾞｼｯｸUB" panose="020B0900000000000000" pitchFamily="50" charset="-128"/>
              <a:ea typeface="HGS創英角ｺﾞｼｯｸUB" panose="020B0900000000000000" pitchFamily="50" charset="-128"/>
            </a:endParaRPr>
          </a:p>
          <a:p>
            <a:r>
              <a:rPr kumimoji="1" lang="en-US" altLang="ja-JP">
                <a:latin typeface="HGS創英角ｺﾞｼｯｸUB" panose="020B0900000000000000" pitchFamily="50" charset="-128"/>
                <a:ea typeface="HGS創英角ｺﾞｼｯｸUB" panose="020B0900000000000000" pitchFamily="50" charset="-128"/>
              </a:rPr>
              <a:t>Python</a:t>
            </a:r>
            <a:r>
              <a:rPr kumimoji="1" lang="ja-JP" altLang="en-US">
                <a:latin typeface="HGS創英角ｺﾞｼｯｸUB" panose="020B0900000000000000" pitchFamily="50" charset="-128"/>
                <a:ea typeface="HGS創英角ｺﾞｼｯｸUB" panose="020B0900000000000000" pitchFamily="50" charset="-128"/>
              </a:rPr>
              <a:t>を用いて各手法を実装する</a:t>
            </a:r>
            <a:endParaRPr kumimoji="1" lang="en-US" altLang="ja-JP">
              <a:latin typeface="HGS創英角ｺﾞｼｯｸUB" panose="020B0900000000000000" pitchFamily="50" charset="-128"/>
              <a:ea typeface="HGS創英角ｺﾞｼｯｸUB" panose="020B0900000000000000" pitchFamily="50" charset="-128"/>
            </a:endParaRPr>
          </a:p>
        </p:txBody>
      </p:sp>
      <p:pic>
        <p:nvPicPr>
          <p:cNvPr id="6" name="図 5" descr="グラフィカル ユーザー インターフェイス&#10;&#10;AI によって生成されたコンテンツは間違っている可能性があります。">
            <a:extLst>
              <a:ext uri="{FF2B5EF4-FFF2-40B4-BE49-F238E27FC236}">
                <a16:creationId xmlns:a16="http://schemas.microsoft.com/office/drawing/2014/main" id="{B356C37A-845A-FE10-C899-C5047C1F81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30735" y="3351741"/>
            <a:ext cx="3193493" cy="2447567"/>
          </a:xfrm>
          <a:prstGeom prst="rect">
            <a:avLst/>
          </a:prstGeom>
        </p:spPr>
      </p:pic>
      <p:cxnSp>
        <p:nvCxnSpPr>
          <p:cNvPr id="7" name="直線コネクタ 6">
            <a:extLst>
              <a:ext uri="{FF2B5EF4-FFF2-40B4-BE49-F238E27FC236}">
                <a16:creationId xmlns:a16="http://schemas.microsoft.com/office/drawing/2014/main" id="{854D9E8F-C4E6-C9B5-603F-2233F7224404}"/>
              </a:ext>
            </a:extLst>
          </p:cNvPr>
          <p:cNvCxnSpPr>
            <a:cxnSpLocks/>
          </p:cNvCxnSpPr>
          <p:nvPr/>
        </p:nvCxnSpPr>
        <p:spPr>
          <a:xfrm>
            <a:off x="838200" y="1413933"/>
            <a:ext cx="1312333"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4" name="スライド番号プレースホルダー 3">
            <a:extLst>
              <a:ext uri="{FF2B5EF4-FFF2-40B4-BE49-F238E27FC236}">
                <a16:creationId xmlns:a16="http://schemas.microsoft.com/office/drawing/2014/main" id="{E24C442A-A68B-FF66-82C3-E4095D7551EA}"/>
              </a:ext>
            </a:extLst>
          </p:cNvPr>
          <p:cNvSpPr>
            <a:spLocks noGrp="1"/>
          </p:cNvSpPr>
          <p:nvPr>
            <p:ph type="sldNum" sz="quarter" idx="12"/>
          </p:nvPr>
        </p:nvSpPr>
        <p:spPr/>
        <p:txBody>
          <a:bodyPr/>
          <a:lstStyle/>
          <a:p>
            <a:fld id="{9E365578-86CB-437F-8A21-C7B14E4ACE69}" type="slidenum">
              <a:rPr kumimoji="1" lang="ja-JP" altLang="en-US" sz="2000" smtClean="0"/>
              <a:t>3</a:t>
            </a:fld>
            <a:endParaRPr kumimoji="1" lang="ja-JP" altLang="en-US" sz="2000"/>
          </a:p>
        </p:txBody>
      </p:sp>
    </p:spTree>
    <p:extLst>
      <p:ext uri="{BB962C8B-B14F-4D97-AF65-F5344CB8AC3E}">
        <p14:creationId xmlns:p14="http://schemas.microsoft.com/office/powerpoint/2010/main" val="808066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A8EA11-139D-1A40-BD80-B478E2022F0E}"/>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巡回セールスマン問題とは</a:t>
            </a:r>
          </a:p>
        </p:txBody>
      </p:sp>
      <p:sp>
        <p:nvSpPr>
          <p:cNvPr id="3" name="コンテンツ プレースホルダー 2">
            <a:extLst>
              <a:ext uri="{FF2B5EF4-FFF2-40B4-BE49-F238E27FC236}">
                <a16:creationId xmlns:a16="http://schemas.microsoft.com/office/drawing/2014/main" id="{304BD24C-ADA4-3AC7-52D7-9584240B1B6B}"/>
              </a:ext>
            </a:extLst>
          </p:cNvPr>
          <p:cNvSpPr>
            <a:spLocks noGrp="1"/>
          </p:cNvSpPr>
          <p:nvPr>
            <p:ph idx="1"/>
          </p:nvPr>
        </p:nvSpPr>
        <p:spPr/>
        <p:txBody>
          <a:bodyPr>
            <a:normAutofit/>
          </a:bodyPr>
          <a:lstStyle/>
          <a:p>
            <a:r>
              <a:rPr lang="ja-JP" altLang="en-US" b="1">
                <a:latin typeface="HGS創英角ｺﾞｼｯｸUB" panose="020B0900000000000000" pitchFamily="50" charset="-128"/>
                <a:ea typeface="HGS創英角ｺﾞｼｯｸUB" panose="020B0900000000000000" pitchFamily="50" charset="-128"/>
              </a:rPr>
              <a:t>概要</a:t>
            </a:r>
            <a:endParaRPr lang="en-US" altLang="ja-JP" b="1">
              <a:latin typeface="HGS創英角ｺﾞｼｯｸUB" panose="020B0900000000000000" pitchFamily="50" charset="-128"/>
              <a:ea typeface="HGS創英角ｺﾞｼｯｸUB" panose="020B0900000000000000" pitchFamily="50" charset="-128"/>
            </a:endParaRPr>
          </a:p>
          <a:p>
            <a:pPr marL="0" indent="0">
              <a:buNone/>
            </a:pPr>
            <a:r>
              <a:rPr lang="ja-JP" altLang="en-US" b="1">
                <a:latin typeface="HGS創英角ｺﾞｼｯｸUB" panose="020B0900000000000000" pitchFamily="50" charset="-128"/>
                <a:ea typeface="HGS創英角ｺﾞｼｯｸUB" panose="020B0900000000000000" pitchFamily="50" charset="-128"/>
              </a:rPr>
              <a:t>　</a:t>
            </a:r>
            <a:r>
              <a:rPr lang="ja-JP" altLang="en-US">
                <a:latin typeface="HGS創英角ｺﾞｼｯｸUB" panose="020B0900000000000000" pitchFamily="50" charset="-128"/>
                <a:ea typeface="HGS創英角ｺﾞｼｯｸUB" panose="020B0900000000000000" pitchFamily="50" charset="-128"/>
              </a:rPr>
              <a:t>ある都市から出発し、</a:t>
            </a:r>
            <a:br>
              <a:rPr lang="en-US" altLang="ja-JP">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　他のすべての都市を</a:t>
            </a:r>
            <a:r>
              <a:rPr lang="en-US" altLang="ja-JP">
                <a:latin typeface="HGS創英角ｺﾞｼｯｸUB" panose="020B0900000000000000" pitchFamily="50" charset="-128"/>
                <a:ea typeface="HGS創英角ｺﾞｼｯｸUB" panose="020B0900000000000000" pitchFamily="50" charset="-128"/>
              </a:rPr>
              <a:t>1</a:t>
            </a:r>
            <a:r>
              <a:rPr lang="ja-JP" altLang="en-US">
                <a:latin typeface="HGS創英角ｺﾞｼｯｸUB" panose="020B0900000000000000" pitchFamily="50" charset="-128"/>
                <a:ea typeface="HGS創英角ｺﾞｼｯｸUB" panose="020B0900000000000000" pitchFamily="50" charset="-128"/>
              </a:rPr>
              <a:t>度ずつ訪れ、</a:t>
            </a:r>
            <a:br>
              <a:rPr lang="en-US" altLang="ja-JP">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　出発地点に戻る</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endParaRPr lang="en-US" altLang="ja-JP">
              <a:latin typeface="HGS創英角ｺﾞｼｯｸUB" panose="020B0900000000000000" pitchFamily="50" charset="-128"/>
              <a:ea typeface="HGS創英角ｺﾞｼｯｸUB" panose="020B0900000000000000" pitchFamily="50" charset="-128"/>
            </a:endParaRPr>
          </a:p>
          <a:p>
            <a:r>
              <a:rPr lang="ja-JP" altLang="en-US" b="1">
                <a:latin typeface="HGS創英角ｺﾞｼｯｸUB" panose="020B0900000000000000" pitchFamily="50" charset="-128"/>
                <a:ea typeface="HGS創英角ｺﾞｼｯｸUB" panose="020B0900000000000000" pitchFamily="50" charset="-128"/>
              </a:rPr>
              <a:t>目的</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　総移動距離が</a:t>
            </a:r>
            <a:r>
              <a:rPr lang="ja-JP" altLang="en-US">
                <a:solidFill>
                  <a:srgbClr val="FF0000"/>
                </a:solidFill>
                <a:latin typeface="HGS創英角ｺﾞｼｯｸUB" panose="020B0900000000000000" pitchFamily="50" charset="-128"/>
                <a:ea typeface="HGS創英角ｺﾞｼｯｸUB" panose="020B0900000000000000" pitchFamily="50" charset="-128"/>
              </a:rPr>
              <a:t>最小</a:t>
            </a:r>
            <a:r>
              <a:rPr lang="ja-JP" altLang="en-US">
                <a:latin typeface="HGS創英角ｺﾞｼｯｸUB" panose="020B0900000000000000" pitchFamily="50" charset="-128"/>
                <a:ea typeface="HGS創英角ｺﾞｼｯｸUB" panose="020B0900000000000000" pitchFamily="50" charset="-128"/>
              </a:rPr>
              <a:t>となる</a:t>
            </a:r>
            <a:br>
              <a:rPr lang="en-US" altLang="ja-JP">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　巡回路を見つけること</a:t>
            </a:r>
            <a:endParaRPr kumimoji="1" lang="ja-JP" altLang="en-US">
              <a:latin typeface="HGS創英角ｺﾞｼｯｸUB" panose="020B0900000000000000" pitchFamily="50" charset="-128"/>
              <a:ea typeface="HGS創英角ｺﾞｼｯｸUB" panose="020B0900000000000000" pitchFamily="50" charset="-128"/>
            </a:endParaRPr>
          </a:p>
        </p:txBody>
      </p:sp>
      <p:grpSp>
        <p:nvGrpSpPr>
          <p:cNvPr id="17" name="グループ化 16">
            <a:extLst>
              <a:ext uri="{FF2B5EF4-FFF2-40B4-BE49-F238E27FC236}">
                <a16:creationId xmlns:a16="http://schemas.microsoft.com/office/drawing/2014/main" id="{0FB9938D-1AC3-B284-1A8E-823B77EF31D6}"/>
              </a:ext>
            </a:extLst>
          </p:cNvPr>
          <p:cNvGrpSpPr/>
          <p:nvPr/>
        </p:nvGrpSpPr>
        <p:grpSpPr>
          <a:xfrm>
            <a:off x="7087584" y="3023924"/>
            <a:ext cx="4342416" cy="2574848"/>
            <a:chOff x="7084358" y="3018633"/>
            <a:chExt cx="4342416" cy="2574848"/>
          </a:xfrm>
        </p:grpSpPr>
        <p:pic>
          <p:nvPicPr>
            <p:cNvPr id="5" name="図 4" descr="アイコン&#10;&#10;AI によって生成されたコンテンツは間違っている可能性があります。">
              <a:extLst>
                <a:ext uri="{FF2B5EF4-FFF2-40B4-BE49-F238E27FC236}">
                  <a16:creationId xmlns:a16="http://schemas.microsoft.com/office/drawing/2014/main" id="{8C67AF96-4C60-B4EA-F2BA-267DCBB72034}"/>
                </a:ext>
              </a:extLst>
            </p:cNvPr>
            <p:cNvPicPr>
              <a:picLocks noChangeAspect="1"/>
            </p:cNvPicPr>
            <p:nvPr/>
          </p:nvPicPr>
          <p:blipFill>
            <a:blip r:embed="rId2">
              <a:extLst>
                <a:ext uri="{28A0092B-C50C-407E-A947-70E740481C1C}">
                  <a14:useLocalDpi xmlns:a14="http://schemas.microsoft.com/office/drawing/2010/main" val="0"/>
                </a:ext>
              </a:extLst>
            </a:blip>
            <a:srcRect r="52566" b="58357"/>
            <a:stretch/>
          </p:blipFill>
          <p:spPr>
            <a:xfrm>
              <a:off x="7084358" y="3063319"/>
              <a:ext cx="1366038" cy="953100"/>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1C5F04F9-3706-7C69-CBEC-3C6BF9994993}"/>
                </a:ext>
              </a:extLst>
            </p:cNvPr>
            <p:cNvPicPr>
              <a:picLocks noChangeAspect="1"/>
            </p:cNvPicPr>
            <p:nvPr/>
          </p:nvPicPr>
          <p:blipFill>
            <a:blip r:embed="rId2">
              <a:extLst>
                <a:ext uri="{28A0092B-C50C-407E-A947-70E740481C1C}">
                  <a14:useLocalDpi xmlns:a14="http://schemas.microsoft.com/office/drawing/2010/main" val="0"/>
                </a:ext>
              </a:extLst>
            </a:blip>
            <a:srcRect l="-1646" t="67062" r="54212" b="-8705"/>
            <a:stretch/>
          </p:blipFill>
          <p:spPr>
            <a:xfrm>
              <a:off x="7730748" y="4640381"/>
              <a:ext cx="1366038" cy="953100"/>
            </a:xfrm>
            <a:prstGeom prst="rect">
              <a:avLst/>
            </a:prstGeom>
          </p:spPr>
        </p:pic>
        <p:pic>
          <p:nvPicPr>
            <p:cNvPr id="10" name="図 9" descr="アイコン, 矢印&#10;&#10;AI によって生成されたコンテンツは間違っている可能性があります。">
              <a:extLst>
                <a:ext uri="{FF2B5EF4-FFF2-40B4-BE49-F238E27FC236}">
                  <a16:creationId xmlns:a16="http://schemas.microsoft.com/office/drawing/2014/main" id="{F2120836-E424-B896-0109-37733BC8DD53}"/>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14773162">
              <a:off x="7815051" y="3932416"/>
              <a:ext cx="539776" cy="560880"/>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FD2A9041-1225-AD79-6422-8243D20D3845}"/>
                </a:ext>
              </a:extLst>
            </p:cNvPr>
            <p:cNvPicPr>
              <a:picLocks noChangeAspect="1"/>
            </p:cNvPicPr>
            <p:nvPr/>
          </p:nvPicPr>
          <p:blipFill>
            <a:blip r:embed="rId2">
              <a:extLst>
                <a:ext uri="{28A0092B-C50C-407E-A947-70E740481C1C}">
                  <a14:useLocalDpi xmlns:a14="http://schemas.microsoft.com/office/drawing/2010/main" val="0"/>
                </a:ext>
              </a:extLst>
            </a:blip>
            <a:srcRect l="55413" t="-1824" r="-2847" b="60181"/>
            <a:stretch/>
          </p:blipFill>
          <p:spPr>
            <a:xfrm>
              <a:off x="9137723" y="3018633"/>
              <a:ext cx="1366038" cy="953100"/>
            </a:xfrm>
            <a:prstGeom prst="rect">
              <a:avLst/>
            </a:prstGeom>
          </p:spPr>
        </p:pic>
        <p:pic>
          <p:nvPicPr>
            <p:cNvPr id="13" name="図 12" descr="アイコン&#10;&#10;AI によって生成されたコンテンツは間違っている可能性があります。">
              <a:extLst>
                <a:ext uri="{FF2B5EF4-FFF2-40B4-BE49-F238E27FC236}">
                  <a16:creationId xmlns:a16="http://schemas.microsoft.com/office/drawing/2014/main" id="{8E500FB5-3607-F812-4C53-37787E26E731}"/>
                </a:ext>
              </a:extLst>
            </p:cNvPr>
            <p:cNvPicPr>
              <a:picLocks noChangeAspect="1"/>
            </p:cNvPicPr>
            <p:nvPr/>
          </p:nvPicPr>
          <p:blipFill>
            <a:blip r:embed="rId2">
              <a:extLst>
                <a:ext uri="{28A0092B-C50C-407E-A947-70E740481C1C}">
                  <a14:useLocalDpi xmlns:a14="http://schemas.microsoft.com/office/drawing/2010/main" val="0"/>
                </a:ext>
              </a:extLst>
            </a:blip>
            <a:srcRect l="54274" t="64613" r="-1708" b="-6256"/>
            <a:stretch/>
          </p:blipFill>
          <p:spPr>
            <a:xfrm>
              <a:off x="10060736" y="4302923"/>
              <a:ext cx="1366038" cy="953100"/>
            </a:xfrm>
            <a:prstGeom prst="rect">
              <a:avLst/>
            </a:prstGeom>
          </p:spPr>
        </p:pic>
        <p:pic>
          <p:nvPicPr>
            <p:cNvPr id="14" name="図 13" descr="アイコン, 矢印&#10;&#10;AI によって生成されたコンテンツは間違っている可能性があります。">
              <a:extLst>
                <a:ext uri="{FF2B5EF4-FFF2-40B4-BE49-F238E27FC236}">
                  <a16:creationId xmlns:a16="http://schemas.microsoft.com/office/drawing/2014/main" id="{056FE4F6-117B-316A-9134-EEA8F73A3356}"/>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a:off x="8530975" y="3410853"/>
              <a:ext cx="539776" cy="560880"/>
            </a:xfrm>
            <a:prstGeom prst="rect">
              <a:avLst/>
            </a:prstGeom>
          </p:spPr>
        </p:pic>
        <p:pic>
          <p:nvPicPr>
            <p:cNvPr id="15" name="図 14" descr="アイコン, 矢印&#10;&#10;AI によって生成されたコンテンツは間違っている可能性があります。">
              <a:extLst>
                <a:ext uri="{FF2B5EF4-FFF2-40B4-BE49-F238E27FC236}">
                  <a16:creationId xmlns:a16="http://schemas.microsoft.com/office/drawing/2014/main" id="{96C0ACBF-EC05-41C0-AA78-7C7CCDD11FE1}"/>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3588459">
              <a:off x="10033077" y="3985631"/>
              <a:ext cx="539776" cy="560880"/>
            </a:xfrm>
            <a:prstGeom prst="rect">
              <a:avLst/>
            </a:prstGeom>
          </p:spPr>
        </p:pic>
        <p:pic>
          <p:nvPicPr>
            <p:cNvPr id="16" name="図 15" descr="アイコン, 矢印&#10;&#10;AI によって生成されたコンテンツは間違っている可能性があります。">
              <a:extLst>
                <a:ext uri="{FF2B5EF4-FFF2-40B4-BE49-F238E27FC236}">
                  <a16:creationId xmlns:a16="http://schemas.microsoft.com/office/drawing/2014/main" id="{F41960B8-7AFB-03FE-61F6-3FC901262A7B}"/>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10260526">
              <a:off x="9240453" y="4703335"/>
              <a:ext cx="539776" cy="560880"/>
            </a:xfrm>
            <a:prstGeom prst="rect">
              <a:avLst/>
            </a:prstGeom>
          </p:spPr>
        </p:pic>
      </p:grpSp>
      <p:cxnSp>
        <p:nvCxnSpPr>
          <p:cNvPr id="21" name="直線コネクタ 20">
            <a:extLst>
              <a:ext uri="{FF2B5EF4-FFF2-40B4-BE49-F238E27FC236}">
                <a16:creationId xmlns:a16="http://schemas.microsoft.com/office/drawing/2014/main" id="{C375B8D8-96B0-C7EE-AC65-57A76661153A}"/>
              </a:ext>
            </a:extLst>
          </p:cNvPr>
          <p:cNvCxnSpPr>
            <a:cxnSpLocks/>
          </p:cNvCxnSpPr>
          <p:nvPr/>
        </p:nvCxnSpPr>
        <p:spPr>
          <a:xfrm>
            <a:off x="838200" y="1413933"/>
            <a:ext cx="6884506"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24" name="タイトル 1">
            <a:extLst>
              <a:ext uri="{FF2B5EF4-FFF2-40B4-BE49-F238E27FC236}">
                <a16:creationId xmlns:a16="http://schemas.microsoft.com/office/drawing/2014/main" id="{38031B53-61FD-E670-6FF8-A7752B091E0C}"/>
              </a:ext>
            </a:extLst>
          </p:cNvPr>
          <p:cNvSpPr txBox="1">
            <a:spLocks/>
          </p:cNvSpPr>
          <p:nvPr/>
        </p:nvSpPr>
        <p:spPr>
          <a:xfrm>
            <a:off x="5477932" y="1380068"/>
            <a:ext cx="6028267" cy="4630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400">
                <a:latin typeface="HGS創英角ｺﾞｼｯｸUB" panose="020B0900000000000000" pitchFamily="50" charset="-128"/>
                <a:ea typeface="HGS創英角ｺﾞｼｯｸUB" panose="020B0900000000000000" pitchFamily="50" charset="-128"/>
              </a:rPr>
              <a:t>取り上げる問題</a:t>
            </a:r>
          </a:p>
        </p:txBody>
      </p:sp>
      <p:sp>
        <p:nvSpPr>
          <p:cNvPr id="4" name="スライド番号プレースホルダー 3">
            <a:extLst>
              <a:ext uri="{FF2B5EF4-FFF2-40B4-BE49-F238E27FC236}">
                <a16:creationId xmlns:a16="http://schemas.microsoft.com/office/drawing/2014/main" id="{559AC170-F867-7516-1E9E-17F4A247FB38}"/>
              </a:ext>
            </a:extLst>
          </p:cNvPr>
          <p:cNvSpPr>
            <a:spLocks noGrp="1"/>
          </p:cNvSpPr>
          <p:nvPr>
            <p:ph type="sldNum" sz="quarter" idx="12"/>
          </p:nvPr>
        </p:nvSpPr>
        <p:spPr/>
        <p:txBody>
          <a:bodyPr/>
          <a:lstStyle/>
          <a:p>
            <a:fld id="{9E365578-86CB-437F-8A21-C7B14E4ACE69}" type="slidenum">
              <a:rPr kumimoji="1" lang="ja-JP" altLang="en-US" sz="2000" smtClean="0"/>
              <a:t>4</a:t>
            </a:fld>
            <a:endParaRPr kumimoji="1" lang="ja-JP" altLang="en-US" sz="2000"/>
          </a:p>
        </p:txBody>
      </p:sp>
    </p:spTree>
    <p:extLst>
      <p:ext uri="{BB962C8B-B14F-4D97-AF65-F5344CB8AC3E}">
        <p14:creationId xmlns:p14="http://schemas.microsoft.com/office/powerpoint/2010/main" val="24800372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D2CC-5B88-C34D-9E09-E07492A9BD79}"/>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1F61BAB8-2684-BA69-1869-FD9C0043B845}"/>
              </a:ext>
            </a:extLst>
          </p:cNvPr>
          <p:cNvSpPr>
            <a:spLocks noGrp="1"/>
          </p:cNvSpPr>
          <p:nvPr>
            <p:ph idx="1"/>
          </p:nvPr>
        </p:nvSpPr>
        <p:spPr>
          <a:xfrm>
            <a:off x="838200" y="2046727"/>
            <a:ext cx="9973734" cy="4379913"/>
          </a:xfrm>
        </p:spPr>
        <p:txBody>
          <a:bodyPr vert="horz" lIns="91440" tIns="45720" rIns="91440" bIns="45720" rtlCol="0" anchor="t">
            <a:normAutofit/>
          </a:bodyPr>
          <a:lstStyle/>
          <a:p>
            <a:pPr marL="0" indent="0">
              <a:buNone/>
            </a:pPr>
            <a:r>
              <a:rPr lang="ja-JP" altLang="en-US">
                <a:solidFill>
                  <a:srgbClr val="171923"/>
                </a:solidFill>
                <a:latin typeface="HGS創英角ｺﾞｼｯｸUB" panose="020B0900000000000000" pitchFamily="50" charset="-128"/>
                <a:ea typeface="HGS創英角ｺﾞｼｯｸUB" panose="020B0900000000000000" pitchFamily="50" charset="-128"/>
                <a:cs typeface="Calibri"/>
              </a:rPr>
              <a:t>都市数が増えると計算量が膨大に</a:t>
            </a:r>
            <a:endParaRPr lang="en-US" altLang="ja-JP">
              <a:solidFill>
                <a:srgbClr val="171923"/>
              </a:solidFill>
              <a:latin typeface="HGS創英角ｺﾞｼｯｸUB" panose="020B0900000000000000" pitchFamily="50" charset="-128"/>
              <a:ea typeface="HGS創英角ｺﾞｼｯｸUB" panose="020B0900000000000000" pitchFamily="50" charset="-128"/>
              <a:cs typeface="Calibri"/>
            </a:endParaRPr>
          </a:p>
          <a:p>
            <a:pPr marL="0" indent="0">
              <a:buNone/>
            </a:pPr>
            <a:endParaRPr lang="en-US" altLang="ja-JP">
              <a:solidFill>
                <a:srgbClr val="171923"/>
              </a:solidFill>
              <a:latin typeface="HGS創英角ｺﾞｼｯｸUB" panose="020B0900000000000000" pitchFamily="50" charset="-128"/>
              <a:ea typeface="HGS創英角ｺﾞｼｯｸUB" panose="020B0900000000000000" pitchFamily="50" charset="-128"/>
              <a:cs typeface="Calibri"/>
            </a:endParaRPr>
          </a:p>
          <a:p>
            <a:pPr marL="0" indent="0">
              <a:buNone/>
            </a:pPr>
            <a:endParaRPr lang="en-US" altLang="ja-JP" sz="1800">
              <a:solidFill>
                <a:srgbClr val="171923"/>
              </a:solidFill>
              <a:latin typeface="HGS創英角ｺﾞｼｯｸUB" panose="020B0900000000000000" pitchFamily="50" charset="-128"/>
              <a:ea typeface="HGS創英角ｺﾞｼｯｸUB" panose="020B0900000000000000" pitchFamily="50" charset="-128"/>
              <a:cs typeface="Calibri"/>
            </a:endParaRPr>
          </a:p>
          <a:p>
            <a:pPr marL="0" indent="0">
              <a:buNone/>
            </a:pPr>
            <a:r>
              <a:rPr lang="ja-JP" altLang="en-US">
                <a:solidFill>
                  <a:srgbClr val="171923"/>
                </a:solidFill>
                <a:latin typeface="HGS創英角ｺﾞｼｯｸUB" panose="020B0900000000000000" pitchFamily="50" charset="-128"/>
                <a:ea typeface="HGS創英角ｺﾞｼｯｸUB" panose="020B0900000000000000" pitchFamily="50" charset="-128"/>
                <a:cs typeface="Calibri"/>
              </a:rPr>
              <a:t>今のコンピューターでは最小値を求めることが不可能</a:t>
            </a:r>
            <a:endParaRPr lang="en-US" altLang="ja-JP">
              <a:solidFill>
                <a:srgbClr val="171923"/>
              </a:solidFill>
              <a:latin typeface="HGS創英角ｺﾞｼｯｸUB" panose="020B0900000000000000" pitchFamily="50" charset="-128"/>
              <a:ea typeface="HGS創英角ｺﾞｼｯｸUB" panose="020B0900000000000000" pitchFamily="50" charset="-128"/>
              <a:cs typeface="Calibri"/>
            </a:endParaRPr>
          </a:p>
          <a:p>
            <a:pPr marL="0" indent="0">
              <a:buNone/>
            </a:pPr>
            <a:endParaRPr lang="en-US" altLang="ja-JP" sz="1600">
              <a:solidFill>
                <a:srgbClr val="171923"/>
              </a:solidFill>
              <a:latin typeface="HGS創英角ｺﾞｼｯｸUB" panose="020B0900000000000000" pitchFamily="50" charset="-128"/>
              <a:ea typeface="HGS創英角ｺﾞｼｯｸUB" panose="020B0900000000000000" pitchFamily="50" charset="-128"/>
              <a:cs typeface="Calibri"/>
            </a:endParaRPr>
          </a:p>
          <a:p>
            <a:pPr marL="0" indent="0">
              <a:buNone/>
            </a:pPr>
            <a:r>
              <a:rPr lang="ja-JP" altLang="en-US" sz="4000">
                <a:solidFill>
                  <a:srgbClr val="FF0000"/>
                </a:solidFill>
                <a:latin typeface="HGS創英角ｺﾞｼｯｸUB" panose="020B0900000000000000" pitchFamily="50" charset="-128"/>
                <a:ea typeface="HGS創英角ｺﾞｼｯｸUB" panose="020B0900000000000000" pitchFamily="50" charset="-128"/>
                <a:cs typeface="Calibri"/>
              </a:rPr>
              <a:t>＝「</a:t>
            </a:r>
            <a:r>
              <a:rPr lang="en-US" altLang="ja-JP" sz="4000">
                <a:solidFill>
                  <a:srgbClr val="FF0000"/>
                </a:solidFill>
                <a:latin typeface="HGS創英角ｺﾞｼｯｸUB" panose="020B0900000000000000" pitchFamily="50" charset="-128"/>
                <a:ea typeface="HGS創英角ｺﾞｼｯｸUB" panose="020B0900000000000000" pitchFamily="50" charset="-128"/>
                <a:cs typeface="Calibri"/>
              </a:rPr>
              <a:t>NP</a:t>
            </a:r>
            <a:r>
              <a:rPr lang="ja-JP" altLang="en-US" sz="4000">
                <a:solidFill>
                  <a:srgbClr val="FF0000"/>
                </a:solidFill>
                <a:latin typeface="HGS創英角ｺﾞｼｯｸUB" panose="020B0900000000000000" pitchFamily="50" charset="-128"/>
                <a:ea typeface="HGS創英角ｺﾞｼｯｸUB" panose="020B0900000000000000" pitchFamily="50" charset="-128"/>
                <a:cs typeface="Calibri"/>
              </a:rPr>
              <a:t>困難」</a:t>
            </a:r>
            <a:endParaRPr lang="en-US" altLang="ja-JP" sz="4000">
              <a:solidFill>
                <a:srgbClr val="FF0000"/>
              </a:solidFill>
              <a:latin typeface="HGS創英角ｺﾞｼｯｸUB" panose="020B0900000000000000" pitchFamily="50" charset="-128"/>
              <a:ea typeface="HGS創英角ｺﾞｼｯｸUB" panose="020B0900000000000000" pitchFamily="50" charset="-128"/>
              <a:cs typeface="Calibri"/>
            </a:endParaRPr>
          </a:p>
          <a:p>
            <a:pPr marL="0" indent="0">
              <a:buNone/>
            </a:pPr>
            <a:endParaRPr lang="en-US" altLang="ja-JP" sz="1200">
              <a:solidFill>
                <a:srgbClr val="FF0000"/>
              </a:solidFill>
              <a:latin typeface="HGS創英角ｺﾞｼｯｸUB" panose="020B0900000000000000" pitchFamily="50" charset="-128"/>
              <a:ea typeface="HGS創英角ｺﾞｼｯｸUB" panose="020B0900000000000000" pitchFamily="50" charset="-128"/>
              <a:cs typeface="Calibri"/>
            </a:endParaRPr>
          </a:p>
          <a:p>
            <a:pPr marL="0" indent="0">
              <a:buNone/>
            </a:pPr>
            <a:r>
              <a:rPr lang="ja-JP" altLang="en-US" sz="2600">
                <a:latin typeface="HGS創英角ｺﾞｼｯｸUB" panose="020B0900000000000000" pitchFamily="50" charset="-128"/>
                <a:ea typeface="HGS創英角ｺﾞｼｯｸUB" panose="020B0900000000000000" pitchFamily="50" charset="-128"/>
                <a:cs typeface="Calibri"/>
              </a:rPr>
              <a:t>まずは一つのルートを作りそれを最適化をしていく</a:t>
            </a:r>
            <a:endParaRPr lang="ja-JP" sz="2600">
              <a:latin typeface="HGS創英角ｺﾞｼｯｸUB" panose="020B0900000000000000" pitchFamily="50" charset="-128"/>
              <a:ea typeface="HGS創英角ｺﾞｼｯｸUB" panose="020B0900000000000000" pitchFamily="50" charset="-128"/>
              <a:cs typeface="Calibri"/>
            </a:endParaRPr>
          </a:p>
        </p:txBody>
      </p:sp>
      <p:pic>
        <p:nvPicPr>
          <p:cNvPr id="4" name="図 3" descr="アイコン, 矢印&#10;&#10;AI によって生成されたコンテンツは間違っている可能性があります。">
            <a:extLst>
              <a:ext uri="{FF2B5EF4-FFF2-40B4-BE49-F238E27FC236}">
                <a16:creationId xmlns:a16="http://schemas.microsoft.com/office/drawing/2014/main" id="{F19E7413-892A-2679-342E-25B592D42A47}"/>
              </a:ext>
            </a:extLst>
          </p:cNvPr>
          <p:cNvPicPr>
            <a:picLocks noChangeAspect="1"/>
          </p:cNvPicPr>
          <p:nvPr/>
        </p:nvPicPr>
        <p:blipFill>
          <a:blip r:embed="rId2">
            <a:extLst>
              <a:ext uri="{28A0092B-C50C-407E-A947-70E740481C1C}">
                <a14:useLocalDpi xmlns:a14="http://schemas.microsoft.com/office/drawing/2010/main" val="0"/>
              </a:ext>
            </a:extLst>
          </a:blip>
          <a:srcRect t="-2619" r="57858" b="57220"/>
          <a:stretch/>
        </p:blipFill>
        <p:spPr>
          <a:xfrm rot="5400000">
            <a:off x="2941757" y="2727389"/>
            <a:ext cx="619317" cy="643531"/>
          </a:xfrm>
          <a:prstGeom prst="rect">
            <a:avLst/>
          </a:prstGeom>
        </p:spPr>
      </p:pic>
      <p:pic>
        <p:nvPicPr>
          <p:cNvPr id="7" name="図 6">
            <a:extLst>
              <a:ext uri="{FF2B5EF4-FFF2-40B4-BE49-F238E27FC236}">
                <a16:creationId xmlns:a16="http://schemas.microsoft.com/office/drawing/2014/main" id="{44542853-FBD7-906E-0CDE-3F0A0BEB7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28724" y="549895"/>
            <a:ext cx="2413215" cy="2281586"/>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A08E4880-5750-D286-98AD-698340A2DE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28724" y="3623733"/>
            <a:ext cx="2497827" cy="2355735"/>
          </a:xfrm>
          <a:prstGeom prst="rect">
            <a:avLst/>
          </a:prstGeom>
        </p:spPr>
      </p:pic>
      <p:sp>
        <p:nvSpPr>
          <p:cNvPr id="16" name="タイトル 1">
            <a:extLst>
              <a:ext uri="{FF2B5EF4-FFF2-40B4-BE49-F238E27FC236}">
                <a16:creationId xmlns:a16="http://schemas.microsoft.com/office/drawing/2014/main" id="{C8BE5943-0EAE-4C40-C5C1-71D80A7D536C}"/>
              </a:ext>
            </a:extLst>
          </p:cNvPr>
          <p:cNvSpPr>
            <a:spLocks noGrp="1"/>
          </p:cNvSpPr>
          <p:nvPr>
            <p:ph type="title"/>
          </p:nvPr>
        </p:nvSpPr>
        <p:spPr>
          <a:xfrm>
            <a:off x="838200" y="365125"/>
            <a:ext cx="10515600" cy="1325563"/>
          </a:xfrm>
        </p:spPr>
        <p:txBody>
          <a:bodyPr/>
          <a:lstStyle/>
          <a:p>
            <a:r>
              <a:rPr kumimoji="1" lang="ja-JP" altLang="en-US">
                <a:latin typeface="HGS創英角ｺﾞｼｯｸUB" panose="020B0900000000000000" pitchFamily="50" charset="-128"/>
                <a:ea typeface="HGS創英角ｺﾞｼｯｸUB" panose="020B0900000000000000" pitchFamily="50" charset="-128"/>
              </a:rPr>
              <a:t>巡回セールスマン問題とは</a:t>
            </a:r>
          </a:p>
        </p:txBody>
      </p:sp>
      <p:cxnSp>
        <p:nvCxnSpPr>
          <p:cNvPr id="17" name="直線コネクタ 16">
            <a:extLst>
              <a:ext uri="{FF2B5EF4-FFF2-40B4-BE49-F238E27FC236}">
                <a16:creationId xmlns:a16="http://schemas.microsoft.com/office/drawing/2014/main" id="{B08CA232-1B5B-8FF2-85E8-B15CD13AE3D3}"/>
              </a:ext>
            </a:extLst>
          </p:cNvPr>
          <p:cNvCxnSpPr>
            <a:cxnSpLocks/>
          </p:cNvCxnSpPr>
          <p:nvPr/>
        </p:nvCxnSpPr>
        <p:spPr>
          <a:xfrm>
            <a:off x="838200" y="1413933"/>
            <a:ext cx="6884506"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18" name="タイトル 1">
            <a:extLst>
              <a:ext uri="{FF2B5EF4-FFF2-40B4-BE49-F238E27FC236}">
                <a16:creationId xmlns:a16="http://schemas.microsoft.com/office/drawing/2014/main" id="{9AB13A50-CE3E-588C-3122-9949452442BE}"/>
              </a:ext>
            </a:extLst>
          </p:cNvPr>
          <p:cNvSpPr txBox="1">
            <a:spLocks/>
          </p:cNvSpPr>
          <p:nvPr/>
        </p:nvSpPr>
        <p:spPr>
          <a:xfrm>
            <a:off x="5477932" y="1380068"/>
            <a:ext cx="6028267" cy="4630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400">
                <a:latin typeface="HGS創英角ｺﾞｼｯｸUB" panose="020B0900000000000000" pitchFamily="50" charset="-128"/>
                <a:ea typeface="HGS創英角ｺﾞｼｯｸUB" panose="020B0900000000000000" pitchFamily="50" charset="-128"/>
              </a:rPr>
              <a:t>取り上げる問題</a:t>
            </a:r>
          </a:p>
        </p:txBody>
      </p:sp>
      <p:sp>
        <p:nvSpPr>
          <p:cNvPr id="2" name="スライド番号プレースホルダー 1">
            <a:extLst>
              <a:ext uri="{FF2B5EF4-FFF2-40B4-BE49-F238E27FC236}">
                <a16:creationId xmlns:a16="http://schemas.microsoft.com/office/drawing/2014/main" id="{F97A666D-DD51-C4BE-3E1A-1DB783ED6857}"/>
              </a:ext>
            </a:extLst>
          </p:cNvPr>
          <p:cNvSpPr>
            <a:spLocks noGrp="1"/>
          </p:cNvSpPr>
          <p:nvPr>
            <p:ph type="sldNum" sz="quarter" idx="12"/>
          </p:nvPr>
        </p:nvSpPr>
        <p:spPr/>
        <p:txBody>
          <a:bodyPr/>
          <a:lstStyle/>
          <a:p>
            <a:fld id="{9E365578-86CB-437F-8A21-C7B14E4ACE69}" type="slidenum">
              <a:rPr kumimoji="1" lang="ja-JP" altLang="en-US" sz="2000" smtClean="0"/>
              <a:t>5</a:t>
            </a:fld>
            <a:endParaRPr kumimoji="1" lang="ja-JP" altLang="en-US" sz="2000"/>
          </a:p>
        </p:txBody>
      </p:sp>
    </p:spTree>
    <p:extLst>
      <p:ext uri="{BB962C8B-B14F-4D97-AF65-F5344CB8AC3E}">
        <p14:creationId xmlns:p14="http://schemas.microsoft.com/office/powerpoint/2010/main" val="2788614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E4FFEB0E-80AF-558B-63FD-A5455083D4A5}"/>
              </a:ext>
            </a:extLst>
          </p:cNvPr>
          <p:cNvSpPr>
            <a:spLocks noGrp="1"/>
          </p:cNvSpPr>
          <p:nvPr>
            <p:ph idx="1"/>
          </p:nvPr>
        </p:nvSpPr>
        <p:spPr/>
        <p:txBody>
          <a:bodyPr/>
          <a:lstStyle/>
          <a:p>
            <a:pPr marL="0" indent="0">
              <a:buNone/>
            </a:pPr>
            <a:r>
              <a:rPr lang="ja-JP" altLang="en-US">
                <a:latin typeface="HGS創英角ｺﾞｼｯｸUB" panose="020B0900000000000000" pitchFamily="50" charset="-128"/>
                <a:ea typeface="HGS創英角ｺﾞｼｯｸUB" panose="020B0900000000000000" pitchFamily="50" charset="-128"/>
              </a:rPr>
              <a:t>０．都市の生成</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１．最近隣法</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２．</a:t>
            </a:r>
            <a:r>
              <a:rPr lang="en-US" altLang="ja-JP">
                <a:latin typeface="HGS創英角ｺﾞｼｯｸUB" panose="020B0900000000000000" pitchFamily="50" charset="-128"/>
                <a:ea typeface="HGS創英角ｺﾞｼｯｸUB" panose="020B0900000000000000" pitchFamily="50" charset="-128"/>
              </a:rPr>
              <a:t>2-opt</a:t>
            </a:r>
            <a:r>
              <a:rPr lang="ja-JP" altLang="en-US">
                <a:latin typeface="HGS創英角ｺﾞｼｯｸUB" panose="020B0900000000000000" pitchFamily="50" charset="-128"/>
                <a:ea typeface="HGS創英角ｺﾞｼｯｸUB" panose="020B0900000000000000" pitchFamily="50" charset="-128"/>
              </a:rPr>
              <a:t>法</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３．多出発局所探索</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４．大域的最適解の探索</a:t>
            </a:r>
            <a:r>
              <a:rPr kumimoji="1" lang="ja-JP" altLang="en-US">
                <a:latin typeface="HGS創英角ｺﾞｼｯｸUB" panose="020B0900000000000000" pitchFamily="50" charset="-128"/>
                <a:ea typeface="HGS創英角ｺﾞｼｯｸUB" panose="020B0900000000000000" pitchFamily="50" charset="-128"/>
              </a:rPr>
              <a:t>法</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　　分枝限定法</a:t>
            </a:r>
            <a:endParaRPr kumimoji="1" lang="ja-JP" altLang="en-US">
              <a:latin typeface="HGS創英角ｺﾞｼｯｸUB" panose="020B0900000000000000" pitchFamily="50" charset="-128"/>
              <a:ea typeface="HGS創英角ｺﾞｼｯｸUB" panose="020B0900000000000000" pitchFamily="50" charset="-128"/>
            </a:endParaRPr>
          </a:p>
        </p:txBody>
      </p:sp>
      <p:pic>
        <p:nvPicPr>
          <p:cNvPr id="6" name="図 5" descr="ウィンドウ, 記号, 挿絵 が含まれている画像&#10;&#10;AI によって生成されたコンテンツは間違っている可能性があります。">
            <a:extLst>
              <a:ext uri="{FF2B5EF4-FFF2-40B4-BE49-F238E27FC236}">
                <a16:creationId xmlns:a16="http://schemas.microsoft.com/office/drawing/2014/main" id="{CEF10CF1-F39E-825C-03C5-32F5CDE01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9564" y="2977618"/>
            <a:ext cx="1894236" cy="2522306"/>
          </a:xfrm>
          <a:prstGeom prst="rect">
            <a:avLst/>
          </a:prstGeom>
        </p:spPr>
      </p:pic>
      <p:pic>
        <p:nvPicPr>
          <p:cNvPr id="9" name="図 8" descr="アイコン, 矢印&#10;&#10;AI によって生成されたコンテンツは間違っている可能性があります。">
            <a:extLst>
              <a:ext uri="{FF2B5EF4-FFF2-40B4-BE49-F238E27FC236}">
                <a16:creationId xmlns:a16="http://schemas.microsoft.com/office/drawing/2014/main" id="{5F69DB2D-DF56-906D-635E-CE00B03FBEAB}"/>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a:off x="5139982" y="2977618"/>
            <a:ext cx="619317" cy="643531"/>
          </a:xfrm>
          <a:prstGeom prst="rect">
            <a:avLst/>
          </a:prstGeom>
        </p:spPr>
      </p:pic>
      <p:sp>
        <p:nvSpPr>
          <p:cNvPr id="10" name="テキスト ボックス 9">
            <a:extLst>
              <a:ext uri="{FF2B5EF4-FFF2-40B4-BE49-F238E27FC236}">
                <a16:creationId xmlns:a16="http://schemas.microsoft.com/office/drawing/2014/main" id="{8D9ACD28-C26A-19C1-5237-215DC61387E3}"/>
              </a:ext>
            </a:extLst>
          </p:cNvPr>
          <p:cNvSpPr txBox="1"/>
          <p:nvPr/>
        </p:nvSpPr>
        <p:spPr>
          <a:xfrm>
            <a:off x="6013250" y="2640458"/>
            <a:ext cx="4140486" cy="1077218"/>
          </a:xfrm>
          <a:prstGeom prst="rect">
            <a:avLst/>
          </a:prstGeom>
          <a:noFill/>
        </p:spPr>
        <p:txBody>
          <a:bodyPr wrap="square" rtlCol="0">
            <a:spAutoFit/>
          </a:bodyPr>
          <a:lstStyle/>
          <a:p>
            <a:r>
              <a:rPr kumimoji="1" lang="ja-JP" altLang="en-US" sz="3200" dirty="0">
                <a:solidFill>
                  <a:srgbClr val="FF0000"/>
                </a:solidFill>
                <a:latin typeface="HGS創英角ｺﾞｼｯｸUB" panose="020B0900000000000000" pitchFamily="50" charset="-128"/>
                <a:ea typeface="HGS創英角ｺﾞｼｯｸUB" panose="020B0900000000000000" pitchFamily="50" charset="-128"/>
              </a:rPr>
              <a:t>計算時間</a:t>
            </a:r>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a:p>
            <a:r>
              <a:rPr kumimoji="1" lang="ja-JP" altLang="en-US" sz="3200" dirty="0">
                <a:solidFill>
                  <a:srgbClr val="FF0000"/>
                </a:solidFill>
                <a:latin typeface="HGS創英角ｺﾞｼｯｸUB" panose="020B0900000000000000" pitchFamily="50" charset="-128"/>
                <a:ea typeface="HGS創英角ｺﾞｼｯｸUB" panose="020B0900000000000000" pitchFamily="50" charset="-128"/>
              </a:rPr>
              <a:t>総移動距離の改善</a:t>
            </a:r>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p:txBody>
      </p:sp>
      <p:sp>
        <p:nvSpPr>
          <p:cNvPr id="15" name="タイトル 1">
            <a:extLst>
              <a:ext uri="{FF2B5EF4-FFF2-40B4-BE49-F238E27FC236}">
                <a16:creationId xmlns:a16="http://schemas.microsoft.com/office/drawing/2014/main" id="{C661AB63-475D-0DEA-F6F5-B790FDDE7606}"/>
              </a:ext>
            </a:extLst>
          </p:cNvPr>
          <p:cNvSpPr>
            <a:spLocks noGrp="1"/>
          </p:cNvSpPr>
          <p:nvPr>
            <p:ph type="title"/>
          </p:nvPr>
        </p:nvSpPr>
        <p:spPr>
          <a:xfrm>
            <a:off x="838200" y="365125"/>
            <a:ext cx="10515600" cy="1325563"/>
          </a:xfrm>
        </p:spPr>
        <p:txBody>
          <a:bodyPr/>
          <a:lstStyle/>
          <a:p>
            <a:r>
              <a:rPr kumimoji="1" lang="ja-JP" altLang="en-US" dirty="0">
                <a:latin typeface="HGS創英角ｺﾞｼｯｸUB" panose="020B0900000000000000" pitchFamily="50" charset="-128"/>
                <a:ea typeface="HGS創英角ｺﾞｼｯｸUB" panose="020B0900000000000000" pitchFamily="50" charset="-128"/>
              </a:rPr>
              <a:t>実験方法</a:t>
            </a:r>
          </a:p>
        </p:txBody>
      </p:sp>
      <p:cxnSp>
        <p:nvCxnSpPr>
          <p:cNvPr id="16" name="直線コネクタ 15">
            <a:extLst>
              <a:ext uri="{FF2B5EF4-FFF2-40B4-BE49-F238E27FC236}">
                <a16:creationId xmlns:a16="http://schemas.microsoft.com/office/drawing/2014/main" id="{AFD0EB16-F552-E232-7E6E-2E3C07251837}"/>
              </a:ext>
            </a:extLst>
          </p:cNvPr>
          <p:cNvCxnSpPr>
            <a:cxnSpLocks/>
          </p:cNvCxnSpPr>
          <p:nvPr/>
        </p:nvCxnSpPr>
        <p:spPr>
          <a:xfrm>
            <a:off x="838200" y="1413933"/>
            <a:ext cx="4566007"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2" name="スライド番号プレースホルダー 1">
            <a:extLst>
              <a:ext uri="{FF2B5EF4-FFF2-40B4-BE49-F238E27FC236}">
                <a16:creationId xmlns:a16="http://schemas.microsoft.com/office/drawing/2014/main" id="{24963D12-40DD-4594-4179-D3524A89966A}"/>
              </a:ext>
            </a:extLst>
          </p:cNvPr>
          <p:cNvSpPr>
            <a:spLocks noGrp="1"/>
          </p:cNvSpPr>
          <p:nvPr>
            <p:ph type="sldNum" sz="quarter" idx="12"/>
          </p:nvPr>
        </p:nvSpPr>
        <p:spPr/>
        <p:txBody>
          <a:bodyPr/>
          <a:lstStyle/>
          <a:p>
            <a:fld id="{9E365578-86CB-437F-8A21-C7B14E4ACE69}" type="slidenum">
              <a:rPr kumimoji="1" lang="ja-JP" altLang="en-US" sz="2000" smtClean="0"/>
              <a:t>6</a:t>
            </a:fld>
            <a:endParaRPr kumimoji="1" lang="ja-JP" altLang="en-US" sz="2000"/>
          </a:p>
        </p:txBody>
      </p:sp>
    </p:spTree>
    <p:extLst>
      <p:ext uri="{BB962C8B-B14F-4D97-AF65-F5344CB8AC3E}">
        <p14:creationId xmlns:p14="http://schemas.microsoft.com/office/powerpoint/2010/main" val="696284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34CE778-6AE4-F4C1-0049-BF4F5D0AFEA3}"/>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０．都市の生成</a:t>
            </a:r>
          </a:p>
        </p:txBody>
      </p:sp>
      <p:sp>
        <p:nvSpPr>
          <p:cNvPr id="3" name="コンテンツ プレースホルダー 2">
            <a:extLst>
              <a:ext uri="{FF2B5EF4-FFF2-40B4-BE49-F238E27FC236}">
                <a16:creationId xmlns:a16="http://schemas.microsoft.com/office/drawing/2014/main" id="{50A2546E-1B8C-8EAB-904F-A60F7F467F98}"/>
              </a:ext>
            </a:extLst>
          </p:cNvPr>
          <p:cNvSpPr>
            <a:spLocks noGrp="1"/>
          </p:cNvSpPr>
          <p:nvPr>
            <p:ph idx="1"/>
          </p:nvPr>
        </p:nvSpPr>
        <p:spPr>
          <a:xfrm>
            <a:off x="838200" y="2209799"/>
            <a:ext cx="10515600" cy="3967163"/>
          </a:xfrm>
        </p:spPr>
        <p:txBody>
          <a:bodyPr/>
          <a:lstStyle/>
          <a:p>
            <a:pPr marL="0" indent="0">
              <a:buNone/>
            </a:pPr>
            <a:r>
              <a:rPr kumimoji="1" lang="ja-JP" altLang="en-US" dirty="0">
                <a:latin typeface="HGS創英角ｺﾞｼｯｸUB" panose="020B0900000000000000" pitchFamily="50" charset="-128"/>
                <a:ea typeface="HGS創英角ｺﾞｼｯｸUB" panose="020B0900000000000000" pitchFamily="50" charset="-128"/>
              </a:rPr>
              <a:t>〇手順</a:t>
            </a:r>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ランダムに</a:t>
            </a:r>
            <a:r>
              <a:rPr kumimoji="1" lang="en-US" altLang="ja-JP" dirty="0">
                <a:latin typeface="HGS創英角ｺﾞｼｯｸUB" panose="020B0900000000000000" pitchFamily="50" charset="-128"/>
                <a:ea typeface="HGS創英角ｺﾞｼｯｸUB" panose="020B0900000000000000" pitchFamily="50" charset="-128"/>
              </a:rPr>
              <a:t>20</a:t>
            </a:r>
            <a:r>
              <a:rPr kumimoji="1" lang="ja-JP" altLang="en-US" dirty="0">
                <a:latin typeface="HGS創英角ｺﾞｼｯｸUB" panose="020B0900000000000000" pitchFamily="50" charset="-128"/>
                <a:ea typeface="HGS創英角ｺﾞｼｯｸUB" panose="020B0900000000000000" pitchFamily="50" charset="-128"/>
              </a:rPr>
              <a:t>の都市を生成</a:t>
            </a:r>
            <a:endParaRPr kumimoji="1"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重なりが無いように注意</a:t>
            </a:r>
            <a:endParaRPr lang="en-US" altLang="ja-JP" dirty="0">
              <a:latin typeface="HGS創英角ｺﾞｼｯｸUB" panose="020B0900000000000000" pitchFamily="50" charset="-128"/>
              <a:ea typeface="HGS創英角ｺﾞｼｯｸUB" panose="020B0900000000000000" pitchFamily="50" charset="-128"/>
            </a:endParaRPr>
          </a:p>
          <a:p>
            <a:r>
              <a:rPr kumimoji="1" lang="en-US" altLang="ja-JP" dirty="0">
                <a:latin typeface="HGS創英角ｺﾞｼｯｸUB" panose="020B0900000000000000" pitchFamily="50" charset="-128"/>
                <a:ea typeface="HGS創英角ｺﾞｼｯｸUB" panose="020B0900000000000000" pitchFamily="50" charset="-128"/>
              </a:rPr>
              <a:t>200×200</a:t>
            </a:r>
            <a:r>
              <a:rPr kumimoji="1" lang="ja-JP" altLang="en-US" dirty="0">
                <a:latin typeface="HGS創英角ｺﾞｼｯｸUB" panose="020B0900000000000000" pitchFamily="50" charset="-128"/>
                <a:ea typeface="HGS創英角ｺﾞｼｯｸUB" panose="020B0900000000000000" pitchFamily="50" charset="-128"/>
              </a:rPr>
              <a:t>の平面座標</a:t>
            </a:r>
            <a:endParaRPr kumimoji="1" lang="en-US" altLang="ja-JP" dirty="0">
              <a:latin typeface="HGS創英角ｺﾞｼｯｸUB" panose="020B0900000000000000" pitchFamily="50" charset="-128"/>
              <a:ea typeface="HGS創英角ｺﾞｼｯｸUB" panose="020B0900000000000000" pitchFamily="50" charset="-128"/>
            </a:endParaRPr>
          </a:p>
          <a:p>
            <a:pPr marL="0" indent="0">
              <a:buNone/>
            </a:pPr>
            <a:endParaRPr kumimoji="1" lang="ja-JP" altLang="en-US" dirty="0">
              <a:latin typeface="HGS創英角ｺﾞｼｯｸUB" panose="020B0900000000000000" pitchFamily="50" charset="-128"/>
              <a:ea typeface="HGS創英角ｺﾞｼｯｸUB" panose="020B0900000000000000" pitchFamily="50" charset="-128"/>
            </a:endParaRPr>
          </a:p>
        </p:txBody>
      </p:sp>
      <p:pic>
        <p:nvPicPr>
          <p:cNvPr id="6" name="図 5" descr="グラフ, 散布図&#10;&#10;AI によって生成されたコンテンツは間違っている可能性があります。">
            <a:extLst>
              <a:ext uri="{FF2B5EF4-FFF2-40B4-BE49-F238E27FC236}">
                <a16:creationId xmlns:a16="http://schemas.microsoft.com/office/drawing/2014/main" id="{724E2E4E-B29C-2390-50BE-DD3C35BF9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9318" y="491452"/>
            <a:ext cx="5164482" cy="5875096"/>
          </a:xfrm>
          <a:prstGeom prst="rect">
            <a:avLst/>
          </a:prstGeom>
          <a:ln>
            <a:noFill/>
          </a:ln>
        </p:spPr>
      </p:pic>
      <p:pic>
        <p:nvPicPr>
          <p:cNvPr id="5" name="図 4" descr="アイコン&#10;&#10;AI によって生成されたコンテンツは間違っている可能性があります。">
            <a:extLst>
              <a:ext uri="{FF2B5EF4-FFF2-40B4-BE49-F238E27FC236}">
                <a16:creationId xmlns:a16="http://schemas.microsoft.com/office/drawing/2014/main" id="{74C55C4C-055F-CE52-C831-CDC768BE775C}"/>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2918356" y="4808297"/>
            <a:ext cx="1005110" cy="709577"/>
          </a:xfrm>
          <a:prstGeom prst="rect">
            <a:avLst/>
          </a:prstGeom>
        </p:spPr>
      </p:pic>
      <p:pic>
        <p:nvPicPr>
          <p:cNvPr id="7" name="図 6" descr="アイコン&#10;&#10;AI によって生成されたコンテンツは間違っている可能性があります。">
            <a:extLst>
              <a:ext uri="{FF2B5EF4-FFF2-40B4-BE49-F238E27FC236}">
                <a16:creationId xmlns:a16="http://schemas.microsoft.com/office/drawing/2014/main" id="{41DBFA96-0C68-324B-464C-D721B7A225B6}"/>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4902138" y="5350780"/>
            <a:ext cx="1005110" cy="709577"/>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19638AF8-D6D6-0C79-3E49-36771D684636}"/>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912743" y="5402253"/>
            <a:ext cx="1005110" cy="709577"/>
          </a:xfrm>
          <a:prstGeom prst="rect">
            <a:avLst/>
          </a:prstGeom>
        </p:spPr>
      </p:pic>
      <p:sp>
        <p:nvSpPr>
          <p:cNvPr id="4" name="スライド番号プレースホルダー 3">
            <a:extLst>
              <a:ext uri="{FF2B5EF4-FFF2-40B4-BE49-F238E27FC236}">
                <a16:creationId xmlns:a16="http://schemas.microsoft.com/office/drawing/2014/main" id="{532C5DAF-3A2F-92DF-1793-B847131B645E}"/>
              </a:ext>
            </a:extLst>
          </p:cNvPr>
          <p:cNvSpPr>
            <a:spLocks noGrp="1"/>
          </p:cNvSpPr>
          <p:nvPr>
            <p:ph type="sldNum" sz="quarter" idx="12"/>
          </p:nvPr>
        </p:nvSpPr>
        <p:spPr/>
        <p:txBody>
          <a:bodyPr/>
          <a:lstStyle/>
          <a:p>
            <a:fld id="{9E365578-86CB-437F-8A21-C7B14E4ACE69}" type="slidenum">
              <a:rPr kumimoji="1" lang="ja-JP" altLang="en-US" sz="2000" smtClean="0"/>
              <a:t>7</a:t>
            </a:fld>
            <a:endParaRPr kumimoji="1" lang="ja-JP" altLang="en-US" sz="2000"/>
          </a:p>
        </p:txBody>
      </p:sp>
    </p:spTree>
    <p:extLst>
      <p:ext uri="{BB962C8B-B14F-4D97-AF65-F5344CB8AC3E}">
        <p14:creationId xmlns:p14="http://schemas.microsoft.com/office/powerpoint/2010/main" val="77901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D47168-9731-580C-F2A0-B106A7CEA9AB}"/>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１．最近隣法</a:t>
            </a:r>
          </a:p>
        </p:txBody>
      </p:sp>
      <p:sp>
        <p:nvSpPr>
          <p:cNvPr id="3" name="コンテンツ プレースホルダー 2">
            <a:extLst>
              <a:ext uri="{FF2B5EF4-FFF2-40B4-BE49-F238E27FC236}">
                <a16:creationId xmlns:a16="http://schemas.microsoft.com/office/drawing/2014/main" id="{C6067CC8-C585-7B74-04DE-D687370C1F72}"/>
              </a:ext>
            </a:extLst>
          </p:cNvPr>
          <p:cNvSpPr>
            <a:spLocks noGrp="1"/>
          </p:cNvSpPr>
          <p:nvPr>
            <p:ph idx="1"/>
          </p:nvPr>
        </p:nvSpPr>
        <p:spPr>
          <a:xfrm>
            <a:off x="838200" y="2201333"/>
            <a:ext cx="10515600" cy="3975630"/>
          </a:xfrm>
        </p:spPr>
        <p:txBody>
          <a:bodyPr>
            <a:normAutofit/>
          </a:bodyPr>
          <a:lstStyle/>
          <a:p>
            <a:pPr marL="0" indent="0">
              <a:buNone/>
            </a:pPr>
            <a:r>
              <a:rPr lang="ja-JP" altLang="en-US" sz="2400">
                <a:latin typeface="HGS創英角ｺﾞｼｯｸUB" panose="020B0900000000000000" pitchFamily="50" charset="-128"/>
                <a:ea typeface="HGS創英角ｺﾞｼｯｸUB" panose="020B0900000000000000" pitchFamily="50" charset="-128"/>
              </a:rPr>
              <a:t>〇手順</a:t>
            </a:r>
            <a:endParaRPr lang="en-US" altLang="ja-JP" sz="2400">
              <a:latin typeface="HGS創英角ｺﾞｼｯｸUB" panose="020B0900000000000000" pitchFamily="50" charset="-128"/>
              <a:ea typeface="HGS創英角ｺﾞｼｯｸUB" panose="020B0900000000000000" pitchFamily="50" charset="-128"/>
            </a:endParaRPr>
          </a:p>
          <a:p>
            <a:pPr marL="0" indent="0">
              <a:buNone/>
            </a:pPr>
            <a:r>
              <a:rPr kumimoji="0" lang="ja-JP" altLang="en-US" sz="2400">
                <a:latin typeface="HGS創英角ｺﾞｼｯｸUB" panose="020B0900000000000000" pitchFamily="50" charset="-128"/>
                <a:ea typeface="HGS創英角ｺﾞｼｯｸUB" panose="020B0900000000000000" pitchFamily="50" charset="-128"/>
              </a:rPr>
              <a:t>・</a:t>
            </a:r>
            <a:r>
              <a:rPr kumimoji="0" lang="ja-JP" altLang="ja-JP" sz="2400">
                <a:latin typeface="HGS創英角ｺﾞｼｯｸUB" panose="020B0900000000000000" pitchFamily="50" charset="-128"/>
                <a:ea typeface="HGS創英角ｺﾞｼｯｸUB" panose="020B0900000000000000" pitchFamily="50" charset="-128"/>
              </a:rPr>
              <a:t>出発都市を1つ選ぶ</a:t>
            </a:r>
          </a:p>
          <a:p>
            <a:pPr marL="0" indent="0">
              <a:buNone/>
            </a:pPr>
            <a:r>
              <a:rPr kumimoji="0" lang="ja-JP" altLang="en-US" sz="2400">
                <a:latin typeface="HGS創英角ｺﾞｼｯｸUB" panose="020B0900000000000000" pitchFamily="50" charset="-128"/>
                <a:ea typeface="HGS創英角ｺﾞｼｯｸUB" panose="020B0900000000000000" pitchFamily="50" charset="-128"/>
              </a:rPr>
              <a:t>・</a:t>
            </a:r>
            <a:r>
              <a:rPr kumimoji="0" lang="ja-JP" altLang="ja-JP" sz="2400">
                <a:latin typeface="HGS創英角ｺﾞｼｯｸUB" panose="020B0900000000000000" pitchFamily="50" charset="-128"/>
                <a:ea typeface="HGS創英角ｺﾞｼｯｸUB" panose="020B0900000000000000" pitchFamily="50" charset="-128"/>
              </a:rPr>
              <a:t>現在地から最も近い未訪問の都市へ移動</a:t>
            </a:r>
          </a:p>
          <a:p>
            <a:pPr marL="0" indent="0">
              <a:buNone/>
            </a:pPr>
            <a:r>
              <a:rPr kumimoji="0" lang="ja-JP" altLang="en-US" sz="2400">
                <a:latin typeface="HGS創英角ｺﾞｼｯｸUB" panose="020B0900000000000000" pitchFamily="50" charset="-128"/>
                <a:ea typeface="HGS創英角ｺﾞｼｯｸUB" panose="020B0900000000000000" pitchFamily="50" charset="-128"/>
              </a:rPr>
              <a:t>・</a:t>
            </a:r>
            <a:r>
              <a:rPr kumimoji="0" lang="ja-JP" altLang="ja-JP" sz="2400">
                <a:latin typeface="HGS創英角ｺﾞｼｯｸUB" panose="020B0900000000000000" pitchFamily="50" charset="-128"/>
                <a:ea typeface="HGS創英角ｺﾞｼｯｸUB" panose="020B0900000000000000" pitchFamily="50" charset="-128"/>
              </a:rPr>
              <a:t>これをすべての都市を訪れるまで繰り返す</a:t>
            </a:r>
          </a:p>
          <a:p>
            <a:pPr marL="0" indent="0">
              <a:buNone/>
            </a:pPr>
            <a:r>
              <a:rPr kumimoji="0" lang="ja-JP" altLang="en-US" sz="2400">
                <a:latin typeface="HGS創英角ｺﾞｼｯｸUB" panose="020B0900000000000000" pitchFamily="50" charset="-128"/>
                <a:ea typeface="HGS創英角ｺﾞｼｯｸUB" panose="020B0900000000000000" pitchFamily="50" charset="-128"/>
              </a:rPr>
              <a:t>・</a:t>
            </a:r>
            <a:r>
              <a:rPr kumimoji="0" lang="ja-JP" altLang="ja-JP" sz="2400">
                <a:latin typeface="HGS創英角ｺﾞｼｯｸUB" panose="020B0900000000000000" pitchFamily="50" charset="-128"/>
                <a:ea typeface="HGS創英角ｺﾞｼｯｸUB" panose="020B0900000000000000" pitchFamily="50" charset="-128"/>
              </a:rPr>
              <a:t>最後に出発点に戻って巡回路を完成</a:t>
            </a:r>
          </a:p>
          <a:p>
            <a:pPr marL="0" indent="0">
              <a:buNone/>
            </a:pPr>
            <a:endParaRPr kumimoji="1" lang="ja-JP" altLang="en-US">
              <a:latin typeface="HGS創英角ｺﾞｼｯｸUB" panose="020B0900000000000000" pitchFamily="50" charset="-128"/>
              <a:ea typeface="HGS創英角ｺﾞｼｯｸUB" panose="020B0900000000000000" pitchFamily="50" charset="-128"/>
            </a:endParaRPr>
          </a:p>
        </p:txBody>
      </p:sp>
      <p:grpSp>
        <p:nvGrpSpPr>
          <p:cNvPr id="8" name="グループ化 7">
            <a:extLst>
              <a:ext uri="{FF2B5EF4-FFF2-40B4-BE49-F238E27FC236}">
                <a16:creationId xmlns:a16="http://schemas.microsoft.com/office/drawing/2014/main" id="{B4880918-83C5-DCF9-D46D-F33D2331DDE4}"/>
              </a:ext>
            </a:extLst>
          </p:cNvPr>
          <p:cNvGrpSpPr/>
          <p:nvPr/>
        </p:nvGrpSpPr>
        <p:grpSpPr>
          <a:xfrm>
            <a:off x="6919806" y="1330471"/>
            <a:ext cx="4433994" cy="4213615"/>
            <a:chOff x="7421405" y="2488638"/>
            <a:chExt cx="3853806" cy="3619424"/>
          </a:xfrm>
        </p:grpSpPr>
        <p:pic>
          <p:nvPicPr>
            <p:cNvPr id="9" name="図 8" descr="アイコン&#10;&#10;AI によって生成されたコンテンツは間違っている可能性があります。">
              <a:extLst>
                <a:ext uri="{FF2B5EF4-FFF2-40B4-BE49-F238E27FC236}">
                  <a16:creationId xmlns:a16="http://schemas.microsoft.com/office/drawing/2014/main" id="{3DB22633-94A7-DAE0-FAA9-117CF830C537}"/>
                </a:ext>
              </a:extLst>
            </p:cNvPr>
            <p:cNvPicPr>
              <a:picLocks noChangeAspect="1"/>
            </p:cNvPicPr>
            <p:nvPr/>
          </p:nvPicPr>
          <p:blipFill>
            <a:blip r:embed="rId2">
              <a:extLst>
                <a:ext uri="{28A0092B-C50C-407E-A947-70E740481C1C}">
                  <a14:useLocalDpi xmlns:a14="http://schemas.microsoft.com/office/drawing/2010/main" val="0"/>
                </a:ext>
              </a:extLst>
            </a:blip>
            <a:srcRect r="52566" b="58357"/>
            <a:stretch/>
          </p:blipFill>
          <p:spPr>
            <a:xfrm>
              <a:off x="7421405" y="2989001"/>
              <a:ext cx="1366038" cy="95310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26F089E6-7E54-12C2-F83B-000461872FB9}"/>
                </a:ext>
              </a:extLst>
            </p:cNvPr>
            <p:cNvPicPr>
              <a:picLocks noChangeAspect="1"/>
            </p:cNvPicPr>
            <p:nvPr/>
          </p:nvPicPr>
          <p:blipFill>
            <a:blip r:embed="rId2">
              <a:extLst>
                <a:ext uri="{28A0092B-C50C-407E-A947-70E740481C1C}">
                  <a14:useLocalDpi xmlns:a14="http://schemas.microsoft.com/office/drawing/2010/main" val="0"/>
                </a:ext>
              </a:extLst>
            </a:blip>
            <a:srcRect l="-1646" t="67062" r="54212" b="-8705"/>
            <a:stretch/>
          </p:blipFill>
          <p:spPr>
            <a:xfrm>
              <a:off x="7973818" y="5154962"/>
              <a:ext cx="1366038" cy="953100"/>
            </a:xfrm>
            <a:prstGeom prst="rect">
              <a:avLst/>
            </a:prstGeom>
          </p:spPr>
        </p:pic>
        <p:pic>
          <p:nvPicPr>
            <p:cNvPr id="11" name="図 10" descr="アイコン, 矢印&#10;&#10;AI によって生成されたコンテンツは間違っている可能性があります。">
              <a:extLst>
                <a:ext uri="{FF2B5EF4-FFF2-40B4-BE49-F238E27FC236}">
                  <a16:creationId xmlns:a16="http://schemas.microsoft.com/office/drawing/2014/main" id="{294767F1-2BE3-07F6-D05F-F558E8152088}"/>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15500371">
              <a:off x="8033775" y="4231035"/>
              <a:ext cx="539776" cy="560880"/>
            </a:xfrm>
            <a:prstGeom prst="rect">
              <a:avLst/>
            </a:prstGeom>
          </p:spPr>
        </p:pic>
        <p:pic>
          <p:nvPicPr>
            <p:cNvPr id="12" name="図 11" descr="アイコン&#10;&#10;AI によって生成されたコンテンツは間違っている可能性があります。">
              <a:extLst>
                <a:ext uri="{FF2B5EF4-FFF2-40B4-BE49-F238E27FC236}">
                  <a16:creationId xmlns:a16="http://schemas.microsoft.com/office/drawing/2014/main" id="{02F64329-D4A7-496B-70FB-E60633176535}"/>
                </a:ext>
              </a:extLst>
            </p:cNvPr>
            <p:cNvPicPr>
              <a:picLocks noChangeAspect="1"/>
            </p:cNvPicPr>
            <p:nvPr/>
          </p:nvPicPr>
          <p:blipFill>
            <a:blip r:embed="rId2">
              <a:extLst>
                <a:ext uri="{28A0092B-C50C-407E-A947-70E740481C1C}">
                  <a14:useLocalDpi xmlns:a14="http://schemas.microsoft.com/office/drawing/2010/main" val="0"/>
                </a:ext>
              </a:extLst>
            </a:blip>
            <a:srcRect l="55413" t="-1824" r="-2847" b="60181"/>
            <a:stretch/>
          </p:blipFill>
          <p:spPr>
            <a:xfrm>
              <a:off x="9661598" y="2488638"/>
              <a:ext cx="1366038" cy="953100"/>
            </a:xfrm>
            <a:prstGeom prst="rect">
              <a:avLst/>
            </a:prstGeom>
          </p:spPr>
        </p:pic>
        <p:pic>
          <p:nvPicPr>
            <p:cNvPr id="13" name="図 12" descr="アイコン&#10;&#10;AI によって生成されたコンテンツは間違っている可能性があります。">
              <a:extLst>
                <a:ext uri="{FF2B5EF4-FFF2-40B4-BE49-F238E27FC236}">
                  <a16:creationId xmlns:a16="http://schemas.microsoft.com/office/drawing/2014/main" id="{DD3FFA8B-843C-7A80-A61D-818BEBFD3D5F}"/>
                </a:ext>
              </a:extLst>
            </p:cNvPr>
            <p:cNvPicPr>
              <a:picLocks noChangeAspect="1"/>
            </p:cNvPicPr>
            <p:nvPr/>
          </p:nvPicPr>
          <p:blipFill>
            <a:blip r:embed="rId2">
              <a:extLst>
                <a:ext uri="{28A0092B-C50C-407E-A947-70E740481C1C}">
                  <a14:useLocalDpi xmlns:a14="http://schemas.microsoft.com/office/drawing/2010/main" val="0"/>
                </a:ext>
              </a:extLst>
            </a:blip>
            <a:srcRect l="54274" t="64613" r="-1708" b="-6256"/>
            <a:stretch/>
          </p:blipFill>
          <p:spPr>
            <a:xfrm>
              <a:off x="9909173" y="4842389"/>
              <a:ext cx="1366038" cy="953100"/>
            </a:xfrm>
            <a:prstGeom prst="rect">
              <a:avLst/>
            </a:prstGeom>
          </p:spPr>
        </p:pic>
        <p:pic>
          <p:nvPicPr>
            <p:cNvPr id="14" name="図 13" descr="アイコン, 矢印&#10;&#10;AI によって生成されたコンテンツは間違っている可能性があります。">
              <a:extLst>
                <a:ext uri="{FF2B5EF4-FFF2-40B4-BE49-F238E27FC236}">
                  <a16:creationId xmlns:a16="http://schemas.microsoft.com/office/drawing/2014/main" id="{F3EA19ED-DFFF-7160-74C7-FF59E8C5944D}"/>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18140133">
              <a:off x="9343311" y="3987258"/>
              <a:ext cx="539776" cy="560880"/>
            </a:xfrm>
            <a:prstGeom prst="rect">
              <a:avLst/>
            </a:prstGeom>
          </p:spPr>
        </p:pic>
        <p:pic>
          <p:nvPicPr>
            <p:cNvPr id="16" name="図 15" descr="アイコン, 矢印&#10;&#10;AI によって生成されたコンテンツは間違っている可能性があります。">
              <a:extLst>
                <a:ext uri="{FF2B5EF4-FFF2-40B4-BE49-F238E27FC236}">
                  <a16:creationId xmlns:a16="http://schemas.microsoft.com/office/drawing/2014/main" id="{360101B5-5EC9-136F-E240-5C33D7CB22A5}"/>
                </a:ext>
              </a:extLst>
            </p:cNvPr>
            <p:cNvPicPr>
              <a:picLocks noChangeAspect="1"/>
            </p:cNvPicPr>
            <p:nvPr/>
          </p:nvPicPr>
          <p:blipFill>
            <a:blip r:embed="rId3">
              <a:extLst>
                <a:ext uri="{28A0092B-C50C-407E-A947-70E740481C1C}">
                  <a14:useLocalDpi xmlns:a14="http://schemas.microsoft.com/office/drawing/2010/main" val="0"/>
                </a:ext>
              </a:extLst>
            </a:blip>
            <a:srcRect t="-2619" r="57858" b="57220"/>
            <a:stretch/>
          </p:blipFill>
          <p:spPr>
            <a:xfrm rot="21142810">
              <a:off x="9419931" y="5326746"/>
              <a:ext cx="539776" cy="560880"/>
            </a:xfrm>
            <a:prstGeom prst="rect">
              <a:avLst/>
            </a:prstGeom>
          </p:spPr>
        </p:pic>
      </p:grpSp>
      <p:sp>
        <p:nvSpPr>
          <p:cNvPr id="19" name="テキスト ボックス 18">
            <a:extLst>
              <a:ext uri="{FF2B5EF4-FFF2-40B4-BE49-F238E27FC236}">
                <a16:creationId xmlns:a16="http://schemas.microsoft.com/office/drawing/2014/main" id="{6E08BAEF-3584-CED4-4BC8-8D6F73922010}"/>
              </a:ext>
            </a:extLst>
          </p:cNvPr>
          <p:cNvSpPr txBox="1"/>
          <p:nvPr/>
        </p:nvSpPr>
        <p:spPr>
          <a:xfrm>
            <a:off x="9093689" y="5197360"/>
            <a:ext cx="1474264" cy="369332"/>
          </a:xfrm>
          <a:prstGeom prst="rect">
            <a:avLst/>
          </a:prstGeom>
          <a:noFill/>
        </p:spPr>
        <p:txBody>
          <a:bodyPr wrap="square" rtlCol="0">
            <a:spAutoFit/>
          </a:bodyPr>
          <a:lstStyle/>
          <a:p>
            <a:r>
              <a:rPr kumimoji="1" lang="ja-JP" altLang="en-US">
                <a:latin typeface="HGP創英角ﾎﾟｯﾌﾟ体" panose="040B0A00000000000000" pitchFamily="50" charset="-128"/>
                <a:ea typeface="HGP創英角ﾎﾟｯﾌﾟ体" panose="040B0A00000000000000" pitchFamily="50" charset="-128"/>
              </a:rPr>
              <a:t>一番近い！</a:t>
            </a:r>
          </a:p>
        </p:txBody>
      </p:sp>
      <p:sp>
        <p:nvSpPr>
          <p:cNvPr id="4" name="スライド番号プレースホルダー 3">
            <a:extLst>
              <a:ext uri="{FF2B5EF4-FFF2-40B4-BE49-F238E27FC236}">
                <a16:creationId xmlns:a16="http://schemas.microsoft.com/office/drawing/2014/main" id="{DE9C5CEF-C147-8F56-2DF7-55E9D78FB66E}"/>
              </a:ext>
            </a:extLst>
          </p:cNvPr>
          <p:cNvSpPr>
            <a:spLocks noGrp="1"/>
          </p:cNvSpPr>
          <p:nvPr>
            <p:ph type="sldNum" sz="quarter" idx="12"/>
          </p:nvPr>
        </p:nvSpPr>
        <p:spPr/>
        <p:txBody>
          <a:bodyPr/>
          <a:lstStyle/>
          <a:p>
            <a:fld id="{9E365578-86CB-437F-8A21-C7B14E4ACE69}" type="slidenum">
              <a:rPr kumimoji="1" lang="ja-JP" altLang="en-US" sz="2000" smtClean="0"/>
              <a:t>8</a:t>
            </a:fld>
            <a:endParaRPr kumimoji="1" lang="ja-JP" altLang="en-US" sz="2000" dirty="0"/>
          </a:p>
        </p:txBody>
      </p:sp>
    </p:spTree>
    <p:extLst>
      <p:ext uri="{BB962C8B-B14F-4D97-AF65-F5344CB8AC3E}">
        <p14:creationId xmlns:p14="http://schemas.microsoft.com/office/powerpoint/2010/main" val="301812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3C5162-224B-EC2B-98E7-A627E15A203D}"/>
              </a:ext>
            </a:extLst>
          </p:cNvPr>
          <p:cNvSpPr>
            <a:spLocks noGrp="1"/>
          </p:cNvSpPr>
          <p:nvPr>
            <p:ph type="title"/>
          </p:nvPr>
        </p:nvSpPr>
        <p:spPr/>
        <p:txBody>
          <a:bodyPr/>
          <a:lstStyle/>
          <a:p>
            <a:r>
              <a:rPr lang="ja-JP" altLang="en-US">
                <a:latin typeface="HGS創英角ｺﾞｼｯｸUB" panose="020B0900000000000000" pitchFamily="50" charset="-128"/>
                <a:ea typeface="HGS創英角ｺﾞｼｯｸUB" panose="020B0900000000000000" pitchFamily="50" charset="-128"/>
              </a:rPr>
              <a:t>２．</a:t>
            </a:r>
            <a:r>
              <a:rPr lang="en-US" altLang="ja-JP">
                <a:latin typeface="HGS創英角ｺﾞｼｯｸUB" panose="020B0900000000000000" pitchFamily="50" charset="-128"/>
                <a:ea typeface="HGS創英角ｺﾞｼｯｸUB" panose="020B0900000000000000" pitchFamily="50" charset="-128"/>
              </a:rPr>
              <a:t>2-opt</a:t>
            </a:r>
            <a:r>
              <a:rPr lang="ja-JP" altLang="en-US">
                <a:latin typeface="HGS創英角ｺﾞｼｯｸUB" panose="020B0900000000000000" pitchFamily="50" charset="-128"/>
                <a:ea typeface="HGS創英角ｺﾞｼｯｸUB" panose="020B0900000000000000" pitchFamily="50" charset="-128"/>
              </a:rPr>
              <a:t>法</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7ADF9D29-9D6E-BE7B-A98F-668782158188}"/>
              </a:ext>
            </a:extLst>
          </p:cNvPr>
          <p:cNvSpPr>
            <a:spLocks noGrp="1"/>
          </p:cNvSpPr>
          <p:nvPr>
            <p:ph idx="1"/>
          </p:nvPr>
        </p:nvSpPr>
        <p:spPr/>
        <p:txBody>
          <a:bodyPr>
            <a:normAutofit lnSpcReduction="10000"/>
          </a:bodyPr>
          <a:lstStyle/>
          <a:p>
            <a:pPr marL="0" indent="0">
              <a:buNone/>
            </a:pPr>
            <a:r>
              <a:rPr kumimoji="1" lang="ja-JP" altLang="en-US">
                <a:latin typeface="HGS創英角ｺﾞｼｯｸUB" panose="020B0900000000000000" pitchFamily="50" charset="-128"/>
                <a:ea typeface="HGS創英角ｺﾞｼｯｸUB" panose="020B0900000000000000" pitchFamily="50" charset="-128"/>
              </a:rPr>
              <a:t>〇概要</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・既存の巡回路から、任意の</a:t>
            </a:r>
            <a:r>
              <a:rPr lang="en-US" altLang="ja-JP">
                <a:latin typeface="HGS創英角ｺﾞｼｯｸUB" panose="020B0900000000000000" pitchFamily="50" charset="-128"/>
                <a:ea typeface="HGS創英角ｺﾞｼｯｸUB" panose="020B0900000000000000" pitchFamily="50" charset="-128"/>
              </a:rPr>
              <a:t>2</a:t>
            </a:r>
            <a:r>
              <a:rPr lang="ja-JP" altLang="en-US">
                <a:latin typeface="HGS創英角ｺﾞｼｯｸUB" panose="020B0900000000000000" pitchFamily="50" charset="-128"/>
                <a:ea typeface="HGS創英角ｺﾞｼｯｸUB" panose="020B0900000000000000" pitchFamily="50" charset="-128"/>
              </a:rPr>
              <a:t>本の枝（経路）を選んで付け替えることで、新たな巡回路を構成</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〇手順</a:t>
            </a:r>
          </a:p>
          <a:p>
            <a:pPr marL="0" indent="0">
              <a:buNone/>
            </a:pPr>
            <a:r>
              <a:rPr lang="ja-JP" altLang="en-US">
                <a:latin typeface="HGS創英角ｺﾞｼｯｸUB" panose="020B0900000000000000" pitchFamily="50" charset="-128"/>
                <a:ea typeface="HGS創英角ｺﾞｼｯｸUB" panose="020B0900000000000000" pitchFamily="50" charset="-128"/>
              </a:rPr>
              <a:t>・最近隣法で初期解を求める</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a:t>
            </a:r>
            <a:r>
              <a:rPr lang="en-US" altLang="ja-JP">
                <a:latin typeface="HGS創英角ｺﾞｼｯｸUB" panose="020B0900000000000000" pitchFamily="50" charset="-128"/>
                <a:ea typeface="HGS創英角ｺﾞｼｯｸUB" panose="020B0900000000000000" pitchFamily="50" charset="-128"/>
              </a:rPr>
              <a:t>2</a:t>
            </a:r>
            <a:r>
              <a:rPr lang="ja-JP" altLang="en-US">
                <a:latin typeface="HGS創英角ｺﾞｼｯｸUB" panose="020B0900000000000000" pitchFamily="50" charset="-128"/>
                <a:ea typeface="HGS創英角ｺﾞｼｯｸUB" panose="020B0900000000000000" pitchFamily="50" charset="-128"/>
              </a:rPr>
              <a:t>本の枝を入れ替えた場合の全候補を評価</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・移動距離が最も短くなる組み合わせを選んで巡回路を更新</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・この操作を改善ができなくなるまで繰り返す</a:t>
            </a:r>
          </a:p>
          <a:p>
            <a:pPr marL="514350" indent="-514350">
              <a:buAutoNum type="arabicPeriod"/>
            </a:pPr>
            <a:endParaRPr kumimoji="1" lang="en-US" altLang="ja-JP">
              <a:latin typeface="HGS創英角ｺﾞｼｯｸUB" panose="020B0900000000000000" pitchFamily="50" charset="-128"/>
              <a:ea typeface="HGS創英角ｺﾞｼｯｸUB" panose="020B0900000000000000" pitchFamily="50" charset="-128"/>
            </a:endParaRPr>
          </a:p>
        </p:txBody>
      </p:sp>
      <p:sp>
        <p:nvSpPr>
          <p:cNvPr id="4" name="スライド番号プレースホルダー 3">
            <a:extLst>
              <a:ext uri="{FF2B5EF4-FFF2-40B4-BE49-F238E27FC236}">
                <a16:creationId xmlns:a16="http://schemas.microsoft.com/office/drawing/2014/main" id="{56A423A4-8AAF-F871-3721-0C3777C8771E}"/>
              </a:ext>
            </a:extLst>
          </p:cNvPr>
          <p:cNvSpPr>
            <a:spLocks noGrp="1"/>
          </p:cNvSpPr>
          <p:nvPr>
            <p:ph type="sldNum" sz="quarter" idx="12"/>
          </p:nvPr>
        </p:nvSpPr>
        <p:spPr/>
        <p:txBody>
          <a:bodyPr/>
          <a:lstStyle/>
          <a:p>
            <a:fld id="{9E365578-86CB-437F-8A21-C7B14E4ACE69}" type="slidenum">
              <a:rPr kumimoji="1" lang="ja-JP" altLang="en-US" sz="2000" smtClean="0"/>
              <a:t>9</a:t>
            </a:fld>
            <a:endParaRPr kumimoji="1" lang="ja-JP" altLang="en-US" sz="2000"/>
          </a:p>
        </p:txBody>
      </p:sp>
    </p:spTree>
    <p:extLst>
      <p:ext uri="{BB962C8B-B14F-4D97-AF65-F5344CB8AC3E}">
        <p14:creationId xmlns:p14="http://schemas.microsoft.com/office/powerpoint/2010/main" val="352696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01D170-1196-8CB3-C3D5-75D6AE27AA82}"/>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イメージ図</a:t>
            </a:r>
          </a:p>
        </p:txBody>
      </p:sp>
      <p:cxnSp>
        <p:nvCxnSpPr>
          <p:cNvPr id="12" name="直線コネクタ 11">
            <a:extLst>
              <a:ext uri="{FF2B5EF4-FFF2-40B4-BE49-F238E27FC236}">
                <a16:creationId xmlns:a16="http://schemas.microsoft.com/office/drawing/2014/main" id="{26C5E5BA-FB8C-50C3-640B-F7B7D8D101A1}"/>
              </a:ext>
            </a:extLst>
          </p:cNvPr>
          <p:cNvCxnSpPr>
            <a:cxnSpLocks/>
          </p:cNvCxnSpPr>
          <p:nvPr/>
        </p:nvCxnSpPr>
        <p:spPr>
          <a:xfrm>
            <a:off x="838200" y="1413933"/>
            <a:ext cx="3124200"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sp>
        <p:nvSpPr>
          <p:cNvPr id="15" name="テキスト ボックス 14">
            <a:extLst>
              <a:ext uri="{FF2B5EF4-FFF2-40B4-BE49-F238E27FC236}">
                <a16:creationId xmlns:a16="http://schemas.microsoft.com/office/drawing/2014/main" id="{05BC8FA6-0FFD-874B-D245-8BC93FBD696D}"/>
              </a:ext>
            </a:extLst>
          </p:cNvPr>
          <p:cNvSpPr txBox="1"/>
          <p:nvPr/>
        </p:nvSpPr>
        <p:spPr>
          <a:xfrm>
            <a:off x="2683328" y="1426855"/>
            <a:ext cx="1828800" cy="461665"/>
          </a:xfrm>
          <a:prstGeom prst="rect">
            <a:avLst/>
          </a:prstGeom>
          <a:noFill/>
        </p:spPr>
        <p:txBody>
          <a:bodyPr wrap="square">
            <a:spAutoFit/>
          </a:bodyPr>
          <a:lstStyle/>
          <a:p>
            <a:r>
              <a:rPr lang="en-US" altLang="ja-JP" sz="2400">
                <a:latin typeface="HGS創英角ｺﾞｼｯｸUB" panose="020B0900000000000000" pitchFamily="50" charset="-128"/>
                <a:ea typeface="HGS創英角ｺﾞｼｯｸUB" panose="020B0900000000000000" pitchFamily="50" charset="-128"/>
              </a:rPr>
              <a:t>2-opt</a:t>
            </a:r>
            <a:r>
              <a:rPr lang="ja-JP" altLang="en-US" sz="2400">
                <a:latin typeface="HGS創英角ｺﾞｼｯｸUB" panose="020B0900000000000000" pitchFamily="50" charset="-128"/>
                <a:ea typeface="HGS創英角ｺﾞｼｯｸUB" panose="020B0900000000000000" pitchFamily="50" charset="-128"/>
              </a:rPr>
              <a:t>法</a:t>
            </a:r>
            <a:endParaRPr lang="ja-JP" altLang="en-US" sz="2400"/>
          </a:p>
        </p:txBody>
      </p:sp>
      <p:grpSp>
        <p:nvGrpSpPr>
          <p:cNvPr id="72" name="グループ化 71">
            <a:extLst>
              <a:ext uri="{FF2B5EF4-FFF2-40B4-BE49-F238E27FC236}">
                <a16:creationId xmlns:a16="http://schemas.microsoft.com/office/drawing/2014/main" id="{76EC5057-7165-EC73-E932-04CAD95BBC9D}"/>
              </a:ext>
            </a:extLst>
          </p:cNvPr>
          <p:cNvGrpSpPr/>
          <p:nvPr/>
        </p:nvGrpSpPr>
        <p:grpSpPr>
          <a:xfrm>
            <a:off x="643242" y="2397435"/>
            <a:ext cx="10929257" cy="4007048"/>
            <a:chOff x="643242" y="2397435"/>
            <a:chExt cx="10929257" cy="4007048"/>
          </a:xfrm>
        </p:grpSpPr>
        <p:sp>
          <p:nvSpPr>
            <p:cNvPr id="3" name="テキスト ボックス 2">
              <a:extLst>
                <a:ext uri="{FF2B5EF4-FFF2-40B4-BE49-F238E27FC236}">
                  <a16:creationId xmlns:a16="http://schemas.microsoft.com/office/drawing/2014/main" id="{21CFBFDA-8596-A555-8261-CF5C432FC799}"/>
                </a:ext>
              </a:extLst>
            </p:cNvPr>
            <p:cNvSpPr txBox="1"/>
            <p:nvPr/>
          </p:nvSpPr>
          <p:spPr>
            <a:xfrm>
              <a:off x="643242" y="2397435"/>
              <a:ext cx="4147457" cy="461665"/>
            </a:xfrm>
            <a:prstGeom prst="rect">
              <a:avLst/>
            </a:prstGeom>
            <a:noFill/>
          </p:spPr>
          <p:txBody>
            <a:bodyPr wrap="square" rtlCol="0">
              <a:spAutoFit/>
            </a:bodyPr>
            <a:lstStyle/>
            <a:p>
              <a:pPr marL="342900" indent="-342900">
                <a:buFont typeface="Wingdings" panose="05000000000000000000" pitchFamily="2" charset="2"/>
                <a:buChar char="u"/>
              </a:pPr>
              <a:r>
                <a:rPr kumimoji="1" lang="ja-JP" altLang="en-US" sz="2400">
                  <a:latin typeface="HGS創英角ｺﾞｼｯｸUB" panose="020B0900000000000000" pitchFamily="50" charset="-128"/>
                  <a:ea typeface="HGS創英角ｺﾞｼｯｸUB" panose="020B0900000000000000" pitchFamily="50" charset="-128"/>
                </a:rPr>
                <a:t>元の経路</a:t>
              </a:r>
            </a:p>
          </p:txBody>
        </p:sp>
        <p:sp>
          <p:nvSpPr>
            <p:cNvPr id="4" name="テキスト ボックス 3">
              <a:extLst>
                <a:ext uri="{FF2B5EF4-FFF2-40B4-BE49-F238E27FC236}">
                  <a16:creationId xmlns:a16="http://schemas.microsoft.com/office/drawing/2014/main" id="{94CF99B8-F698-422F-41C8-23182D1E1011}"/>
                </a:ext>
              </a:extLst>
            </p:cNvPr>
            <p:cNvSpPr txBox="1"/>
            <p:nvPr/>
          </p:nvSpPr>
          <p:spPr>
            <a:xfrm>
              <a:off x="668048" y="4374235"/>
              <a:ext cx="2383971" cy="461665"/>
            </a:xfrm>
            <a:prstGeom prst="rect">
              <a:avLst/>
            </a:prstGeom>
            <a:noFill/>
          </p:spPr>
          <p:txBody>
            <a:bodyPr wrap="square" rtlCol="0">
              <a:spAutoFit/>
            </a:bodyPr>
            <a:lstStyle/>
            <a:p>
              <a:pPr marL="342900" indent="-342900">
                <a:buFont typeface="Wingdings" panose="05000000000000000000" pitchFamily="2" charset="2"/>
                <a:buChar char="u"/>
              </a:pPr>
              <a:r>
                <a:rPr kumimoji="1" lang="ja-JP" altLang="en-US" sz="2400">
                  <a:latin typeface="HGS創英角ｺﾞｼｯｸUB" panose="020B0900000000000000" pitchFamily="50" charset="-128"/>
                  <a:ea typeface="HGS創英角ｺﾞｼｯｸUB" panose="020B0900000000000000" pitchFamily="50" charset="-128"/>
                </a:rPr>
                <a:t>変更後の経路</a:t>
              </a:r>
            </a:p>
          </p:txBody>
        </p:sp>
        <p:sp>
          <p:nvSpPr>
            <p:cNvPr id="6" name="テキスト ボックス 5">
              <a:extLst>
                <a:ext uri="{FF2B5EF4-FFF2-40B4-BE49-F238E27FC236}">
                  <a16:creationId xmlns:a16="http://schemas.microsoft.com/office/drawing/2014/main" id="{EB3CBAFA-80C4-E6A9-EE96-BD722DF2FB2F}"/>
                </a:ext>
              </a:extLst>
            </p:cNvPr>
            <p:cNvSpPr txBox="1"/>
            <p:nvPr/>
          </p:nvSpPr>
          <p:spPr>
            <a:xfrm>
              <a:off x="1198413" y="3239274"/>
              <a:ext cx="10374086" cy="584775"/>
            </a:xfrm>
            <a:prstGeom prst="rect">
              <a:avLst/>
            </a:prstGeom>
            <a:noFill/>
          </p:spPr>
          <p:txBody>
            <a:bodyPr wrap="square" rtlCol="0">
              <a:spAutoFit/>
            </a:bodyPr>
            <a:lstStyle/>
            <a:p>
              <a:pPr algn="ctr"/>
              <a:r>
                <a:rPr kumimoji="1" lang="en-US" altLang="ja-JP" sz="3200">
                  <a:latin typeface="HGS創英角ｺﾞｼｯｸUB" panose="020B0900000000000000" pitchFamily="50" charset="-128"/>
                  <a:ea typeface="HGS創英角ｺﾞｼｯｸUB" panose="020B0900000000000000" pitchFamily="50" charset="-128"/>
                </a:rPr>
                <a:t>1</a:t>
              </a:r>
              <a:r>
                <a:rPr kumimoji="1" lang="ja-JP" altLang="en-US" sz="3200">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2</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3</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a:t>
              </a:r>
              <a:r>
                <a:rPr kumimoji="1" lang="ja-JP" altLang="en-US" sz="3200">
                  <a:latin typeface="HGS創英角ｺﾞｼｯｸUB" panose="020B0900000000000000" pitchFamily="50" charset="-128"/>
                  <a:ea typeface="HGS創英角ｺﾞｼｯｸUB" panose="020B0900000000000000" pitchFamily="50" charset="-128"/>
                </a:rPr>
                <a:t>ー　</a:t>
              </a:r>
              <a:r>
                <a:rPr kumimoji="1" lang="en-US" altLang="ja-JP" sz="3200">
                  <a:latin typeface="HGS創英角ｺﾞｼｯｸUB" panose="020B0900000000000000" pitchFamily="50" charset="-128"/>
                  <a:ea typeface="HGS創英角ｺﾞｼｯｸUB" panose="020B0900000000000000" pitchFamily="50" charset="-128"/>
                </a:rPr>
                <a:t>4</a:t>
              </a:r>
              <a:r>
                <a:rPr kumimoji="1" lang="ja-JP" altLang="en-US" sz="3200">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5</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6</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a:t>
              </a:r>
              <a:r>
                <a:rPr kumimoji="1" lang="ja-JP" altLang="en-US" sz="3200">
                  <a:latin typeface="HGS創英角ｺﾞｼｯｸUB" panose="020B0900000000000000" pitchFamily="50" charset="-128"/>
                  <a:ea typeface="HGS創英角ｺﾞｼｯｸUB" panose="020B0900000000000000" pitchFamily="50" charset="-128"/>
                </a:rPr>
                <a:t>ー　</a:t>
              </a:r>
              <a:r>
                <a:rPr kumimoji="1" lang="en-US" altLang="ja-JP" sz="3200">
                  <a:latin typeface="HGS創英角ｺﾞｼｯｸUB" panose="020B0900000000000000" pitchFamily="50" charset="-128"/>
                  <a:ea typeface="HGS創英角ｺﾞｼｯｸUB" panose="020B0900000000000000" pitchFamily="50" charset="-128"/>
                </a:rPr>
                <a:t>1</a:t>
              </a:r>
              <a:r>
                <a:rPr kumimoji="1" lang="ja-JP" altLang="en-US" sz="3200">
                  <a:latin typeface="HGS創英角ｺﾞｼｯｸUB" panose="020B0900000000000000" pitchFamily="50" charset="-128"/>
                  <a:ea typeface="HGS創英角ｺﾞｼｯｸUB" panose="020B0900000000000000" pitchFamily="50" charset="-128"/>
                </a:rPr>
                <a:t>　</a:t>
              </a:r>
            </a:p>
          </p:txBody>
        </p:sp>
        <p:sp>
          <p:nvSpPr>
            <p:cNvPr id="8" name="テキスト ボックス 7">
              <a:extLst>
                <a:ext uri="{FF2B5EF4-FFF2-40B4-BE49-F238E27FC236}">
                  <a16:creationId xmlns:a16="http://schemas.microsoft.com/office/drawing/2014/main" id="{F9E9B708-D89B-1F8E-2C1D-567AB7A7FACF}"/>
                </a:ext>
              </a:extLst>
            </p:cNvPr>
            <p:cNvSpPr txBox="1"/>
            <p:nvPr/>
          </p:nvSpPr>
          <p:spPr>
            <a:xfrm>
              <a:off x="1162139" y="5023386"/>
              <a:ext cx="10374086" cy="584775"/>
            </a:xfrm>
            <a:prstGeom prst="rect">
              <a:avLst/>
            </a:prstGeom>
            <a:noFill/>
          </p:spPr>
          <p:txBody>
            <a:bodyPr wrap="square" rtlCol="0">
              <a:spAutoFit/>
            </a:bodyPr>
            <a:lstStyle/>
            <a:p>
              <a:pPr algn="ctr"/>
              <a:r>
                <a:rPr kumimoji="1" lang="en-US" altLang="ja-JP" sz="3200">
                  <a:latin typeface="HGS創英角ｺﾞｼｯｸUB" panose="020B0900000000000000" pitchFamily="50" charset="-128"/>
                  <a:ea typeface="HGS創英角ｺﾞｼｯｸUB" panose="020B0900000000000000" pitchFamily="50" charset="-128"/>
                </a:rPr>
                <a:t>1</a:t>
              </a:r>
              <a:r>
                <a:rPr kumimoji="1" lang="ja-JP" altLang="en-US" sz="3200">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2</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5</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a:t>
              </a:r>
              <a:r>
                <a:rPr kumimoji="1" lang="ja-JP" altLang="en-US" sz="3200">
                  <a:latin typeface="HGS創英角ｺﾞｼｯｸUB" panose="020B0900000000000000" pitchFamily="50" charset="-128"/>
                  <a:ea typeface="HGS創英角ｺﾞｼｯｸUB" panose="020B0900000000000000" pitchFamily="50" charset="-128"/>
                </a:rPr>
                <a:t>ー</a:t>
              </a:r>
              <a:r>
                <a:rPr kumimoji="1" lang="ja-JP" altLang="en-US" sz="3200" b="1">
                  <a:latin typeface="HGS創英角ｺﾞｼｯｸUB" panose="020B0900000000000000" pitchFamily="50" charset="-128"/>
                  <a:ea typeface="HGS創英角ｺﾞｼｯｸUB" panose="020B0900000000000000" pitchFamily="50" charset="-128"/>
                </a:rPr>
                <a:t>　</a:t>
              </a:r>
              <a:r>
                <a:rPr kumimoji="1" lang="en-US" altLang="ja-JP" sz="3200">
                  <a:latin typeface="HGS創英角ｺﾞｼｯｸUB" panose="020B0900000000000000" pitchFamily="50" charset="-128"/>
                  <a:ea typeface="HGS創英角ｺﾞｼｯｸUB" panose="020B0900000000000000" pitchFamily="50" charset="-128"/>
                </a:rPr>
                <a:t>4</a:t>
              </a:r>
              <a:r>
                <a:rPr kumimoji="1" lang="ja-JP" altLang="en-US" sz="3200">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3</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ー　</a:t>
              </a:r>
              <a:r>
                <a:rPr kumimoji="1" lang="en-US" altLang="ja-JP" sz="3200" b="1">
                  <a:solidFill>
                    <a:srgbClr val="FF0000"/>
                  </a:solidFill>
                  <a:latin typeface="HGS創英角ｺﾞｼｯｸUB" panose="020B0900000000000000" pitchFamily="50" charset="-128"/>
                  <a:ea typeface="HGS創英角ｺﾞｼｯｸUB" panose="020B0900000000000000" pitchFamily="50" charset="-128"/>
                </a:rPr>
                <a:t>6</a:t>
              </a:r>
              <a:r>
                <a:rPr kumimoji="1" lang="ja-JP" altLang="en-US" sz="3200" b="1">
                  <a:solidFill>
                    <a:srgbClr val="FF0000"/>
                  </a:solidFill>
                  <a:latin typeface="HGS創英角ｺﾞｼｯｸUB" panose="020B0900000000000000" pitchFamily="50" charset="-128"/>
                  <a:ea typeface="HGS創英角ｺﾞｼｯｸUB" panose="020B0900000000000000" pitchFamily="50" charset="-128"/>
                </a:rPr>
                <a:t>　</a:t>
              </a:r>
              <a:r>
                <a:rPr kumimoji="1" lang="ja-JP" altLang="en-US" sz="3200">
                  <a:latin typeface="HGS創英角ｺﾞｼｯｸUB" panose="020B0900000000000000" pitchFamily="50" charset="-128"/>
                  <a:ea typeface="HGS創英角ｺﾞｼｯｸUB" panose="020B0900000000000000" pitchFamily="50" charset="-128"/>
                </a:rPr>
                <a:t>ー　</a:t>
              </a:r>
              <a:r>
                <a:rPr kumimoji="1" lang="en-US" altLang="ja-JP" sz="3200">
                  <a:latin typeface="HGS創英角ｺﾞｼｯｸUB" panose="020B0900000000000000" pitchFamily="50" charset="-128"/>
                  <a:ea typeface="HGS創英角ｺﾞｼｯｸUB" panose="020B0900000000000000" pitchFamily="50" charset="-128"/>
                </a:rPr>
                <a:t>1</a:t>
              </a:r>
              <a:r>
                <a:rPr kumimoji="1" lang="ja-JP" altLang="en-US" sz="2800" b="1">
                  <a:latin typeface="HGS創英角ｺﾞｼｯｸUB" panose="020B0900000000000000" pitchFamily="50" charset="-128"/>
                  <a:ea typeface="HGS創英角ｺﾞｼｯｸUB" panose="020B0900000000000000" pitchFamily="50" charset="-128"/>
                </a:rPr>
                <a:t>　</a:t>
              </a:r>
            </a:p>
          </p:txBody>
        </p:sp>
        <p:sp>
          <p:nvSpPr>
            <p:cNvPr id="10" name="テキスト ボックス 9">
              <a:extLst>
                <a:ext uri="{FF2B5EF4-FFF2-40B4-BE49-F238E27FC236}">
                  <a16:creationId xmlns:a16="http://schemas.microsoft.com/office/drawing/2014/main" id="{1F87B2F2-3015-7C64-5510-F04B8863E833}"/>
                </a:ext>
              </a:extLst>
            </p:cNvPr>
            <p:cNvSpPr txBox="1"/>
            <p:nvPr/>
          </p:nvSpPr>
          <p:spPr>
            <a:xfrm>
              <a:off x="6382824" y="4166117"/>
              <a:ext cx="4308324" cy="461665"/>
            </a:xfrm>
            <a:prstGeom prst="rect">
              <a:avLst/>
            </a:prstGeom>
            <a:noFill/>
          </p:spPr>
          <p:txBody>
            <a:bodyPr wrap="square" rtlCol="0">
              <a:spAutoFit/>
            </a:bodyPr>
            <a:lstStyle/>
            <a:p>
              <a:pPr algn="ctr"/>
              <a:r>
                <a:rPr kumimoji="1" lang="en-US" altLang="ja-JP" sz="2400" b="1">
                  <a:latin typeface="HGS創英角ｺﾞｼｯｸUB" panose="020B0900000000000000" pitchFamily="50" charset="-128"/>
                  <a:ea typeface="HGS創英角ｺﾞｼｯｸUB" panose="020B0900000000000000" pitchFamily="50" charset="-128"/>
                </a:rPr>
                <a:t>2-3, 5-6</a:t>
              </a:r>
              <a:r>
                <a:rPr kumimoji="1" lang="ja-JP" altLang="en-US" sz="2400">
                  <a:latin typeface="HGS創英角ｺﾞｼｯｸUB" panose="020B0900000000000000" pitchFamily="50" charset="-128"/>
                  <a:ea typeface="HGS創英角ｺﾞｼｯｸUB" panose="020B0900000000000000" pitchFamily="50" charset="-128"/>
                </a:rPr>
                <a:t>の経路を付け替え</a:t>
              </a:r>
            </a:p>
          </p:txBody>
        </p:sp>
        <p:pic>
          <p:nvPicPr>
            <p:cNvPr id="11" name="図 10" descr="アイコン, 矢印&#10;&#10;AI によって生成されたコンテンツは間違っている可能性があります。">
              <a:extLst>
                <a:ext uri="{FF2B5EF4-FFF2-40B4-BE49-F238E27FC236}">
                  <a16:creationId xmlns:a16="http://schemas.microsoft.com/office/drawing/2014/main" id="{405B09A4-134A-6014-5AAE-D8D3F942817D}"/>
                </a:ext>
              </a:extLst>
            </p:cNvPr>
            <p:cNvPicPr>
              <a:picLocks noChangeAspect="1"/>
            </p:cNvPicPr>
            <p:nvPr/>
          </p:nvPicPr>
          <p:blipFill>
            <a:blip r:embed="rId2">
              <a:extLst>
                <a:ext uri="{28A0092B-C50C-407E-A947-70E740481C1C}">
                  <a14:useLocalDpi xmlns:a14="http://schemas.microsoft.com/office/drawing/2010/main" val="0"/>
                </a:ext>
              </a:extLst>
            </a:blip>
            <a:srcRect t="-2619" r="57858" b="57220"/>
            <a:stretch/>
          </p:blipFill>
          <p:spPr>
            <a:xfrm rot="5400000">
              <a:off x="5135129" y="4050160"/>
              <a:ext cx="831646" cy="864162"/>
            </a:xfrm>
            <a:prstGeom prst="rect">
              <a:avLst/>
            </a:prstGeom>
          </p:spPr>
        </p:pic>
        <p:pic>
          <p:nvPicPr>
            <p:cNvPr id="17" name="図 16" descr="アイコン&#10;&#10;AI によって生成されたコンテンツは間違っている可能性があります。">
              <a:extLst>
                <a:ext uri="{FF2B5EF4-FFF2-40B4-BE49-F238E27FC236}">
                  <a16:creationId xmlns:a16="http://schemas.microsoft.com/office/drawing/2014/main" id="{4803A238-872F-019F-C6FC-92B56801DD98}"/>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4371098" y="2520191"/>
              <a:ext cx="1005110" cy="709577"/>
            </a:xfrm>
            <a:prstGeom prst="rect">
              <a:avLst/>
            </a:prstGeom>
          </p:spPr>
        </p:pic>
        <p:pic>
          <p:nvPicPr>
            <p:cNvPr id="18" name="図 17" descr="アイコン&#10;&#10;AI によって生成されたコンテンツは間違っている可能性があります。">
              <a:extLst>
                <a:ext uri="{FF2B5EF4-FFF2-40B4-BE49-F238E27FC236}">
                  <a16:creationId xmlns:a16="http://schemas.microsoft.com/office/drawing/2014/main" id="{9E2A2D52-8CC3-4DB0-05AA-1101498EFD61}"/>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2905602" y="2553640"/>
              <a:ext cx="1005110" cy="709577"/>
            </a:xfrm>
            <a:prstGeom prst="rect">
              <a:avLst/>
            </a:prstGeom>
          </p:spPr>
        </p:pic>
        <p:pic>
          <p:nvPicPr>
            <p:cNvPr id="20" name="図 19" descr="アイコン&#10;&#10;AI によって生成されたコンテンツは間違っている可能性があります。">
              <a:extLst>
                <a:ext uri="{FF2B5EF4-FFF2-40B4-BE49-F238E27FC236}">
                  <a16:creationId xmlns:a16="http://schemas.microsoft.com/office/drawing/2014/main" id="{EFA1662F-2498-7465-0DBA-E7FA54578697}"/>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7343860" y="2488036"/>
              <a:ext cx="1005110" cy="709577"/>
            </a:xfrm>
            <a:prstGeom prst="rect">
              <a:avLst/>
            </a:prstGeom>
          </p:spPr>
        </p:pic>
        <p:pic>
          <p:nvPicPr>
            <p:cNvPr id="21" name="図 20" descr="アイコン&#10;&#10;AI によって生成されたコンテンツは間違っている可能性があります。">
              <a:extLst>
                <a:ext uri="{FF2B5EF4-FFF2-40B4-BE49-F238E27FC236}">
                  <a16:creationId xmlns:a16="http://schemas.microsoft.com/office/drawing/2014/main" id="{CFA82EC8-75E1-0681-0DD4-61D3EEF5C172}"/>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8851127" y="2515830"/>
              <a:ext cx="1005110" cy="709577"/>
            </a:xfrm>
            <a:prstGeom prst="rect">
              <a:avLst/>
            </a:prstGeom>
          </p:spPr>
        </p:pic>
        <p:pic>
          <p:nvPicPr>
            <p:cNvPr id="24" name="図 23" descr="アイコン&#10;&#10;AI によって生成されたコンテンツは間違っている可能性があります。">
              <a:extLst>
                <a:ext uri="{FF2B5EF4-FFF2-40B4-BE49-F238E27FC236}">
                  <a16:creationId xmlns:a16="http://schemas.microsoft.com/office/drawing/2014/main" id="{FCE7CB3B-03C6-EFFA-A24E-17404AF98930}"/>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2869328" y="5694906"/>
              <a:ext cx="1005110" cy="709577"/>
            </a:xfrm>
            <a:prstGeom prst="rect">
              <a:avLst/>
            </a:prstGeom>
          </p:spPr>
        </p:pic>
        <p:pic>
          <p:nvPicPr>
            <p:cNvPr id="25" name="図 24" descr="アイコン&#10;&#10;AI によって生成されたコンテンツは間違っている可能性があります。">
              <a:extLst>
                <a:ext uri="{FF2B5EF4-FFF2-40B4-BE49-F238E27FC236}">
                  <a16:creationId xmlns:a16="http://schemas.microsoft.com/office/drawing/2014/main" id="{6B5FD826-1416-63AD-FE20-74D09FC7A8F2}"/>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8814853" y="5657233"/>
              <a:ext cx="1005110" cy="709577"/>
            </a:xfrm>
            <a:prstGeom prst="rect">
              <a:avLst/>
            </a:prstGeom>
          </p:spPr>
        </p:pic>
        <p:pic>
          <p:nvPicPr>
            <p:cNvPr id="26" name="図 25" descr="アイコン&#10;&#10;AI によって生成されたコンテンツは間違っている可能性があります。">
              <a:extLst>
                <a:ext uri="{FF2B5EF4-FFF2-40B4-BE49-F238E27FC236}">
                  <a16:creationId xmlns:a16="http://schemas.microsoft.com/office/drawing/2014/main" id="{CC3B1F01-938D-C817-0545-063BC1BDE83F}"/>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7307586" y="5671690"/>
              <a:ext cx="1005110" cy="709577"/>
            </a:xfrm>
            <a:prstGeom prst="rect">
              <a:avLst/>
            </a:prstGeom>
          </p:spPr>
        </p:pic>
        <p:pic>
          <p:nvPicPr>
            <p:cNvPr id="27" name="図 26" descr="アイコン&#10;&#10;AI によって生成されたコンテンツは間違っている可能性があります。">
              <a:extLst>
                <a:ext uri="{FF2B5EF4-FFF2-40B4-BE49-F238E27FC236}">
                  <a16:creationId xmlns:a16="http://schemas.microsoft.com/office/drawing/2014/main" id="{5B41014B-AF1E-B782-1527-3306353E49CA}"/>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4419682" y="5629038"/>
              <a:ext cx="1005110" cy="709577"/>
            </a:xfrm>
            <a:prstGeom prst="rect">
              <a:avLst/>
            </a:prstGeom>
          </p:spPr>
        </p:pic>
      </p:grpSp>
      <p:grpSp>
        <p:nvGrpSpPr>
          <p:cNvPr id="77" name="グループ化 76" hidden="1">
            <a:extLst>
              <a:ext uri="{FF2B5EF4-FFF2-40B4-BE49-F238E27FC236}">
                <a16:creationId xmlns:a16="http://schemas.microsoft.com/office/drawing/2014/main" id="{217A96F2-9B4D-5408-89ED-8784942E7658}"/>
              </a:ext>
            </a:extLst>
          </p:cNvPr>
          <p:cNvGrpSpPr/>
          <p:nvPr/>
        </p:nvGrpSpPr>
        <p:grpSpPr>
          <a:xfrm>
            <a:off x="4810125" y="23057"/>
            <a:ext cx="6935599" cy="2302783"/>
            <a:chOff x="4810125" y="23057"/>
            <a:chExt cx="6935599" cy="2302783"/>
          </a:xfrm>
        </p:grpSpPr>
        <p:pic>
          <p:nvPicPr>
            <p:cNvPr id="29" name="図 28" descr="アイコン&#10;&#10;AI によって生成されたコンテンツは間違っている可能性があります。">
              <a:extLst>
                <a:ext uri="{FF2B5EF4-FFF2-40B4-BE49-F238E27FC236}">
                  <a16:creationId xmlns:a16="http://schemas.microsoft.com/office/drawing/2014/main" id="{7CCD749D-718E-C9B0-DCFA-E607743394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10125" y="447828"/>
              <a:ext cx="617299" cy="900799"/>
            </a:xfrm>
            <a:prstGeom prst="rect">
              <a:avLst/>
            </a:prstGeom>
          </p:spPr>
        </p:pic>
        <p:pic>
          <p:nvPicPr>
            <p:cNvPr id="31" name="図 30" descr="グラフィカル ユーザー インターフェイス, ダイアグラム&#10;&#10;AI によって生成されたコンテンツは間違っている可能性があります。">
              <a:extLst>
                <a:ext uri="{FF2B5EF4-FFF2-40B4-BE49-F238E27FC236}">
                  <a16:creationId xmlns:a16="http://schemas.microsoft.com/office/drawing/2014/main" id="{EAF4611B-E1B2-75DE-19AD-9225C477D3E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93780" y="722665"/>
              <a:ext cx="1051944" cy="584776"/>
            </a:xfrm>
            <a:prstGeom prst="rect">
              <a:avLst/>
            </a:prstGeom>
          </p:spPr>
        </p:pic>
        <p:pic>
          <p:nvPicPr>
            <p:cNvPr id="32" name="図 31" descr="アイコン&#10;&#10;AI によって生成されたコンテンツは間違っている可能性があります。">
              <a:extLst>
                <a:ext uri="{FF2B5EF4-FFF2-40B4-BE49-F238E27FC236}">
                  <a16:creationId xmlns:a16="http://schemas.microsoft.com/office/drawing/2014/main" id="{8DA82C89-BDBB-714C-56FA-7A3FB17A8EB2}"/>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8483538" y="1320044"/>
              <a:ext cx="1005110" cy="709577"/>
            </a:xfrm>
            <a:prstGeom prst="rect">
              <a:avLst/>
            </a:prstGeom>
          </p:spPr>
        </p:pic>
        <p:pic>
          <p:nvPicPr>
            <p:cNvPr id="33" name="図 32" descr="アイコン&#10;&#10;AI によって生成されたコンテンツは間違っている可能性があります。">
              <a:extLst>
                <a:ext uri="{FF2B5EF4-FFF2-40B4-BE49-F238E27FC236}">
                  <a16:creationId xmlns:a16="http://schemas.microsoft.com/office/drawing/2014/main" id="{68D384FF-512D-C197-C367-6C378207496D}"/>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6385456" y="23057"/>
              <a:ext cx="1005110" cy="709577"/>
            </a:xfrm>
            <a:prstGeom prst="rect">
              <a:avLst/>
            </a:prstGeom>
          </p:spPr>
        </p:pic>
        <p:pic>
          <p:nvPicPr>
            <p:cNvPr id="34" name="図 33" descr="アイコン&#10;&#10;AI によって生成されたコンテンツは間違っている可能性があります。">
              <a:extLst>
                <a:ext uri="{FF2B5EF4-FFF2-40B4-BE49-F238E27FC236}">
                  <a16:creationId xmlns:a16="http://schemas.microsoft.com/office/drawing/2014/main" id="{7BFAC94F-E76B-6DBA-0D83-EEE73ADEA305}"/>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8483538" y="79765"/>
              <a:ext cx="1005110" cy="709577"/>
            </a:xfrm>
            <a:prstGeom prst="rect">
              <a:avLst/>
            </a:prstGeom>
          </p:spPr>
        </p:pic>
        <p:pic>
          <p:nvPicPr>
            <p:cNvPr id="35" name="図 34" descr="アイコン&#10;&#10;AI によって生成されたコンテンツは間違っている可能性があります。">
              <a:extLst>
                <a:ext uri="{FF2B5EF4-FFF2-40B4-BE49-F238E27FC236}">
                  <a16:creationId xmlns:a16="http://schemas.microsoft.com/office/drawing/2014/main" id="{C1F1A743-E0DE-EBA8-B00F-963512D0C5C8}"/>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6423033" y="1350483"/>
              <a:ext cx="1005110" cy="709577"/>
            </a:xfrm>
            <a:prstGeom prst="rect">
              <a:avLst/>
            </a:prstGeom>
          </p:spPr>
        </p:pic>
        <p:cxnSp>
          <p:nvCxnSpPr>
            <p:cNvPr id="45" name="直線矢印コネクタ 44">
              <a:extLst>
                <a:ext uri="{FF2B5EF4-FFF2-40B4-BE49-F238E27FC236}">
                  <a16:creationId xmlns:a16="http://schemas.microsoft.com/office/drawing/2014/main" id="{1E6EF78F-CABF-94EB-F36B-B0631A7F41C2}"/>
                </a:ext>
              </a:extLst>
            </p:cNvPr>
            <p:cNvCxnSpPr>
              <a:cxnSpLocks/>
              <a:stCxn id="33" idx="3"/>
              <a:endCxn id="32" idx="1"/>
            </p:cNvCxnSpPr>
            <p:nvPr/>
          </p:nvCxnSpPr>
          <p:spPr>
            <a:xfrm>
              <a:off x="7390566" y="377846"/>
              <a:ext cx="1092972" cy="1296987"/>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6" name="直線矢印コネクタ 45">
              <a:extLst>
                <a:ext uri="{FF2B5EF4-FFF2-40B4-BE49-F238E27FC236}">
                  <a16:creationId xmlns:a16="http://schemas.microsoft.com/office/drawing/2014/main" id="{730FF158-53AD-4A95-FFCE-799B346BA251}"/>
                </a:ext>
              </a:extLst>
            </p:cNvPr>
            <p:cNvCxnSpPr>
              <a:cxnSpLocks/>
              <a:stCxn id="32" idx="3"/>
            </p:cNvCxnSpPr>
            <p:nvPr/>
          </p:nvCxnSpPr>
          <p:spPr>
            <a:xfrm flipV="1">
              <a:off x="9488648" y="1270972"/>
              <a:ext cx="1055395" cy="40386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53738738-BA3E-2A2C-0E60-AD1B146C173C}"/>
                </a:ext>
              </a:extLst>
            </p:cNvPr>
            <p:cNvCxnSpPr>
              <a:cxnSpLocks/>
              <a:endCxn id="34" idx="3"/>
            </p:cNvCxnSpPr>
            <p:nvPr/>
          </p:nvCxnSpPr>
          <p:spPr>
            <a:xfrm flipH="1" flipV="1">
              <a:off x="9488648" y="434554"/>
              <a:ext cx="1055395" cy="39367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2" name="直線矢印コネクタ 51">
              <a:extLst>
                <a:ext uri="{FF2B5EF4-FFF2-40B4-BE49-F238E27FC236}">
                  <a16:creationId xmlns:a16="http://schemas.microsoft.com/office/drawing/2014/main" id="{240E8A1F-EB03-2F01-7077-703C084153AA}"/>
                </a:ext>
              </a:extLst>
            </p:cNvPr>
            <p:cNvCxnSpPr>
              <a:cxnSpLocks/>
              <a:endCxn id="35" idx="3"/>
            </p:cNvCxnSpPr>
            <p:nvPr/>
          </p:nvCxnSpPr>
          <p:spPr>
            <a:xfrm flipH="1">
              <a:off x="7428143" y="447828"/>
              <a:ext cx="1017818" cy="125744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56" name="直線矢印コネクタ 55">
              <a:extLst>
                <a:ext uri="{FF2B5EF4-FFF2-40B4-BE49-F238E27FC236}">
                  <a16:creationId xmlns:a16="http://schemas.microsoft.com/office/drawing/2014/main" id="{5BD7C3C0-0E3D-52A4-C849-E1E731D2BDA0}"/>
                </a:ext>
              </a:extLst>
            </p:cNvPr>
            <p:cNvCxnSpPr>
              <a:cxnSpLocks/>
            </p:cNvCxnSpPr>
            <p:nvPr/>
          </p:nvCxnSpPr>
          <p:spPr>
            <a:xfrm flipH="1" flipV="1">
              <a:off x="5573672" y="1205965"/>
              <a:ext cx="761499" cy="54435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直線矢印コネクタ 59">
              <a:extLst>
                <a:ext uri="{FF2B5EF4-FFF2-40B4-BE49-F238E27FC236}">
                  <a16:creationId xmlns:a16="http://schemas.microsoft.com/office/drawing/2014/main" id="{AA24840A-40CA-B1C5-7AA1-69EFB99804BA}"/>
                </a:ext>
              </a:extLst>
            </p:cNvPr>
            <p:cNvCxnSpPr>
              <a:cxnSpLocks/>
              <a:endCxn id="33" idx="1"/>
            </p:cNvCxnSpPr>
            <p:nvPr/>
          </p:nvCxnSpPr>
          <p:spPr>
            <a:xfrm flipV="1">
              <a:off x="5661085" y="377846"/>
              <a:ext cx="724371" cy="51459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6AB70367-1A11-3E82-14ED-14DE6D6B0BCD}"/>
                </a:ext>
              </a:extLst>
            </p:cNvPr>
            <p:cNvCxnSpPr>
              <a:cxnSpLocks/>
            </p:cNvCxnSpPr>
            <p:nvPr/>
          </p:nvCxnSpPr>
          <p:spPr>
            <a:xfrm>
              <a:off x="7390566" y="339184"/>
              <a:ext cx="1092972" cy="5670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線矢印コネクタ 63">
              <a:extLst>
                <a:ext uri="{FF2B5EF4-FFF2-40B4-BE49-F238E27FC236}">
                  <a16:creationId xmlns:a16="http://schemas.microsoft.com/office/drawing/2014/main" id="{82192ED8-2A37-55DA-7FFB-CDE782E79BE2}"/>
                </a:ext>
              </a:extLst>
            </p:cNvPr>
            <p:cNvCxnSpPr>
              <a:cxnSpLocks/>
            </p:cNvCxnSpPr>
            <p:nvPr/>
          </p:nvCxnSpPr>
          <p:spPr>
            <a:xfrm flipH="1">
              <a:off x="7430678" y="1768801"/>
              <a:ext cx="1055395" cy="18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6" name="テキスト ボックス 65">
              <a:extLst>
                <a:ext uri="{FF2B5EF4-FFF2-40B4-BE49-F238E27FC236}">
                  <a16:creationId xmlns:a16="http://schemas.microsoft.com/office/drawing/2014/main" id="{C000F583-2DD5-2F05-FF11-DA1D9EB5765E}"/>
                </a:ext>
              </a:extLst>
            </p:cNvPr>
            <p:cNvSpPr txBox="1"/>
            <p:nvPr/>
          </p:nvSpPr>
          <p:spPr>
            <a:xfrm>
              <a:off x="4915542" y="1367645"/>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1</a:t>
              </a:r>
            </a:p>
          </p:txBody>
        </p:sp>
        <p:sp>
          <p:nvSpPr>
            <p:cNvPr id="67" name="テキスト ボックス 66">
              <a:extLst>
                <a:ext uri="{FF2B5EF4-FFF2-40B4-BE49-F238E27FC236}">
                  <a16:creationId xmlns:a16="http://schemas.microsoft.com/office/drawing/2014/main" id="{BBF25C4E-25BA-2149-0C56-458F8E3B3432}"/>
                </a:ext>
              </a:extLst>
            </p:cNvPr>
            <p:cNvSpPr txBox="1"/>
            <p:nvPr/>
          </p:nvSpPr>
          <p:spPr>
            <a:xfrm>
              <a:off x="6758904" y="598683"/>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2</a:t>
              </a:r>
            </a:p>
          </p:txBody>
        </p:sp>
        <p:sp>
          <p:nvSpPr>
            <p:cNvPr id="68" name="テキスト ボックス 67">
              <a:extLst>
                <a:ext uri="{FF2B5EF4-FFF2-40B4-BE49-F238E27FC236}">
                  <a16:creationId xmlns:a16="http://schemas.microsoft.com/office/drawing/2014/main" id="{87F6AA53-DE96-9519-3356-8FDA1A00F4A2}"/>
                </a:ext>
              </a:extLst>
            </p:cNvPr>
            <p:cNvSpPr txBox="1"/>
            <p:nvPr/>
          </p:nvSpPr>
          <p:spPr>
            <a:xfrm>
              <a:off x="8872050" y="1925338"/>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3</a:t>
              </a:r>
            </a:p>
          </p:txBody>
        </p:sp>
        <p:sp>
          <p:nvSpPr>
            <p:cNvPr id="69" name="テキスト ボックス 68">
              <a:extLst>
                <a:ext uri="{FF2B5EF4-FFF2-40B4-BE49-F238E27FC236}">
                  <a16:creationId xmlns:a16="http://schemas.microsoft.com/office/drawing/2014/main" id="{A5281594-7A2F-79DE-38E3-4DCC9EE7A735}"/>
                </a:ext>
              </a:extLst>
            </p:cNvPr>
            <p:cNvSpPr txBox="1"/>
            <p:nvPr/>
          </p:nvSpPr>
          <p:spPr>
            <a:xfrm>
              <a:off x="11070643" y="1302953"/>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4</a:t>
              </a:r>
            </a:p>
          </p:txBody>
        </p:sp>
        <p:sp>
          <p:nvSpPr>
            <p:cNvPr id="70" name="テキスト ボックス 69">
              <a:extLst>
                <a:ext uri="{FF2B5EF4-FFF2-40B4-BE49-F238E27FC236}">
                  <a16:creationId xmlns:a16="http://schemas.microsoft.com/office/drawing/2014/main" id="{82FED66C-49BE-322B-8D93-45235BA4DCA8}"/>
                </a:ext>
              </a:extLst>
            </p:cNvPr>
            <p:cNvSpPr txBox="1"/>
            <p:nvPr/>
          </p:nvSpPr>
          <p:spPr>
            <a:xfrm>
              <a:off x="8830518" y="706799"/>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5</a:t>
              </a:r>
            </a:p>
          </p:txBody>
        </p:sp>
        <p:sp>
          <p:nvSpPr>
            <p:cNvPr id="71" name="テキスト ボックス 70">
              <a:extLst>
                <a:ext uri="{FF2B5EF4-FFF2-40B4-BE49-F238E27FC236}">
                  <a16:creationId xmlns:a16="http://schemas.microsoft.com/office/drawing/2014/main" id="{D077E456-07C6-A304-FFC8-E78B52C88F05}"/>
                </a:ext>
              </a:extLst>
            </p:cNvPr>
            <p:cNvSpPr txBox="1"/>
            <p:nvPr/>
          </p:nvSpPr>
          <p:spPr>
            <a:xfrm>
              <a:off x="6735860" y="1956508"/>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6</a:t>
              </a:r>
            </a:p>
          </p:txBody>
        </p:sp>
        <p:cxnSp>
          <p:nvCxnSpPr>
            <p:cNvPr id="73" name="直線矢印コネクタ 72">
              <a:extLst>
                <a:ext uri="{FF2B5EF4-FFF2-40B4-BE49-F238E27FC236}">
                  <a16:creationId xmlns:a16="http://schemas.microsoft.com/office/drawing/2014/main" id="{865839FD-AD07-F2A6-FB77-96D8A996626C}"/>
                </a:ext>
              </a:extLst>
            </p:cNvPr>
            <p:cNvCxnSpPr>
              <a:cxnSpLocks/>
            </p:cNvCxnSpPr>
            <p:nvPr/>
          </p:nvCxnSpPr>
          <p:spPr>
            <a:xfrm>
              <a:off x="9426976" y="518858"/>
              <a:ext cx="1066782" cy="37936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矢印コネクタ 74">
              <a:extLst>
                <a:ext uri="{FF2B5EF4-FFF2-40B4-BE49-F238E27FC236}">
                  <a16:creationId xmlns:a16="http://schemas.microsoft.com/office/drawing/2014/main" id="{4A8C4201-3D44-7B8A-BDDC-047E5C1D8FD0}"/>
                </a:ext>
              </a:extLst>
            </p:cNvPr>
            <p:cNvCxnSpPr>
              <a:cxnSpLocks/>
            </p:cNvCxnSpPr>
            <p:nvPr/>
          </p:nvCxnSpPr>
          <p:spPr>
            <a:xfrm flipH="1">
              <a:off x="9498821" y="1374329"/>
              <a:ext cx="1051497" cy="42327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5" name="スライド番号プレースホルダー 4">
            <a:extLst>
              <a:ext uri="{FF2B5EF4-FFF2-40B4-BE49-F238E27FC236}">
                <a16:creationId xmlns:a16="http://schemas.microsoft.com/office/drawing/2014/main" id="{95AD50B4-0A6B-5A9F-0010-441428F6D1AD}"/>
              </a:ext>
            </a:extLst>
          </p:cNvPr>
          <p:cNvSpPr>
            <a:spLocks noGrp="1"/>
          </p:cNvSpPr>
          <p:nvPr>
            <p:ph type="sldNum" sz="quarter" idx="12"/>
          </p:nvPr>
        </p:nvSpPr>
        <p:spPr/>
        <p:txBody>
          <a:bodyPr/>
          <a:lstStyle/>
          <a:p>
            <a:fld id="{9E365578-86CB-437F-8A21-C7B14E4ACE69}" type="slidenum">
              <a:rPr kumimoji="1" lang="ja-JP" altLang="en-US" sz="2000" smtClean="0"/>
              <a:t>10</a:t>
            </a:fld>
            <a:endParaRPr kumimoji="1" lang="ja-JP" altLang="en-US" sz="2000" dirty="0"/>
          </a:p>
        </p:txBody>
      </p:sp>
      <p:grpSp>
        <p:nvGrpSpPr>
          <p:cNvPr id="51" name="グループ化 50">
            <a:extLst>
              <a:ext uri="{FF2B5EF4-FFF2-40B4-BE49-F238E27FC236}">
                <a16:creationId xmlns:a16="http://schemas.microsoft.com/office/drawing/2014/main" id="{C1D0C904-B59F-A1FB-C19B-83E22C2F84A1}"/>
              </a:ext>
            </a:extLst>
          </p:cNvPr>
          <p:cNvGrpSpPr/>
          <p:nvPr/>
        </p:nvGrpSpPr>
        <p:grpSpPr>
          <a:xfrm>
            <a:off x="4979583" y="182491"/>
            <a:ext cx="6556642" cy="2176961"/>
            <a:chOff x="567926" y="1593548"/>
            <a:chExt cx="11056148" cy="3670904"/>
          </a:xfrm>
        </p:grpSpPr>
        <p:pic>
          <p:nvPicPr>
            <p:cNvPr id="7" name="図 6" descr="アイコン&#10;&#10;AI によって生成されたコンテンツは間違っている可能性があります。">
              <a:extLst>
                <a:ext uri="{FF2B5EF4-FFF2-40B4-BE49-F238E27FC236}">
                  <a16:creationId xmlns:a16="http://schemas.microsoft.com/office/drawing/2014/main" id="{7E9A08B6-2626-9443-63D1-69D87F18C6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7926" y="2270682"/>
              <a:ext cx="984046" cy="1435978"/>
            </a:xfrm>
            <a:prstGeom prst="rect">
              <a:avLst/>
            </a:prstGeom>
          </p:spPr>
        </p:pic>
        <p:pic>
          <p:nvPicPr>
            <p:cNvPr id="9" name="図 8" descr="グラフィカル ユーザー インターフェイス, ダイアグラム&#10;&#10;AI によって生成されたコンテンツは間違っている可能性があります。">
              <a:extLst>
                <a:ext uri="{FF2B5EF4-FFF2-40B4-BE49-F238E27FC236}">
                  <a16:creationId xmlns:a16="http://schemas.microsoft.com/office/drawing/2014/main" id="{C25A13F0-E88F-A6E2-2263-E9CE9B1CCB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47153" y="2708805"/>
              <a:ext cx="1676921" cy="932201"/>
            </a:xfrm>
            <a:prstGeom prst="rect">
              <a:avLst/>
            </a:prstGeom>
          </p:spPr>
        </p:pic>
        <p:pic>
          <p:nvPicPr>
            <p:cNvPr id="13" name="図 12" descr="アイコン&#10;&#10;AI によって生成されたコンテンツは間違っている可能性があります。">
              <a:extLst>
                <a:ext uri="{FF2B5EF4-FFF2-40B4-BE49-F238E27FC236}">
                  <a16:creationId xmlns:a16="http://schemas.microsoft.com/office/drawing/2014/main" id="{BB83EFA6-DD1A-76DD-0369-18DC758E7DF4}"/>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6423772" y="3661096"/>
              <a:ext cx="1602262" cy="1131148"/>
            </a:xfrm>
            <a:prstGeom prst="rect">
              <a:avLst/>
            </a:prstGeom>
          </p:spPr>
        </p:pic>
        <p:pic>
          <p:nvPicPr>
            <p:cNvPr id="14" name="図 13" descr="アイコン&#10;&#10;AI によって生成されたコンテンツは間違っている可能性があります。">
              <a:extLst>
                <a:ext uri="{FF2B5EF4-FFF2-40B4-BE49-F238E27FC236}">
                  <a16:creationId xmlns:a16="http://schemas.microsoft.com/office/drawing/2014/main" id="{8E7386BD-00A2-5EAC-DD4B-735CE909387E}"/>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3079186" y="1593548"/>
              <a:ext cx="1602262" cy="1131148"/>
            </a:xfrm>
            <a:prstGeom prst="rect">
              <a:avLst/>
            </a:prstGeom>
          </p:spPr>
        </p:pic>
        <p:pic>
          <p:nvPicPr>
            <p:cNvPr id="16" name="図 15" descr="アイコン&#10;&#10;AI によって生成されたコンテンツは間違っている可能性があります。">
              <a:extLst>
                <a:ext uri="{FF2B5EF4-FFF2-40B4-BE49-F238E27FC236}">
                  <a16:creationId xmlns:a16="http://schemas.microsoft.com/office/drawing/2014/main" id="{AAE44E81-EBBA-BD2C-9978-9CF340AEB755}"/>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6423772" y="1683947"/>
              <a:ext cx="1602262" cy="1131148"/>
            </a:xfrm>
            <a:prstGeom prst="rect">
              <a:avLst/>
            </a:prstGeom>
          </p:spPr>
        </p:pic>
        <p:pic>
          <p:nvPicPr>
            <p:cNvPr id="19" name="図 18" descr="アイコン&#10;&#10;AI によって生成されたコンテンツは間違っている可能性があります。">
              <a:extLst>
                <a:ext uri="{FF2B5EF4-FFF2-40B4-BE49-F238E27FC236}">
                  <a16:creationId xmlns:a16="http://schemas.microsoft.com/office/drawing/2014/main" id="{8F8F1430-9B53-0E59-FB15-F8FD9B311354}"/>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3139088" y="3709619"/>
              <a:ext cx="1602262" cy="1131148"/>
            </a:xfrm>
            <a:prstGeom prst="rect">
              <a:avLst/>
            </a:prstGeom>
          </p:spPr>
        </p:pic>
        <p:cxnSp>
          <p:nvCxnSpPr>
            <p:cNvPr id="22" name="直線矢印コネクタ 21">
              <a:extLst>
                <a:ext uri="{FF2B5EF4-FFF2-40B4-BE49-F238E27FC236}">
                  <a16:creationId xmlns:a16="http://schemas.microsoft.com/office/drawing/2014/main" id="{9BA7D45A-4278-E5FC-1EBB-4741CD9B5C65}"/>
                </a:ext>
              </a:extLst>
            </p:cNvPr>
            <p:cNvCxnSpPr>
              <a:cxnSpLocks/>
              <a:stCxn id="14" idx="3"/>
              <a:endCxn id="13" idx="1"/>
            </p:cNvCxnSpPr>
            <p:nvPr/>
          </p:nvCxnSpPr>
          <p:spPr>
            <a:xfrm>
              <a:off x="4681448" y="2159123"/>
              <a:ext cx="1742324" cy="2067548"/>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直線矢印コネクタ 22">
              <a:extLst>
                <a:ext uri="{FF2B5EF4-FFF2-40B4-BE49-F238E27FC236}">
                  <a16:creationId xmlns:a16="http://schemas.microsoft.com/office/drawing/2014/main" id="{E51FE43C-1AFE-3C62-D94B-4AB0F8545D1E}"/>
                </a:ext>
              </a:extLst>
            </p:cNvPr>
            <p:cNvCxnSpPr>
              <a:cxnSpLocks/>
              <a:stCxn id="13" idx="3"/>
            </p:cNvCxnSpPr>
            <p:nvPr/>
          </p:nvCxnSpPr>
          <p:spPr>
            <a:xfrm flipV="1">
              <a:off x="8026033" y="3582870"/>
              <a:ext cx="1682422" cy="64380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 name="直線矢印コネクタ 27">
              <a:extLst>
                <a:ext uri="{FF2B5EF4-FFF2-40B4-BE49-F238E27FC236}">
                  <a16:creationId xmlns:a16="http://schemas.microsoft.com/office/drawing/2014/main" id="{71F80DE5-4087-1281-78DC-9F188CFEE0ED}"/>
                </a:ext>
              </a:extLst>
            </p:cNvPr>
            <p:cNvCxnSpPr>
              <a:cxnSpLocks/>
              <a:endCxn id="16" idx="3"/>
            </p:cNvCxnSpPr>
            <p:nvPr/>
          </p:nvCxnSpPr>
          <p:spPr>
            <a:xfrm flipH="1" flipV="1">
              <a:off x="8026033" y="2249522"/>
              <a:ext cx="1682422" cy="62756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0" name="直線矢印コネクタ 29">
              <a:extLst>
                <a:ext uri="{FF2B5EF4-FFF2-40B4-BE49-F238E27FC236}">
                  <a16:creationId xmlns:a16="http://schemas.microsoft.com/office/drawing/2014/main" id="{6AFFD7E9-7662-10A0-292D-13B448405B74}"/>
                </a:ext>
              </a:extLst>
            </p:cNvPr>
            <p:cNvCxnSpPr>
              <a:cxnSpLocks/>
              <a:endCxn id="19" idx="3"/>
            </p:cNvCxnSpPr>
            <p:nvPr/>
          </p:nvCxnSpPr>
          <p:spPr>
            <a:xfrm flipH="1">
              <a:off x="4741350" y="2270682"/>
              <a:ext cx="1622520" cy="2004512"/>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6" name="直線矢印コネクタ 35">
              <a:extLst>
                <a:ext uri="{FF2B5EF4-FFF2-40B4-BE49-F238E27FC236}">
                  <a16:creationId xmlns:a16="http://schemas.microsoft.com/office/drawing/2014/main" id="{A8B914A9-5F43-BC7E-0C6B-089E83E18F7A}"/>
                </a:ext>
              </a:extLst>
            </p:cNvPr>
            <p:cNvCxnSpPr>
              <a:cxnSpLocks/>
            </p:cNvCxnSpPr>
            <p:nvPr/>
          </p:nvCxnSpPr>
          <p:spPr>
            <a:xfrm flipH="1" flipV="1">
              <a:off x="1785108" y="3479241"/>
              <a:ext cx="1213918" cy="86776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7" name="直線矢印コネクタ 36">
              <a:extLst>
                <a:ext uri="{FF2B5EF4-FFF2-40B4-BE49-F238E27FC236}">
                  <a16:creationId xmlns:a16="http://schemas.microsoft.com/office/drawing/2014/main" id="{7F8E3321-C652-6E07-CF0F-978904638D40}"/>
                </a:ext>
              </a:extLst>
            </p:cNvPr>
            <p:cNvCxnSpPr>
              <a:cxnSpLocks/>
              <a:endCxn id="14" idx="1"/>
            </p:cNvCxnSpPr>
            <p:nvPr/>
          </p:nvCxnSpPr>
          <p:spPr>
            <a:xfrm flipV="1">
              <a:off x="1924455" y="2159123"/>
              <a:ext cx="1154731" cy="820320"/>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8" name="直線矢印コネクタ 37">
              <a:extLst>
                <a:ext uri="{FF2B5EF4-FFF2-40B4-BE49-F238E27FC236}">
                  <a16:creationId xmlns:a16="http://schemas.microsoft.com/office/drawing/2014/main" id="{058479E1-AD5B-2E1A-09D6-086E08F5ACD2}"/>
                </a:ext>
              </a:extLst>
            </p:cNvPr>
            <p:cNvCxnSpPr>
              <a:cxnSpLocks/>
            </p:cNvCxnSpPr>
            <p:nvPr/>
          </p:nvCxnSpPr>
          <p:spPr>
            <a:xfrm>
              <a:off x="4681448" y="2097491"/>
              <a:ext cx="1742324" cy="9039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矢印コネクタ 38">
              <a:extLst>
                <a:ext uri="{FF2B5EF4-FFF2-40B4-BE49-F238E27FC236}">
                  <a16:creationId xmlns:a16="http://schemas.microsoft.com/office/drawing/2014/main" id="{800EFC94-5943-A62C-9986-29D4511106DE}"/>
                </a:ext>
              </a:extLst>
            </p:cNvPr>
            <p:cNvCxnSpPr>
              <a:cxnSpLocks/>
            </p:cNvCxnSpPr>
            <p:nvPr/>
          </p:nvCxnSpPr>
          <p:spPr>
            <a:xfrm flipH="1">
              <a:off x="4745391" y="4376467"/>
              <a:ext cx="1682422" cy="297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2E60D776-1E99-7DAF-2D13-8D018D3EC414}"/>
                </a:ext>
              </a:extLst>
            </p:cNvPr>
            <p:cNvSpPr txBox="1"/>
            <p:nvPr/>
          </p:nvSpPr>
          <p:spPr>
            <a:xfrm>
              <a:off x="735973" y="3736978"/>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1</a:t>
              </a:r>
            </a:p>
          </p:txBody>
        </p:sp>
        <p:sp>
          <p:nvSpPr>
            <p:cNvPr id="41" name="テキスト ボックス 40">
              <a:extLst>
                <a:ext uri="{FF2B5EF4-FFF2-40B4-BE49-F238E27FC236}">
                  <a16:creationId xmlns:a16="http://schemas.microsoft.com/office/drawing/2014/main" id="{9AEF2D67-5C22-6ECE-01C2-1C0CDC30B3A6}"/>
                </a:ext>
              </a:extLst>
            </p:cNvPr>
            <p:cNvSpPr txBox="1"/>
            <p:nvPr/>
          </p:nvSpPr>
          <p:spPr>
            <a:xfrm>
              <a:off x="3674505" y="2511163"/>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2</a:t>
              </a:r>
            </a:p>
          </p:txBody>
        </p:sp>
        <p:sp>
          <p:nvSpPr>
            <p:cNvPr id="42" name="テキスト ボックス 41">
              <a:extLst>
                <a:ext uri="{FF2B5EF4-FFF2-40B4-BE49-F238E27FC236}">
                  <a16:creationId xmlns:a16="http://schemas.microsoft.com/office/drawing/2014/main" id="{1AFBAADE-B243-3A6D-DDA6-28F269752358}"/>
                </a:ext>
              </a:extLst>
            </p:cNvPr>
            <p:cNvSpPr txBox="1"/>
            <p:nvPr/>
          </p:nvSpPr>
          <p:spPr>
            <a:xfrm>
              <a:off x="7043105" y="4626005"/>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3</a:t>
              </a:r>
            </a:p>
          </p:txBody>
        </p:sp>
        <p:sp>
          <p:nvSpPr>
            <p:cNvPr id="43" name="テキスト ボックス 42">
              <a:extLst>
                <a:ext uri="{FF2B5EF4-FFF2-40B4-BE49-F238E27FC236}">
                  <a16:creationId xmlns:a16="http://schemas.microsoft.com/office/drawing/2014/main" id="{AC02FA0B-2281-5CF9-8839-32D5DAB7B046}"/>
                </a:ext>
              </a:extLst>
            </p:cNvPr>
            <p:cNvSpPr txBox="1"/>
            <p:nvPr/>
          </p:nvSpPr>
          <p:spPr>
            <a:xfrm>
              <a:off x="10547917" y="3633851"/>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4</a:t>
              </a:r>
            </a:p>
          </p:txBody>
        </p:sp>
        <p:sp>
          <p:nvSpPr>
            <p:cNvPr id="44" name="テキスト ボックス 43">
              <a:extLst>
                <a:ext uri="{FF2B5EF4-FFF2-40B4-BE49-F238E27FC236}">
                  <a16:creationId xmlns:a16="http://schemas.microsoft.com/office/drawing/2014/main" id="{8A37AE0D-694A-3DDF-646C-1577E2432CEC}"/>
                </a:ext>
              </a:extLst>
            </p:cNvPr>
            <p:cNvSpPr txBox="1"/>
            <p:nvPr/>
          </p:nvSpPr>
          <p:spPr>
            <a:xfrm>
              <a:off x="6976898" y="2683512"/>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5</a:t>
              </a:r>
            </a:p>
          </p:txBody>
        </p:sp>
        <p:sp>
          <p:nvSpPr>
            <p:cNvPr id="47" name="テキスト ボックス 46">
              <a:extLst>
                <a:ext uri="{FF2B5EF4-FFF2-40B4-BE49-F238E27FC236}">
                  <a16:creationId xmlns:a16="http://schemas.microsoft.com/office/drawing/2014/main" id="{90C8C337-36F0-2380-9644-8F240FFFE645}"/>
                </a:ext>
              </a:extLst>
            </p:cNvPr>
            <p:cNvSpPr txBox="1"/>
            <p:nvPr/>
          </p:nvSpPr>
          <p:spPr>
            <a:xfrm>
              <a:off x="3637771" y="4675694"/>
              <a:ext cx="848726" cy="588758"/>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6</a:t>
              </a:r>
            </a:p>
          </p:txBody>
        </p:sp>
        <p:cxnSp>
          <p:nvCxnSpPr>
            <p:cNvPr id="48" name="直線矢印コネクタ 47">
              <a:extLst>
                <a:ext uri="{FF2B5EF4-FFF2-40B4-BE49-F238E27FC236}">
                  <a16:creationId xmlns:a16="http://schemas.microsoft.com/office/drawing/2014/main" id="{F2F8A885-732B-6716-D669-4823030F1895}"/>
                </a:ext>
              </a:extLst>
            </p:cNvPr>
            <p:cNvCxnSpPr>
              <a:cxnSpLocks/>
            </p:cNvCxnSpPr>
            <p:nvPr/>
          </p:nvCxnSpPr>
          <p:spPr>
            <a:xfrm>
              <a:off x="7966132" y="2394000"/>
              <a:ext cx="1700574" cy="60475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矢印コネクタ 49">
              <a:extLst>
                <a:ext uri="{FF2B5EF4-FFF2-40B4-BE49-F238E27FC236}">
                  <a16:creationId xmlns:a16="http://schemas.microsoft.com/office/drawing/2014/main" id="{322B3851-3001-9A7B-D823-A5B2B10850F8}"/>
                </a:ext>
              </a:extLst>
            </p:cNvPr>
            <p:cNvCxnSpPr>
              <a:cxnSpLocks/>
            </p:cNvCxnSpPr>
            <p:nvPr/>
          </p:nvCxnSpPr>
          <p:spPr>
            <a:xfrm flipH="1">
              <a:off x="8026032" y="3654709"/>
              <a:ext cx="1676208" cy="67475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42785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4CE39F-5605-D28C-5511-B3984DEEB1A1}"/>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３．多出発局所探索</a:t>
            </a:r>
          </a:p>
        </p:txBody>
      </p:sp>
      <p:sp>
        <p:nvSpPr>
          <p:cNvPr id="3" name="コンテンツ プレースホルダー 2">
            <a:extLst>
              <a:ext uri="{FF2B5EF4-FFF2-40B4-BE49-F238E27FC236}">
                <a16:creationId xmlns:a16="http://schemas.microsoft.com/office/drawing/2014/main" id="{35EB1BA4-0AEA-845C-57CA-B498B63F37D9}"/>
              </a:ext>
            </a:extLst>
          </p:cNvPr>
          <p:cNvSpPr>
            <a:spLocks noGrp="1"/>
          </p:cNvSpPr>
          <p:nvPr>
            <p:ph idx="1"/>
          </p:nvPr>
        </p:nvSpPr>
        <p:spPr/>
        <p:txBody>
          <a:bodyPr>
            <a:normAutofit/>
          </a:bodyPr>
          <a:lstStyle/>
          <a:p>
            <a:pPr marL="0" indent="0">
              <a:lnSpc>
                <a:spcPct val="100000"/>
              </a:lnSpc>
              <a:buNone/>
            </a:pPr>
            <a:r>
              <a:rPr lang="ja-JP" altLang="en-US">
                <a:latin typeface="HGS創英角ｺﾞｼｯｸUB" panose="020B0900000000000000" pitchFamily="50" charset="-128"/>
                <a:ea typeface="HGS創英角ｺﾞｼｯｸUB" panose="020B0900000000000000" pitchFamily="50" charset="-128"/>
              </a:rPr>
              <a:t>〇概要</a:t>
            </a:r>
            <a:br>
              <a:rPr lang="ja-JP" altLang="en-US">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a:t>
            </a:r>
            <a:r>
              <a:rPr lang="en-US" altLang="ja-JP">
                <a:latin typeface="HGS創英角ｺﾞｼｯｸUB" panose="020B0900000000000000" pitchFamily="50" charset="-128"/>
                <a:ea typeface="HGS創英角ｺﾞｼｯｸUB" panose="020B0900000000000000" pitchFamily="50" charset="-128"/>
              </a:rPr>
              <a:t>1</a:t>
            </a:r>
            <a:r>
              <a:rPr lang="ja-JP" altLang="en-US">
                <a:latin typeface="HGS創英角ｺﾞｼｯｸUB" panose="020B0900000000000000" pitchFamily="50" charset="-128"/>
                <a:ea typeface="HGS創英角ｺﾞｼｯｸUB" panose="020B0900000000000000" pitchFamily="50" charset="-128"/>
              </a:rPr>
              <a:t>や</a:t>
            </a:r>
            <a:r>
              <a:rPr lang="en-US" altLang="ja-JP">
                <a:latin typeface="HGS創英角ｺﾞｼｯｸUB" panose="020B0900000000000000" pitchFamily="50" charset="-128"/>
                <a:ea typeface="HGS創英角ｺﾞｼｯｸUB" panose="020B0900000000000000" pitchFamily="50" charset="-128"/>
              </a:rPr>
              <a:t>2</a:t>
            </a:r>
            <a:r>
              <a:rPr lang="ja-JP" altLang="en-US">
                <a:latin typeface="HGS創英角ｺﾞｼｯｸUB" panose="020B0900000000000000" pitchFamily="50" charset="-128"/>
                <a:ea typeface="HGS創英角ｺﾞｼｯｸUB" panose="020B0900000000000000" pitchFamily="50" charset="-128"/>
              </a:rPr>
              <a:t>の方法は一つの局所解にとどまる可能性がある</a:t>
            </a:r>
            <a:br>
              <a:rPr lang="ja-JP" altLang="en-US">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・初期解を変えて複数回探索を行い、より良い解を探索</a:t>
            </a:r>
            <a:br>
              <a:rPr lang="ja-JP" altLang="en-US">
                <a:latin typeface="HGS創英角ｺﾞｼｯｸUB" panose="020B0900000000000000" pitchFamily="50" charset="-128"/>
                <a:ea typeface="HGS創英角ｺﾞｼｯｸUB" panose="020B0900000000000000" pitchFamily="50" charset="-128"/>
              </a:rPr>
            </a:br>
            <a:r>
              <a:rPr lang="ja-JP" altLang="en-US">
                <a:latin typeface="HGS創英角ｺﾞｼｯｸUB" panose="020B0900000000000000" pitchFamily="50" charset="-128"/>
                <a:ea typeface="HGS創英角ｺﾞｼｯｸUB" panose="020B0900000000000000" pitchFamily="50" charset="-128"/>
              </a:rPr>
              <a:t>・最良の巡回路をその中から選ぶ</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〇手順</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・初期解の生成を以下の２通りで行う</a:t>
            </a:r>
            <a:endParaRPr kumimoji="1" lang="en-US" altLang="ja-JP">
              <a:latin typeface="HGS創英角ｺﾞｼｯｸUB" panose="020B0900000000000000" pitchFamily="50" charset="-128"/>
              <a:ea typeface="HGS創英角ｺﾞｼｯｸUB" panose="020B0900000000000000" pitchFamily="50" charset="-128"/>
            </a:endParaRPr>
          </a:p>
          <a:p>
            <a:pPr marL="457200" lvl="1" indent="0">
              <a:buNone/>
            </a:pPr>
            <a:r>
              <a:rPr lang="ja-JP" altLang="en-US">
                <a:latin typeface="HGS創英角ｺﾞｼｯｸUB" panose="020B0900000000000000" pitchFamily="50" charset="-128"/>
                <a:ea typeface="HGS創英角ｺﾞｼｯｸUB" panose="020B0900000000000000" pitchFamily="50" charset="-128"/>
              </a:rPr>
              <a:t>１．各都市を出発点とした最近隣法</a:t>
            </a:r>
            <a:endParaRPr lang="en-US" altLang="ja-JP">
              <a:latin typeface="HGS創英角ｺﾞｼｯｸUB" panose="020B0900000000000000" pitchFamily="50" charset="-128"/>
              <a:ea typeface="HGS創英角ｺﾞｼｯｸUB" panose="020B0900000000000000" pitchFamily="50" charset="-128"/>
            </a:endParaRPr>
          </a:p>
          <a:p>
            <a:pPr marL="457200" lvl="1" indent="0">
              <a:buNone/>
            </a:pPr>
            <a:r>
              <a:rPr kumimoji="1" lang="ja-JP" altLang="en-US">
                <a:latin typeface="HGS創英角ｺﾞｼｯｸUB" panose="020B0900000000000000" pitchFamily="50" charset="-128"/>
                <a:ea typeface="HGS創英角ｺﾞｼｯｸUB" panose="020B0900000000000000" pitchFamily="50" charset="-128"/>
              </a:rPr>
              <a:t>２．</a:t>
            </a:r>
            <a:r>
              <a:rPr lang="ja-JP" altLang="en-US">
                <a:latin typeface="HGS創英角ｺﾞｼｯｸUB" panose="020B0900000000000000" pitchFamily="50" charset="-128"/>
                <a:ea typeface="HGS創英角ｺﾞｼｯｸUB" panose="020B0900000000000000" pitchFamily="50" charset="-128"/>
              </a:rPr>
              <a:t>ランダムな巡回順序</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a:t>
            </a:r>
            <a:r>
              <a:rPr lang="ja-JP" altLang="en-US">
                <a:latin typeface="HGS創英角ｺﾞｼｯｸUB" panose="020B0900000000000000" pitchFamily="50" charset="-128"/>
                <a:ea typeface="HGS創英角ｺﾞｼｯｸUB" panose="020B0900000000000000" pitchFamily="50" charset="-128"/>
              </a:rPr>
              <a:t>各初期解に対して</a:t>
            </a:r>
            <a:r>
              <a:rPr lang="en-US" altLang="ja-JP">
                <a:latin typeface="HGS創英角ｺﾞｼｯｸUB" panose="020B0900000000000000" pitchFamily="50" charset="-128"/>
                <a:ea typeface="HGS創英角ｺﾞｼｯｸUB" panose="020B0900000000000000" pitchFamily="50" charset="-128"/>
              </a:rPr>
              <a:t>2-opt</a:t>
            </a:r>
            <a:r>
              <a:rPr lang="ja-JP" altLang="en-US">
                <a:latin typeface="HGS創英角ｺﾞｼｯｸUB" panose="020B0900000000000000" pitchFamily="50" charset="-128"/>
                <a:ea typeface="HGS創英角ｺﾞｼｯｸUB" panose="020B0900000000000000" pitchFamily="50" charset="-128"/>
              </a:rPr>
              <a:t>法を適用</a:t>
            </a:r>
            <a:endParaRPr kumimoji="1" lang="ja-JP" altLang="en-US">
              <a:latin typeface="HGS創英角ｺﾞｼｯｸUB" panose="020B0900000000000000" pitchFamily="50" charset="-128"/>
              <a:ea typeface="HGS創英角ｺﾞｼｯｸUB" panose="020B0900000000000000" pitchFamily="50" charset="-128"/>
            </a:endParaRPr>
          </a:p>
        </p:txBody>
      </p:sp>
      <p:grpSp>
        <p:nvGrpSpPr>
          <p:cNvPr id="4" name="グループ化 3">
            <a:extLst>
              <a:ext uri="{FF2B5EF4-FFF2-40B4-BE49-F238E27FC236}">
                <a16:creationId xmlns:a16="http://schemas.microsoft.com/office/drawing/2014/main" id="{3E5C5663-15AC-70DF-5087-02A47849404C}"/>
              </a:ext>
            </a:extLst>
          </p:cNvPr>
          <p:cNvGrpSpPr/>
          <p:nvPr/>
        </p:nvGrpSpPr>
        <p:grpSpPr>
          <a:xfrm>
            <a:off x="6786458" y="681037"/>
            <a:ext cx="4949246" cy="5642176"/>
            <a:chOff x="7305504" y="1446306"/>
            <a:chExt cx="4301637" cy="4846534"/>
          </a:xfrm>
        </p:grpSpPr>
        <p:pic>
          <p:nvPicPr>
            <p:cNvPr id="5" name="図 4" descr="アイコン&#10;&#10;AI によって生成されたコンテンツは間違っている可能性があります。">
              <a:extLst>
                <a:ext uri="{FF2B5EF4-FFF2-40B4-BE49-F238E27FC236}">
                  <a16:creationId xmlns:a16="http://schemas.microsoft.com/office/drawing/2014/main" id="{1E7E3B7A-E377-3430-9D59-27140D841862}"/>
                </a:ext>
              </a:extLst>
            </p:cNvPr>
            <p:cNvPicPr>
              <a:picLocks noChangeAspect="1"/>
            </p:cNvPicPr>
            <p:nvPr/>
          </p:nvPicPr>
          <p:blipFill>
            <a:blip r:embed="rId2">
              <a:extLst>
                <a:ext uri="{28A0092B-C50C-407E-A947-70E740481C1C}">
                  <a14:useLocalDpi xmlns:a14="http://schemas.microsoft.com/office/drawing/2010/main" val="0"/>
                </a:ext>
              </a:extLst>
            </a:blip>
            <a:srcRect r="52566" b="58357"/>
            <a:stretch/>
          </p:blipFill>
          <p:spPr>
            <a:xfrm>
              <a:off x="7305504" y="1446306"/>
              <a:ext cx="1366038" cy="953100"/>
            </a:xfrm>
            <a:prstGeom prst="rect">
              <a:avLst/>
            </a:prstGeom>
          </p:spPr>
        </p:pic>
        <p:pic>
          <p:nvPicPr>
            <p:cNvPr id="6" name="図 5" descr="アイコン&#10;&#10;AI によって生成されたコンテンツは間違っている可能性があります。">
              <a:extLst>
                <a:ext uri="{FF2B5EF4-FFF2-40B4-BE49-F238E27FC236}">
                  <a16:creationId xmlns:a16="http://schemas.microsoft.com/office/drawing/2014/main" id="{A1571662-2196-201F-E117-E72D46853756}"/>
                </a:ext>
              </a:extLst>
            </p:cNvPr>
            <p:cNvPicPr>
              <a:picLocks noChangeAspect="1"/>
            </p:cNvPicPr>
            <p:nvPr/>
          </p:nvPicPr>
          <p:blipFill>
            <a:blip r:embed="rId2">
              <a:extLst>
                <a:ext uri="{28A0092B-C50C-407E-A947-70E740481C1C}">
                  <a14:useLocalDpi xmlns:a14="http://schemas.microsoft.com/office/drawing/2010/main" val="0"/>
                </a:ext>
              </a:extLst>
            </a:blip>
            <a:srcRect l="-1646" t="67062" r="54212" b="-8705"/>
            <a:stretch/>
          </p:blipFill>
          <p:spPr>
            <a:xfrm>
              <a:off x="8154489" y="5339740"/>
              <a:ext cx="1366038" cy="953100"/>
            </a:xfrm>
            <a:prstGeom prst="rect">
              <a:avLst/>
            </a:prstGeom>
          </p:spPr>
        </p:pic>
        <p:pic>
          <p:nvPicPr>
            <p:cNvPr id="8" name="図 7" descr="アイコン&#10;&#10;AI によって生成されたコンテンツは間違っている可能性があります。">
              <a:extLst>
                <a:ext uri="{FF2B5EF4-FFF2-40B4-BE49-F238E27FC236}">
                  <a16:creationId xmlns:a16="http://schemas.microsoft.com/office/drawing/2014/main" id="{17B7EC85-157F-F113-1644-8D3B6D7080D3}"/>
                </a:ext>
              </a:extLst>
            </p:cNvPr>
            <p:cNvPicPr>
              <a:picLocks noChangeAspect="1"/>
            </p:cNvPicPr>
            <p:nvPr/>
          </p:nvPicPr>
          <p:blipFill>
            <a:blip r:embed="rId2">
              <a:extLst>
                <a:ext uri="{28A0092B-C50C-407E-A947-70E740481C1C}">
                  <a14:useLocalDpi xmlns:a14="http://schemas.microsoft.com/office/drawing/2010/main" val="0"/>
                </a:ext>
              </a:extLst>
            </a:blip>
            <a:srcRect l="55413" t="-1824" r="-2847" b="60181"/>
            <a:stretch/>
          </p:blipFill>
          <p:spPr>
            <a:xfrm>
              <a:off x="10241103" y="1820484"/>
              <a:ext cx="1366038" cy="953100"/>
            </a:xfrm>
            <a:prstGeom prst="rect">
              <a:avLst/>
            </a:prstGeom>
          </p:spPr>
        </p:pic>
        <p:pic>
          <p:nvPicPr>
            <p:cNvPr id="9" name="図 8" descr="アイコン&#10;&#10;AI によって生成されたコンテンツは間違っている可能性があります。">
              <a:extLst>
                <a:ext uri="{FF2B5EF4-FFF2-40B4-BE49-F238E27FC236}">
                  <a16:creationId xmlns:a16="http://schemas.microsoft.com/office/drawing/2014/main" id="{9167132C-71D8-BFF7-E92D-0CEA59856A0F}"/>
                </a:ext>
              </a:extLst>
            </p:cNvPr>
            <p:cNvPicPr>
              <a:picLocks noChangeAspect="1"/>
            </p:cNvPicPr>
            <p:nvPr/>
          </p:nvPicPr>
          <p:blipFill>
            <a:blip r:embed="rId2">
              <a:extLst>
                <a:ext uri="{28A0092B-C50C-407E-A947-70E740481C1C}">
                  <a14:useLocalDpi xmlns:a14="http://schemas.microsoft.com/office/drawing/2010/main" val="0"/>
                </a:ext>
              </a:extLst>
            </a:blip>
            <a:srcRect l="54274" t="64613" r="-1708" b="-6256"/>
            <a:stretch/>
          </p:blipFill>
          <p:spPr>
            <a:xfrm>
              <a:off x="10075137" y="3993849"/>
              <a:ext cx="1366038" cy="953100"/>
            </a:xfrm>
            <a:prstGeom prst="rect">
              <a:avLst/>
            </a:prstGeom>
          </p:spPr>
        </p:pic>
      </p:grpSp>
      <p:sp>
        <p:nvSpPr>
          <p:cNvPr id="12" name="テキスト ボックス 11">
            <a:extLst>
              <a:ext uri="{FF2B5EF4-FFF2-40B4-BE49-F238E27FC236}">
                <a16:creationId xmlns:a16="http://schemas.microsoft.com/office/drawing/2014/main" id="{258292F1-C136-703F-4A5B-BEA34612696A}"/>
              </a:ext>
            </a:extLst>
          </p:cNvPr>
          <p:cNvSpPr txBox="1"/>
          <p:nvPr/>
        </p:nvSpPr>
        <p:spPr>
          <a:xfrm>
            <a:off x="6786458" y="211788"/>
            <a:ext cx="1762646" cy="369332"/>
          </a:xfrm>
          <a:prstGeom prst="rect">
            <a:avLst/>
          </a:prstGeom>
          <a:noFill/>
        </p:spPr>
        <p:txBody>
          <a:bodyPr wrap="square" rtlCol="0">
            <a:spAutoFit/>
          </a:bodyPr>
          <a:lstStyle/>
          <a:p>
            <a:r>
              <a:rPr kumimoji="1" lang="ja-JP" altLang="en-US">
                <a:latin typeface="HGP創英角ﾎﾟｯﾌﾟ体" panose="040B0A00000000000000" pitchFamily="50" charset="-128"/>
                <a:ea typeface="HGP創英角ﾎﾟｯﾌﾟ体" panose="040B0A00000000000000" pitchFamily="50" charset="-128"/>
              </a:rPr>
              <a:t>ここスタート！</a:t>
            </a:r>
          </a:p>
        </p:txBody>
      </p:sp>
      <p:sp>
        <p:nvSpPr>
          <p:cNvPr id="13" name="テキスト ボックス 12">
            <a:extLst>
              <a:ext uri="{FF2B5EF4-FFF2-40B4-BE49-F238E27FC236}">
                <a16:creationId xmlns:a16="http://schemas.microsoft.com/office/drawing/2014/main" id="{8F93FF38-4B53-0C55-EE07-7649262B8FBE}"/>
              </a:ext>
            </a:extLst>
          </p:cNvPr>
          <p:cNvSpPr txBox="1"/>
          <p:nvPr/>
        </p:nvSpPr>
        <p:spPr>
          <a:xfrm>
            <a:off x="9888124" y="745997"/>
            <a:ext cx="2123466" cy="369332"/>
          </a:xfrm>
          <a:prstGeom prst="rect">
            <a:avLst/>
          </a:prstGeom>
          <a:noFill/>
        </p:spPr>
        <p:txBody>
          <a:bodyPr wrap="square" rtlCol="0">
            <a:spAutoFit/>
          </a:bodyPr>
          <a:lstStyle/>
          <a:p>
            <a:r>
              <a:rPr kumimoji="1" lang="ja-JP" altLang="en-US">
                <a:latin typeface="HGP創英角ﾎﾟｯﾌﾟ体" panose="040B0A00000000000000" pitchFamily="50" charset="-128"/>
                <a:ea typeface="HGP創英角ﾎﾟｯﾌﾟ体" panose="040B0A00000000000000" pitchFamily="50" charset="-128"/>
              </a:rPr>
              <a:t>次はここスタート！</a:t>
            </a:r>
          </a:p>
        </p:txBody>
      </p:sp>
      <p:sp>
        <p:nvSpPr>
          <p:cNvPr id="14" name="テキスト ボックス 13">
            <a:extLst>
              <a:ext uri="{FF2B5EF4-FFF2-40B4-BE49-F238E27FC236}">
                <a16:creationId xmlns:a16="http://schemas.microsoft.com/office/drawing/2014/main" id="{E8D0FF0D-3860-880A-DAB9-04712CD3A43D}"/>
              </a:ext>
            </a:extLst>
          </p:cNvPr>
          <p:cNvSpPr txBox="1"/>
          <p:nvPr/>
        </p:nvSpPr>
        <p:spPr>
          <a:xfrm>
            <a:off x="9697172" y="3429000"/>
            <a:ext cx="2123466" cy="369332"/>
          </a:xfrm>
          <a:prstGeom prst="rect">
            <a:avLst/>
          </a:prstGeom>
          <a:noFill/>
        </p:spPr>
        <p:txBody>
          <a:bodyPr wrap="square" rtlCol="0">
            <a:spAutoFit/>
          </a:bodyPr>
          <a:lstStyle/>
          <a:p>
            <a:pPr algn="ctr"/>
            <a:r>
              <a:rPr kumimoji="1" lang="ja-JP" altLang="en-US">
                <a:latin typeface="HGP創英角ﾎﾟｯﾌﾟ体" panose="040B0A00000000000000" pitchFamily="50" charset="-128"/>
                <a:ea typeface="HGP創英角ﾎﾟｯﾌﾟ体" panose="040B0A00000000000000" pitchFamily="50" charset="-128"/>
              </a:rPr>
              <a:t>その次はここから！</a:t>
            </a:r>
          </a:p>
        </p:txBody>
      </p:sp>
      <p:sp>
        <p:nvSpPr>
          <p:cNvPr id="15" name="テキスト ボックス 14">
            <a:extLst>
              <a:ext uri="{FF2B5EF4-FFF2-40B4-BE49-F238E27FC236}">
                <a16:creationId xmlns:a16="http://schemas.microsoft.com/office/drawing/2014/main" id="{9F3B4B96-3090-B2AB-314B-6A6B8B63DB8F}"/>
              </a:ext>
            </a:extLst>
          </p:cNvPr>
          <p:cNvSpPr txBox="1"/>
          <p:nvPr/>
        </p:nvSpPr>
        <p:spPr>
          <a:xfrm>
            <a:off x="7487371" y="4993959"/>
            <a:ext cx="2123466" cy="369332"/>
          </a:xfrm>
          <a:prstGeom prst="rect">
            <a:avLst/>
          </a:prstGeom>
          <a:noFill/>
        </p:spPr>
        <p:txBody>
          <a:bodyPr wrap="square" rtlCol="0">
            <a:spAutoFit/>
          </a:bodyPr>
          <a:lstStyle/>
          <a:p>
            <a:pPr algn="ctr"/>
            <a:r>
              <a:rPr kumimoji="1" lang="ja-JP" altLang="en-US">
                <a:latin typeface="HGP創英角ﾎﾟｯﾌﾟ体" panose="040B0A00000000000000" pitchFamily="50" charset="-128"/>
                <a:ea typeface="HGP創英角ﾎﾟｯﾌﾟ体" panose="040B0A00000000000000" pitchFamily="50" charset="-128"/>
              </a:rPr>
              <a:t>最後はここから！</a:t>
            </a:r>
          </a:p>
        </p:txBody>
      </p:sp>
      <p:sp>
        <p:nvSpPr>
          <p:cNvPr id="7" name="スライド番号プレースホルダー 6">
            <a:extLst>
              <a:ext uri="{FF2B5EF4-FFF2-40B4-BE49-F238E27FC236}">
                <a16:creationId xmlns:a16="http://schemas.microsoft.com/office/drawing/2014/main" id="{F2319B48-169F-1487-7B61-6D727E2FF40D}"/>
              </a:ext>
            </a:extLst>
          </p:cNvPr>
          <p:cNvSpPr>
            <a:spLocks noGrp="1"/>
          </p:cNvSpPr>
          <p:nvPr>
            <p:ph type="sldNum" sz="quarter" idx="12"/>
          </p:nvPr>
        </p:nvSpPr>
        <p:spPr/>
        <p:txBody>
          <a:bodyPr/>
          <a:lstStyle/>
          <a:p>
            <a:fld id="{9E365578-86CB-437F-8A21-C7B14E4ACE69}" type="slidenum">
              <a:rPr kumimoji="1" lang="ja-JP" altLang="en-US" sz="2000" smtClean="0"/>
              <a:t>11</a:t>
            </a:fld>
            <a:endParaRPr kumimoji="1" lang="ja-JP" altLang="en-US" sz="2000"/>
          </a:p>
        </p:txBody>
      </p:sp>
    </p:spTree>
    <p:extLst>
      <p:ext uri="{BB962C8B-B14F-4D97-AF65-F5344CB8AC3E}">
        <p14:creationId xmlns:p14="http://schemas.microsoft.com/office/powerpoint/2010/main" val="2493274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C476B6-46B7-0B90-7B5C-2FA0173D2BF2}"/>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４．</a:t>
            </a:r>
            <a:r>
              <a:rPr kumimoji="1" lang="en-US" altLang="ja-JP">
                <a:latin typeface="HGS創英角ｺﾞｼｯｸUB" panose="020B0900000000000000" pitchFamily="50" charset="-128"/>
                <a:ea typeface="HGS創英角ｺﾞｼｯｸUB" panose="020B0900000000000000" pitchFamily="50" charset="-128"/>
              </a:rPr>
              <a:t>Held-Karp</a:t>
            </a:r>
            <a:r>
              <a:rPr kumimoji="1" lang="ja-JP" altLang="en-US">
                <a:latin typeface="HGS創英角ｺﾞｼｯｸUB" panose="020B0900000000000000" pitchFamily="50" charset="-128"/>
                <a:ea typeface="HGS創英角ｺﾞｼｯｸUB" panose="020B0900000000000000" pitchFamily="50" charset="-128"/>
              </a:rPr>
              <a:t>法</a:t>
            </a:r>
          </a:p>
        </p:txBody>
      </p:sp>
      <p:sp>
        <p:nvSpPr>
          <p:cNvPr id="4" name="コンテンツ プレースホルダー 2">
            <a:extLst>
              <a:ext uri="{FF2B5EF4-FFF2-40B4-BE49-F238E27FC236}">
                <a16:creationId xmlns:a16="http://schemas.microsoft.com/office/drawing/2014/main" id="{8B547842-6E0F-89EC-E386-203BDBD6A39A}"/>
              </a:ext>
            </a:extLst>
          </p:cNvPr>
          <p:cNvSpPr>
            <a:spLocks noGrp="1"/>
          </p:cNvSpPr>
          <p:nvPr>
            <p:ph idx="1"/>
          </p:nvPr>
        </p:nvSpPr>
        <p:spPr>
          <a:xfrm>
            <a:off x="838200" y="1825625"/>
            <a:ext cx="10515600" cy="4351338"/>
          </a:xfrm>
        </p:spPr>
        <p:txBody>
          <a:bodyPr>
            <a:normAutofit/>
          </a:bodyPr>
          <a:lstStyle/>
          <a:p>
            <a:pPr marL="0" indent="0">
              <a:buNone/>
            </a:pPr>
            <a:r>
              <a:rPr lang="ja-JP" altLang="en-US" b="1">
                <a:latin typeface="HGS創英角ｺﾞｼｯｸUB" panose="020B0900000000000000" pitchFamily="50" charset="-128"/>
                <a:ea typeface="HGS創英角ｺﾞｼｯｸUB" panose="020B0900000000000000" pitchFamily="50" charset="-128"/>
              </a:rPr>
              <a:t>〇</a:t>
            </a:r>
            <a:r>
              <a:rPr kumimoji="1" lang="ja-JP" altLang="en-US">
                <a:latin typeface="HGS創英角ｺﾞｼｯｸUB" panose="020B0900000000000000" pitchFamily="50" charset="-128"/>
                <a:ea typeface="HGS創英角ｺﾞｼｯｸUB" panose="020B0900000000000000" pitchFamily="50" charset="-128"/>
              </a:rPr>
              <a:t>概要</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基本的に行うことは全探索であるが一度訪れたことのあるルートを残しておくことで重複をなくした探索方法</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b="1">
                <a:latin typeface="HGS創英角ｺﾞｼｯｸUB" panose="020B0900000000000000" pitchFamily="50" charset="-128"/>
                <a:ea typeface="HGS創英角ｺﾞｼｯｸUB" panose="020B0900000000000000" pitchFamily="50" charset="-128"/>
              </a:rPr>
              <a:t>〇</a:t>
            </a:r>
            <a:r>
              <a:rPr kumimoji="1" lang="ja-JP" altLang="en-US">
                <a:latin typeface="HGS創英角ｺﾞｼｯｸUB" panose="020B0900000000000000" pitchFamily="50" charset="-128"/>
                <a:ea typeface="HGS創英角ｺﾞｼｯｸUB" panose="020B0900000000000000" pitchFamily="50" charset="-128"/>
              </a:rPr>
              <a:t>手順</a:t>
            </a:r>
          </a:p>
          <a:p>
            <a:pPr marL="514350" indent="-514350">
              <a:buAutoNum type="arabicPeriod"/>
            </a:pPr>
            <a:r>
              <a:rPr lang="ja-JP" altLang="en-US">
                <a:latin typeface="HGS創英角ｺﾞｼｯｸUB" panose="020B0900000000000000" pitchFamily="50" charset="-128"/>
                <a:ea typeface="HGS創英角ｺﾞｼｯｸUB" panose="020B0900000000000000" pitchFamily="50" charset="-128"/>
              </a:rPr>
              <a:t>訪問済みの都市を探す。</a:t>
            </a:r>
          </a:p>
          <a:p>
            <a:pPr marL="514350" indent="-514350">
              <a:buAutoNum type="arabicPeriod"/>
            </a:pPr>
            <a:r>
              <a:rPr lang="ja-JP" altLang="en-US">
                <a:latin typeface="HGS創英角ｺﾞｼｯｸUB" panose="020B0900000000000000" pitchFamily="50" charset="-128"/>
                <a:ea typeface="HGS創英角ｺﾞｼｯｸUB" panose="020B0900000000000000" pitchFamily="50" charset="-128"/>
              </a:rPr>
              <a:t>探した訪問済みの都市からすべての未訪問の都市への距離を探索し保存する。</a:t>
            </a:r>
            <a:endParaRPr lang="en-US" altLang="ja-JP">
              <a:latin typeface="HGS創英角ｺﾞｼｯｸUB" panose="020B0900000000000000" pitchFamily="50" charset="-128"/>
              <a:ea typeface="HGS創英角ｺﾞｼｯｸUB" panose="020B0900000000000000" pitchFamily="50" charset="-128"/>
            </a:endParaRPr>
          </a:p>
          <a:p>
            <a:pPr marL="514350" indent="-514350">
              <a:buAutoNum type="arabicPeriod"/>
            </a:pPr>
            <a:r>
              <a:rPr lang="ja-JP" altLang="en-US">
                <a:latin typeface="HGS創英角ｺﾞｼｯｸUB" panose="020B0900000000000000" pitchFamily="50" charset="-128"/>
                <a:ea typeface="HGS創英角ｺﾞｼｯｸUB" panose="020B0900000000000000" pitchFamily="50" charset="-128"/>
              </a:rPr>
              <a:t>手順１</a:t>
            </a:r>
            <a:r>
              <a:rPr lang="en-US" altLang="ja-JP">
                <a:latin typeface="HGS創英角ｺﾞｼｯｸUB" panose="020B0900000000000000" pitchFamily="50" charset="-128"/>
                <a:ea typeface="HGS創英角ｺﾞｼｯｸUB" panose="020B0900000000000000" pitchFamily="50" charset="-128"/>
              </a:rPr>
              <a:t>,</a:t>
            </a:r>
            <a:r>
              <a:rPr lang="ja-JP" altLang="en-US">
                <a:latin typeface="HGS創英角ｺﾞｼｯｸUB" panose="020B0900000000000000" pitchFamily="50" charset="-128"/>
                <a:ea typeface="HGS創英角ｺﾞｼｯｸUB" panose="020B0900000000000000" pitchFamily="50" charset="-128"/>
              </a:rPr>
              <a:t>２を探索が終わるまで実行</a:t>
            </a:r>
            <a:endParaRPr lang="en-US" altLang="ja-JP">
              <a:latin typeface="HGS創英角ｺﾞｼｯｸUB" panose="020B0900000000000000" pitchFamily="50" charset="-128"/>
              <a:ea typeface="HGS創英角ｺﾞｼｯｸUB" panose="020B0900000000000000" pitchFamily="50" charset="-128"/>
            </a:endParaRPr>
          </a:p>
        </p:txBody>
      </p:sp>
      <p:sp>
        <p:nvSpPr>
          <p:cNvPr id="3" name="スライド番号プレースホルダー 2">
            <a:extLst>
              <a:ext uri="{FF2B5EF4-FFF2-40B4-BE49-F238E27FC236}">
                <a16:creationId xmlns:a16="http://schemas.microsoft.com/office/drawing/2014/main" id="{617E9C90-ACEE-21F1-E486-27D2D2B81379}"/>
              </a:ext>
            </a:extLst>
          </p:cNvPr>
          <p:cNvSpPr>
            <a:spLocks noGrp="1"/>
          </p:cNvSpPr>
          <p:nvPr>
            <p:ph type="sldNum" sz="quarter" idx="12"/>
          </p:nvPr>
        </p:nvSpPr>
        <p:spPr/>
        <p:txBody>
          <a:bodyPr/>
          <a:lstStyle/>
          <a:p>
            <a:fld id="{9E365578-86CB-437F-8A21-C7B14E4ACE69}" type="slidenum">
              <a:rPr kumimoji="1" lang="ja-JP" altLang="en-US" sz="2000" smtClean="0"/>
              <a:t>12</a:t>
            </a:fld>
            <a:endParaRPr kumimoji="1" lang="ja-JP" altLang="en-US" sz="2000"/>
          </a:p>
        </p:txBody>
      </p:sp>
    </p:spTree>
    <p:extLst>
      <p:ext uri="{BB962C8B-B14F-4D97-AF65-F5344CB8AC3E}">
        <p14:creationId xmlns:p14="http://schemas.microsoft.com/office/powerpoint/2010/main" val="9189999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5081-16D7-12F4-EF77-CF83AAA430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3E47EBB-C5A9-163D-BACD-ABE3BDF9F0BB}"/>
              </a:ext>
            </a:extLst>
          </p:cNvPr>
          <p:cNvSpPr>
            <a:spLocks noGrp="1"/>
          </p:cNvSpPr>
          <p:nvPr>
            <p:ph type="title"/>
          </p:nvPr>
        </p:nvSpPr>
        <p:spPr>
          <a:xfrm>
            <a:off x="838200" y="365125"/>
            <a:ext cx="10515600" cy="1212919"/>
          </a:xfrm>
        </p:spPr>
        <p:txBody>
          <a:bodyPr>
            <a:normAutofit/>
          </a:bodyPr>
          <a:lstStyle/>
          <a:p>
            <a:r>
              <a:rPr kumimoji="1" lang="ja-JP" altLang="en-US" sz="4000">
                <a:latin typeface="HGS創英角ｺﾞｼｯｸUB" panose="020B0900000000000000" pitchFamily="50" charset="-128"/>
                <a:ea typeface="HGS創英角ｺﾞｼｯｸUB" panose="020B0900000000000000" pitchFamily="50" charset="-128"/>
              </a:rPr>
              <a:t>イメージ図</a:t>
            </a:r>
          </a:p>
        </p:txBody>
      </p:sp>
      <p:cxnSp>
        <p:nvCxnSpPr>
          <p:cNvPr id="132" name="直線コネクタ 131">
            <a:extLst>
              <a:ext uri="{FF2B5EF4-FFF2-40B4-BE49-F238E27FC236}">
                <a16:creationId xmlns:a16="http://schemas.microsoft.com/office/drawing/2014/main" id="{A27CD2E0-D691-6A66-B13B-C37E10175A1E}"/>
              </a:ext>
            </a:extLst>
          </p:cNvPr>
          <p:cNvCxnSpPr>
            <a:cxnSpLocks/>
          </p:cNvCxnSpPr>
          <p:nvPr/>
        </p:nvCxnSpPr>
        <p:spPr>
          <a:xfrm>
            <a:off x="853079" y="1337733"/>
            <a:ext cx="2834338"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grpSp>
        <p:nvGrpSpPr>
          <p:cNvPr id="115" name="グループ化 114">
            <a:extLst>
              <a:ext uri="{FF2B5EF4-FFF2-40B4-BE49-F238E27FC236}">
                <a16:creationId xmlns:a16="http://schemas.microsoft.com/office/drawing/2014/main" id="{846D5423-F77B-16D3-070D-0334246CB395}"/>
              </a:ext>
            </a:extLst>
          </p:cNvPr>
          <p:cNvGrpSpPr/>
          <p:nvPr/>
        </p:nvGrpSpPr>
        <p:grpSpPr>
          <a:xfrm>
            <a:off x="838200" y="1920112"/>
            <a:ext cx="3582726" cy="4316483"/>
            <a:chOff x="838200" y="1920112"/>
            <a:chExt cx="3582726" cy="4316483"/>
          </a:xfrm>
        </p:grpSpPr>
        <p:grpSp>
          <p:nvGrpSpPr>
            <p:cNvPr id="27" name="グループ化 26">
              <a:extLst>
                <a:ext uri="{FF2B5EF4-FFF2-40B4-BE49-F238E27FC236}">
                  <a16:creationId xmlns:a16="http://schemas.microsoft.com/office/drawing/2014/main" id="{5F0CA043-54BD-89DD-66B4-C7036BEF23C7}"/>
                </a:ext>
              </a:extLst>
            </p:cNvPr>
            <p:cNvGrpSpPr/>
            <p:nvPr/>
          </p:nvGrpSpPr>
          <p:grpSpPr>
            <a:xfrm>
              <a:off x="1843310" y="5282041"/>
              <a:ext cx="1005110" cy="954554"/>
              <a:chOff x="2200475" y="5546864"/>
              <a:chExt cx="1005110" cy="954554"/>
            </a:xfrm>
          </p:grpSpPr>
          <p:pic>
            <p:nvPicPr>
              <p:cNvPr id="9" name="図 8" descr="アイコン&#10;&#10;AI によって生成されたコンテンツは間違っている可能性があります。">
                <a:extLst>
                  <a:ext uri="{FF2B5EF4-FFF2-40B4-BE49-F238E27FC236}">
                    <a16:creationId xmlns:a16="http://schemas.microsoft.com/office/drawing/2014/main" id="{C45860CD-5DA9-65EF-93D4-CCFFD253D974}"/>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2200475" y="5546864"/>
                <a:ext cx="1005110" cy="709577"/>
              </a:xfrm>
              <a:prstGeom prst="rect">
                <a:avLst/>
              </a:prstGeom>
            </p:spPr>
          </p:pic>
          <p:sp>
            <p:nvSpPr>
              <p:cNvPr id="12" name="テキスト ボックス 11">
                <a:extLst>
                  <a:ext uri="{FF2B5EF4-FFF2-40B4-BE49-F238E27FC236}">
                    <a16:creationId xmlns:a16="http://schemas.microsoft.com/office/drawing/2014/main" id="{638EBADE-48C5-5656-B82A-B5F2C0619B9D}"/>
                  </a:ext>
                </a:extLst>
              </p:cNvPr>
              <p:cNvSpPr txBox="1"/>
              <p:nvPr/>
            </p:nvSpPr>
            <p:spPr>
              <a:xfrm>
                <a:off x="2519814" y="6132086"/>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1</a:t>
                </a:r>
              </a:p>
            </p:txBody>
          </p:sp>
        </p:grpSp>
        <p:grpSp>
          <p:nvGrpSpPr>
            <p:cNvPr id="26" name="グループ化 25">
              <a:extLst>
                <a:ext uri="{FF2B5EF4-FFF2-40B4-BE49-F238E27FC236}">
                  <a16:creationId xmlns:a16="http://schemas.microsoft.com/office/drawing/2014/main" id="{985B4ACA-2A0E-31AD-7393-51E58E8316DD}"/>
                </a:ext>
              </a:extLst>
            </p:cNvPr>
            <p:cNvGrpSpPr/>
            <p:nvPr/>
          </p:nvGrpSpPr>
          <p:grpSpPr>
            <a:xfrm>
              <a:off x="1941743" y="1920112"/>
              <a:ext cx="1005110" cy="1029406"/>
              <a:chOff x="1941743" y="1920112"/>
              <a:chExt cx="1005110" cy="1029406"/>
            </a:xfrm>
          </p:grpSpPr>
          <p:pic>
            <p:nvPicPr>
              <p:cNvPr id="10" name="図 9" descr="アイコン&#10;&#10;AI によって生成されたコンテンツは間違っている可能性があります。">
                <a:extLst>
                  <a:ext uri="{FF2B5EF4-FFF2-40B4-BE49-F238E27FC236}">
                    <a16:creationId xmlns:a16="http://schemas.microsoft.com/office/drawing/2014/main" id="{0246242C-23D2-7FAA-8B39-26154D232BEB}"/>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1941743" y="1920112"/>
                <a:ext cx="1005110" cy="709577"/>
              </a:xfrm>
              <a:prstGeom prst="rect">
                <a:avLst/>
              </a:prstGeom>
            </p:spPr>
          </p:pic>
          <p:sp>
            <p:nvSpPr>
              <p:cNvPr id="13" name="テキスト ボックス 12">
                <a:extLst>
                  <a:ext uri="{FF2B5EF4-FFF2-40B4-BE49-F238E27FC236}">
                    <a16:creationId xmlns:a16="http://schemas.microsoft.com/office/drawing/2014/main" id="{F6D8535E-4C18-DBEE-9C71-D68821531F8D}"/>
                  </a:ext>
                </a:extLst>
              </p:cNvPr>
              <p:cNvSpPr txBox="1"/>
              <p:nvPr/>
            </p:nvSpPr>
            <p:spPr>
              <a:xfrm>
                <a:off x="2188102" y="2580186"/>
                <a:ext cx="5324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４</a:t>
                </a:r>
                <a:endParaRPr kumimoji="1" lang="en-US" altLang="ja-JP">
                  <a:latin typeface="HGS創英角ｺﾞｼｯｸUB" panose="020B0900000000000000" pitchFamily="50" charset="-128"/>
                  <a:ea typeface="HGS創英角ｺﾞｼｯｸUB" panose="020B0900000000000000" pitchFamily="50" charset="-128"/>
                </a:endParaRPr>
              </a:p>
            </p:txBody>
          </p:sp>
        </p:grpSp>
        <p:grpSp>
          <p:nvGrpSpPr>
            <p:cNvPr id="21" name="グループ化 20">
              <a:extLst>
                <a:ext uri="{FF2B5EF4-FFF2-40B4-BE49-F238E27FC236}">
                  <a16:creationId xmlns:a16="http://schemas.microsoft.com/office/drawing/2014/main" id="{5D43A758-2423-18C4-4365-69A9345A5B08}"/>
                </a:ext>
              </a:extLst>
            </p:cNvPr>
            <p:cNvGrpSpPr/>
            <p:nvPr/>
          </p:nvGrpSpPr>
          <p:grpSpPr>
            <a:xfrm>
              <a:off x="838200" y="3552765"/>
              <a:ext cx="1200912" cy="1065043"/>
              <a:chOff x="838200" y="3552765"/>
              <a:chExt cx="1200912" cy="1065043"/>
            </a:xfrm>
          </p:grpSpPr>
          <p:pic>
            <p:nvPicPr>
              <p:cNvPr id="7" name="図 6" descr="アイコン&#10;&#10;AI によって生成されたコンテンツは間違っている可能性があります。">
                <a:extLst>
                  <a:ext uri="{FF2B5EF4-FFF2-40B4-BE49-F238E27FC236}">
                    <a16:creationId xmlns:a16="http://schemas.microsoft.com/office/drawing/2014/main" id="{D6AD8C39-C07D-0FEB-0BAA-7067F7966CAD}"/>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838200" y="3552765"/>
                <a:ext cx="1005110" cy="709577"/>
              </a:xfrm>
              <a:prstGeom prst="rect">
                <a:avLst/>
              </a:prstGeom>
            </p:spPr>
          </p:pic>
          <p:sp>
            <p:nvSpPr>
              <p:cNvPr id="15" name="テキスト ボックス 14">
                <a:extLst>
                  <a:ext uri="{FF2B5EF4-FFF2-40B4-BE49-F238E27FC236}">
                    <a16:creationId xmlns:a16="http://schemas.microsoft.com/office/drawing/2014/main" id="{BD8D6A80-BA1C-49ED-4987-FB12AB31570F}"/>
                  </a:ext>
                </a:extLst>
              </p:cNvPr>
              <p:cNvSpPr txBox="1"/>
              <p:nvPr/>
            </p:nvSpPr>
            <p:spPr>
              <a:xfrm>
                <a:off x="838200" y="4248476"/>
                <a:ext cx="12009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２</a:t>
                </a:r>
                <a:r>
                  <a:rPr kumimoji="1" lang="en-US" altLang="ja-JP">
                    <a:latin typeface="HGS創英角ｺﾞｼｯｸUB" panose="020B0900000000000000" pitchFamily="50" charset="-128"/>
                    <a:ea typeface="HGS創英角ｺﾞｼｯｸUB" panose="020B0900000000000000" pitchFamily="50" charset="-128"/>
                  </a:rPr>
                  <a:t>or</a:t>
                </a:r>
                <a:r>
                  <a:rPr kumimoji="1" lang="ja-JP" altLang="en-US">
                    <a:latin typeface="HGS創英角ｺﾞｼｯｸUB" panose="020B0900000000000000" pitchFamily="50" charset="-128"/>
                    <a:ea typeface="HGS創英角ｺﾞｼｯｸUB" panose="020B0900000000000000" pitchFamily="50" charset="-128"/>
                  </a:rPr>
                  <a:t>３？</a:t>
                </a:r>
                <a:endParaRPr kumimoji="1" lang="en-US" altLang="ja-JP">
                  <a:latin typeface="HGS創英角ｺﾞｼｯｸUB" panose="020B0900000000000000" pitchFamily="50" charset="-128"/>
                  <a:ea typeface="HGS創英角ｺﾞｼｯｸUB" panose="020B0900000000000000" pitchFamily="50" charset="-128"/>
                </a:endParaRPr>
              </a:p>
            </p:txBody>
          </p:sp>
        </p:grpSp>
        <p:grpSp>
          <p:nvGrpSpPr>
            <p:cNvPr id="25" name="グループ化 24">
              <a:extLst>
                <a:ext uri="{FF2B5EF4-FFF2-40B4-BE49-F238E27FC236}">
                  <a16:creationId xmlns:a16="http://schemas.microsoft.com/office/drawing/2014/main" id="{FC8EAF2A-4A2C-F6EB-EEA4-5D2E8E8834D4}"/>
                </a:ext>
              </a:extLst>
            </p:cNvPr>
            <p:cNvGrpSpPr/>
            <p:nvPr/>
          </p:nvGrpSpPr>
          <p:grpSpPr>
            <a:xfrm>
              <a:off x="3134522" y="3337746"/>
              <a:ext cx="1286404" cy="996781"/>
              <a:chOff x="3374136" y="3870359"/>
              <a:chExt cx="1286404" cy="996781"/>
            </a:xfrm>
          </p:grpSpPr>
          <p:pic>
            <p:nvPicPr>
              <p:cNvPr id="8" name="図 7" descr="アイコン&#10;&#10;AI によって生成されたコンテンツは間違っている可能性があります。">
                <a:extLst>
                  <a:ext uri="{FF2B5EF4-FFF2-40B4-BE49-F238E27FC236}">
                    <a16:creationId xmlns:a16="http://schemas.microsoft.com/office/drawing/2014/main" id="{34917540-5543-54BE-AFF5-C9574E03B7CB}"/>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3374136" y="3870359"/>
                <a:ext cx="1005110" cy="709577"/>
              </a:xfrm>
              <a:prstGeom prst="rect">
                <a:avLst/>
              </a:prstGeom>
            </p:spPr>
          </p:pic>
          <p:sp>
            <p:nvSpPr>
              <p:cNvPr id="20" name="テキスト ボックス 19">
                <a:extLst>
                  <a:ext uri="{FF2B5EF4-FFF2-40B4-BE49-F238E27FC236}">
                    <a16:creationId xmlns:a16="http://schemas.microsoft.com/office/drawing/2014/main" id="{16C7C444-8287-0C94-8277-558DA3A3C671}"/>
                  </a:ext>
                </a:extLst>
              </p:cNvPr>
              <p:cNvSpPr txBox="1"/>
              <p:nvPr/>
            </p:nvSpPr>
            <p:spPr>
              <a:xfrm>
                <a:off x="3459628" y="4497808"/>
                <a:ext cx="12009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２</a:t>
                </a:r>
                <a:r>
                  <a:rPr kumimoji="1" lang="en-US" altLang="ja-JP">
                    <a:latin typeface="HGS創英角ｺﾞｼｯｸUB" panose="020B0900000000000000" pitchFamily="50" charset="-128"/>
                    <a:ea typeface="HGS創英角ｺﾞｼｯｸUB" panose="020B0900000000000000" pitchFamily="50" charset="-128"/>
                  </a:rPr>
                  <a:t>or</a:t>
                </a:r>
                <a:r>
                  <a:rPr kumimoji="1" lang="ja-JP" altLang="en-US">
                    <a:latin typeface="HGS創英角ｺﾞｼｯｸUB" panose="020B0900000000000000" pitchFamily="50" charset="-128"/>
                    <a:ea typeface="HGS創英角ｺﾞｼｯｸUB" panose="020B0900000000000000" pitchFamily="50" charset="-128"/>
                  </a:rPr>
                  <a:t>３？</a:t>
                </a:r>
                <a:endParaRPr kumimoji="1" lang="en-US" altLang="ja-JP">
                  <a:latin typeface="HGS創英角ｺﾞｼｯｸUB" panose="020B0900000000000000" pitchFamily="50" charset="-128"/>
                  <a:ea typeface="HGS創英角ｺﾞｼｯｸUB" panose="020B0900000000000000" pitchFamily="50" charset="-128"/>
                </a:endParaRPr>
              </a:p>
            </p:txBody>
          </p:sp>
        </p:grpSp>
        <p:cxnSp>
          <p:nvCxnSpPr>
            <p:cNvPr id="28" name="直線矢印コネクタ 27">
              <a:extLst>
                <a:ext uri="{FF2B5EF4-FFF2-40B4-BE49-F238E27FC236}">
                  <a16:creationId xmlns:a16="http://schemas.microsoft.com/office/drawing/2014/main" id="{38E3C01C-2C32-A176-BF19-26424CFA34A1}"/>
                </a:ext>
              </a:extLst>
            </p:cNvPr>
            <p:cNvCxnSpPr>
              <a:cxnSpLocks/>
            </p:cNvCxnSpPr>
            <p:nvPr/>
          </p:nvCxnSpPr>
          <p:spPr>
            <a:xfrm flipH="1" flipV="1">
              <a:off x="1682496" y="4647778"/>
              <a:ext cx="565529" cy="65234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1" name="直線矢印コネクタ 30">
              <a:extLst>
                <a:ext uri="{FF2B5EF4-FFF2-40B4-BE49-F238E27FC236}">
                  <a16:creationId xmlns:a16="http://schemas.microsoft.com/office/drawing/2014/main" id="{097C8BE6-F0CA-DF17-5FC3-3A0ADAC7342E}"/>
                </a:ext>
              </a:extLst>
            </p:cNvPr>
            <p:cNvCxnSpPr>
              <a:cxnSpLocks/>
            </p:cNvCxnSpPr>
            <p:nvPr/>
          </p:nvCxnSpPr>
          <p:spPr>
            <a:xfrm flipV="1">
              <a:off x="2848287" y="4368087"/>
              <a:ext cx="572470" cy="91395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2" name="直線矢印コネクタ 31">
              <a:extLst>
                <a:ext uri="{FF2B5EF4-FFF2-40B4-BE49-F238E27FC236}">
                  <a16:creationId xmlns:a16="http://schemas.microsoft.com/office/drawing/2014/main" id="{120EBDE2-0703-4EF1-E492-C8ED5FCD5C14}"/>
                </a:ext>
              </a:extLst>
            </p:cNvPr>
            <p:cNvCxnSpPr>
              <a:cxnSpLocks/>
            </p:cNvCxnSpPr>
            <p:nvPr/>
          </p:nvCxnSpPr>
          <p:spPr>
            <a:xfrm flipV="1">
              <a:off x="1658447" y="2834640"/>
              <a:ext cx="380665" cy="791218"/>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5" name="直線矢印コネクタ 34">
              <a:extLst>
                <a:ext uri="{FF2B5EF4-FFF2-40B4-BE49-F238E27FC236}">
                  <a16:creationId xmlns:a16="http://schemas.microsoft.com/office/drawing/2014/main" id="{13352FC6-7C8D-36F4-06C2-5098D39A3D34}"/>
                </a:ext>
              </a:extLst>
            </p:cNvPr>
            <p:cNvCxnSpPr>
              <a:cxnSpLocks/>
            </p:cNvCxnSpPr>
            <p:nvPr/>
          </p:nvCxnSpPr>
          <p:spPr>
            <a:xfrm flipV="1">
              <a:off x="1933685" y="3830809"/>
              <a:ext cx="1082469" cy="21476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0" name="直線矢印コネクタ 59">
              <a:extLst>
                <a:ext uri="{FF2B5EF4-FFF2-40B4-BE49-F238E27FC236}">
                  <a16:creationId xmlns:a16="http://schemas.microsoft.com/office/drawing/2014/main" id="{2F8E9BDE-83D7-A478-563B-1A127FAD099C}"/>
                </a:ext>
              </a:extLst>
            </p:cNvPr>
            <p:cNvCxnSpPr>
              <a:cxnSpLocks/>
            </p:cNvCxnSpPr>
            <p:nvPr/>
          </p:nvCxnSpPr>
          <p:spPr>
            <a:xfrm flipH="1" flipV="1">
              <a:off x="2869504" y="2764852"/>
              <a:ext cx="652839" cy="52676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D1298C88-4D53-3DFF-19F2-AF93EE6DD5FD}"/>
                </a:ext>
              </a:extLst>
            </p:cNvPr>
            <p:cNvCxnSpPr>
              <a:cxnSpLocks/>
              <a:endCxn id="7" idx="3"/>
            </p:cNvCxnSpPr>
            <p:nvPr/>
          </p:nvCxnSpPr>
          <p:spPr>
            <a:xfrm flipH="1">
              <a:off x="1843310" y="3631639"/>
              <a:ext cx="1140711" cy="27591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sp>
        <p:nvSpPr>
          <p:cNvPr id="117" name="雲 116">
            <a:extLst>
              <a:ext uri="{FF2B5EF4-FFF2-40B4-BE49-F238E27FC236}">
                <a16:creationId xmlns:a16="http://schemas.microsoft.com/office/drawing/2014/main" id="{12A22944-C4B7-BDF2-EB3D-15F7C4038800}"/>
              </a:ext>
            </a:extLst>
          </p:cNvPr>
          <p:cNvSpPr/>
          <p:nvPr/>
        </p:nvSpPr>
        <p:spPr>
          <a:xfrm>
            <a:off x="369476" y="2802287"/>
            <a:ext cx="4169664" cy="2447401"/>
          </a:xfrm>
          <a:prstGeom prst="cloud">
            <a:avLst/>
          </a:prstGeom>
          <a:solidFill>
            <a:srgbClr val="FFE3BD">
              <a:alpha val="19000"/>
            </a:srgbClr>
          </a:solidFill>
          <a:ln w="19050">
            <a:solidFill>
              <a:srgbClr val="261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0" name="グループ化 119">
            <a:extLst>
              <a:ext uri="{FF2B5EF4-FFF2-40B4-BE49-F238E27FC236}">
                <a16:creationId xmlns:a16="http://schemas.microsoft.com/office/drawing/2014/main" id="{313A7FD0-EF13-99F8-34CA-B499416B6ED9}"/>
              </a:ext>
            </a:extLst>
          </p:cNvPr>
          <p:cNvGrpSpPr/>
          <p:nvPr/>
        </p:nvGrpSpPr>
        <p:grpSpPr>
          <a:xfrm>
            <a:off x="7829509" y="2176392"/>
            <a:ext cx="3582726" cy="4316483"/>
            <a:chOff x="838200" y="1920112"/>
            <a:chExt cx="3582726" cy="4316483"/>
          </a:xfrm>
        </p:grpSpPr>
        <p:grpSp>
          <p:nvGrpSpPr>
            <p:cNvPr id="121" name="グループ化 120">
              <a:extLst>
                <a:ext uri="{FF2B5EF4-FFF2-40B4-BE49-F238E27FC236}">
                  <a16:creationId xmlns:a16="http://schemas.microsoft.com/office/drawing/2014/main" id="{41C4727B-182F-81E0-72FF-CB7898BD3FAC}"/>
                </a:ext>
              </a:extLst>
            </p:cNvPr>
            <p:cNvGrpSpPr/>
            <p:nvPr/>
          </p:nvGrpSpPr>
          <p:grpSpPr>
            <a:xfrm>
              <a:off x="1843310" y="5282041"/>
              <a:ext cx="1005110" cy="954554"/>
              <a:chOff x="2200475" y="5546864"/>
              <a:chExt cx="1005110" cy="954554"/>
            </a:xfrm>
          </p:grpSpPr>
          <p:pic>
            <p:nvPicPr>
              <p:cNvPr id="138" name="図 137" descr="アイコン&#10;&#10;AI によって生成されたコンテンツは間違っている可能性があります。">
                <a:extLst>
                  <a:ext uri="{FF2B5EF4-FFF2-40B4-BE49-F238E27FC236}">
                    <a16:creationId xmlns:a16="http://schemas.microsoft.com/office/drawing/2014/main" id="{8BD216EA-26AA-4FF3-B837-5A19EDC62F45}"/>
                  </a:ext>
                </a:extLst>
              </p:cNvPr>
              <p:cNvPicPr>
                <a:picLocks noChangeAspect="1"/>
              </p:cNvPicPr>
              <p:nvPr/>
            </p:nvPicPr>
            <p:blipFill>
              <a:blip r:embed="rId3">
                <a:extLst>
                  <a:ext uri="{28A0092B-C50C-407E-A947-70E740481C1C}">
                    <a14:useLocalDpi xmlns:a14="http://schemas.microsoft.com/office/drawing/2010/main" val="0"/>
                  </a:ext>
                </a:extLst>
              </a:blip>
              <a:srcRect l="-1646" t="67062" r="54212" b="-8705"/>
              <a:stretch/>
            </p:blipFill>
            <p:spPr>
              <a:xfrm>
                <a:off x="2200475" y="5546864"/>
                <a:ext cx="1005110" cy="709577"/>
              </a:xfrm>
              <a:prstGeom prst="rect">
                <a:avLst/>
              </a:prstGeom>
            </p:spPr>
          </p:pic>
          <p:sp>
            <p:nvSpPr>
              <p:cNvPr id="139" name="テキスト ボックス 138">
                <a:extLst>
                  <a:ext uri="{FF2B5EF4-FFF2-40B4-BE49-F238E27FC236}">
                    <a16:creationId xmlns:a16="http://schemas.microsoft.com/office/drawing/2014/main" id="{81761B2C-1D14-13D3-2B8E-0E8E7FA72FE5}"/>
                  </a:ext>
                </a:extLst>
              </p:cNvPr>
              <p:cNvSpPr txBox="1"/>
              <p:nvPr/>
            </p:nvSpPr>
            <p:spPr>
              <a:xfrm>
                <a:off x="2519814" y="6132086"/>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1</a:t>
                </a:r>
              </a:p>
            </p:txBody>
          </p:sp>
        </p:grpSp>
        <p:grpSp>
          <p:nvGrpSpPr>
            <p:cNvPr id="122" name="グループ化 121">
              <a:extLst>
                <a:ext uri="{FF2B5EF4-FFF2-40B4-BE49-F238E27FC236}">
                  <a16:creationId xmlns:a16="http://schemas.microsoft.com/office/drawing/2014/main" id="{30053380-CA4C-7FC7-209D-A44C3E880BAA}"/>
                </a:ext>
              </a:extLst>
            </p:cNvPr>
            <p:cNvGrpSpPr/>
            <p:nvPr/>
          </p:nvGrpSpPr>
          <p:grpSpPr>
            <a:xfrm>
              <a:off x="1941743" y="1920112"/>
              <a:ext cx="1005110" cy="1029406"/>
              <a:chOff x="1941743" y="1920112"/>
              <a:chExt cx="1005110" cy="1029406"/>
            </a:xfrm>
          </p:grpSpPr>
          <p:pic>
            <p:nvPicPr>
              <p:cNvPr id="136" name="図 135" descr="アイコン&#10;&#10;AI によって生成されたコンテンツは間違っている可能性があります。">
                <a:extLst>
                  <a:ext uri="{FF2B5EF4-FFF2-40B4-BE49-F238E27FC236}">
                    <a16:creationId xmlns:a16="http://schemas.microsoft.com/office/drawing/2014/main" id="{3688FEE2-B2D0-E8F7-29C3-AAD8F1F3A8DC}"/>
                  </a:ext>
                </a:extLst>
              </p:cNvPr>
              <p:cNvPicPr>
                <a:picLocks noChangeAspect="1"/>
              </p:cNvPicPr>
              <p:nvPr/>
            </p:nvPicPr>
            <p:blipFill>
              <a:blip r:embed="rId3">
                <a:extLst>
                  <a:ext uri="{28A0092B-C50C-407E-A947-70E740481C1C}">
                    <a14:useLocalDpi xmlns:a14="http://schemas.microsoft.com/office/drawing/2010/main" val="0"/>
                  </a:ext>
                </a:extLst>
              </a:blip>
              <a:srcRect l="55413" t="-1824" r="-2847" b="60181"/>
              <a:stretch/>
            </p:blipFill>
            <p:spPr>
              <a:xfrm>
                <a:off x="1941743" y="1920112"/>
                <a:ext cx="1005110" cy="709577"/>
              </a:xfrm>
              <a:prstGeom prst="rect">
                <a:avLst/>
              </a:prstGeom>
            </p:spPr>
          </p:pic>
          <p:sp>
            <p:nvSpPr>
              <p:cNvPr id="137" name="テキスト ボックス 136">
                <a:extLst>
                  <a:ext uri="{FF2B5EF4-FFF2-40B4-BE49-F238E27FC236}">
                    <a16:creationId xmlns:a16="http://schemas.microsoft.com/office/drawing/2014/main" id="{2518A9C0-BE27-4591-B8FE-0C4D5F1136D8}"/>
                  </a:ext>
                </a:extLst>
              </p:cNvPr>
              <p:cNvSpPr txBox="1"/>
              <p:nvPr/>
            </p:nvSpPr>
            <p:spPr>
              <a:xfrm>
                <a:off x="2188102" y="2580186"/>
                <a:ext cx="5324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４</a:t>
                </a:r>
                <a:endParaRPr kumimoji="1" lang="en-US" altLang="ja-JP">
                  <a:latin typeface="HGS創英角ｺﾞｼｯｸUB" panose="020B0900000000000000" pitchFamily="50" charset="-128"/>
                  <a:ea typeface="HGS創英角ｺﾞｼｯｸUB" panose="020B0900000000000000" pitchFamily="50" charset="-128"/>
                </a:endParaRPr>
              </a:p>
            </p:txBody>
          </p:sp>
        </p:grpSp>
        <p:grpSp>
          <p:nvGrpSpPr>
            <p:cNvPr id="123" name="グループ化 122">
              <a:extLst>
                <a:ext uri="{FF2B5EF4-FFF2-40B4-BE49-F238E27FC236}">
                  <a16:creationId xmlns:a16="http://schemas.microsoft.com/office/drawing/2014/main" id="{D380C911-F337-D009-39C9-D9B7018940CC}"/>
                </a:ext>
              </a:extLst>
            </p:cNvPr>
            <p:cNvGrpSpPr/>
            <p:nvPr/>
          </p:nvGrpSpPr>
          <p:grpSpPr>
            <a:xfrm>
              <a:off x="838200" y="3552765"/>
              <a:ext cx="1200912" cy="1065043"/>
              <a:chOff x="838200" y="3552765"/>
              <a:chExt cx="1200912" cy="1065043"/>
            </a:xfrm>
          </p:grpSpPr>
          <p:pic>
            <p:nvPicPr>
              <p:cNvPr id="134" name="図 133" descr="アイコン&#10;&#10;AI によって生成されたコンテンツは間違っている可能性があります。">
                <a:extLst>
                  <a:ext uri="{FF2B5EF4-FFF2-40B4-BE49-F238E27FC236}">
                    <a16:creationId xmlns:a16="http://schemas.microsoft.com/office/drawing/2014/main" id="{AB707E81-E5F0-EC1F-8E94-2A7EE43C165B}"/>
                  </a:ext>
                </a:extLst>
              </p:cNvPr>
              <p:cNvPicPr>
                <a:picLocks noChangeAspect="1"/>
              </p:cNvPicPr>
              <p:nvPr/>
            </p:nvPicPr>
            <p:blipFill>
              <a:blip r:embed="rId3">
                <a:extLst>
                  <a:ext uri="{28A0092B-C50C-407E-A947-70E740481C1C}">
                    <a14:useLocalDpi xmlns:a14="http://schemas.microsoft.com/office/drawing/2010/main" val="0"/>
                  </a:ext>
                </a:extLst>
              </a:blip>
              <a:srcRect l="54274" t="64613" r="-1708" b="-6256"/>
              <a:stretch/>
            </p:blipFill>
            <p:spPr>
              <a:xfrm>
                <a:off x="838200" y="3552765"/>
                <a:ext cx="1005110" cy="709577"/>
              </a:xfrm>
              <a:prstGeom prst="rect">
                <a:avLst/>
              </a:prstGeom>
            </p:spPr>
          </p:pic>
          <p:sp>
            <p:nvSpPr>
              <p:cNvPr id="135" name="テキスト ボックス 134">
                <a:extLst>
                  <a:ext uri="{FF2B5EF4-FFF2-40B4-BE49-F238E27FC236}">
                    <a16:creationId xmlns:a16="http://schemas.microsoft.com/office/drawing/2014/main" id="{7F68C65C-33BD-223C-F442-90B8BFD6CDF7}"/>
                  </a:ext>
                </a:extLst>
              </p:cNvPr>
              <p:cNvSpPr txBox="1"/>
              <p:nvPr/>
            </p:nvSpPr>
            <p:spPr>
              <a:xfrm>
                <a:off x="838200" y="4248476"/>
                <a:ext cx="12009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２</a:t>
                </a:r>
                <a:r>
                  <a:rPr kumimoji="1" lang="en-US" altLang="ja-JP">
                    <a:latin typeface="HGS創英角ｺﾞｼｯｸUB" panose="020B0900000000000000" pitchFamily="50" charset="-128"/>
                    <a:ea typeface="HGS創英角ｺﾞｼｯｸUB" panose="020B0900000000000000" pitchFamily="50" charset="-128"/>
                  </a:rPr>
                  <a:t>or</a:t>
                </a:r>
                <a:r>
                  <a:rPr kumimoji="1" lang="ja-JP" altLang="en-US">
                    <a:latin typeface="HGS創英角ｺﾞｼｯｸUB" panose="020B0900000000000000" pitchFamily="50" charset="-128"/>
                    <a:ea typeface="HGS創英角ｺﾞｼｯｸUB" panose="020B0900000000000000" pitchFamily="50" charset="-128"/>
                  </a:rPr>
                  <a:t>３？</a:t>
                </a:r>
                <a:endParaRPr kumimoji="1" lang="en-US" altLang="ja-JP">
                  <a:latin typeface="HGS創英角ｺﾞｼｯｸUB" panose="020B0900000000000000" pitchFamily="50" charset="-128"/>
                  <a:ea typeface="HGS創英角ｺﾞｼｯｸUB" panose="020B0900000000000000" pitchFamily="50" charset="-128"/>
                </a:endParaRPr>
              </a:p>
            </p:txBody>
          </p:sp>
        </p:grpSp>
        <p:grpSp>
          <p:nvGrpSpPr>
            <p:cNvPr id="124" name="グループ化 123">
              <a:extLst>
                <a:ext uri="{FF2B5EF4-FFF2-40B4-BE49-F238E27FC236}">
                  <a16:creationId xmlns:a16="http://schemas.microsoft.com/office/drawing/2014/main" id="{B05872B6-97A5-6256-DFE9-47F64A2E4F99}"/>
                </a:ext>
              </a:extLst>
            </p:cNvPr>
            <p:cNvGrpSpPr/>
            <p:nvPr/>
          </p:nvGrpSpPr>
          <p:grpSpPr>
            <a:xfrm>
              <a:off x="3134522" y="3337746"/>
              <a:ext cx="1286404" cy="996781"/>
              <a:chOff x="3374136" y="3870359"/>
              <a:chExt cx="1286404" cy="996781"/>
            </a:xfrm>
          </p:grpSpPr>
          <p:pic>
            <p:nvPicPr>
              <p:cNvPr id="131" name="図 130" descr="アイコン&#10;&#10;AI によって生成されたコンテンツは間違っている可能性があります。">
                <a:extLst>
                  <a:ext uri="{FF2B5EF4-FFF2-40B4-BE49-F238E27FC236}">
                    <a16:creationId xmlns:a16="http://schemas.microsoft.com/office/drawing/2014/main" id="{6EFD6005-9A8C-7F64-080D-801E29D14799}"/>
                  </a:ext>
                </a:extLst>
              </p:cNvPr>
              <p:cNvPicPr>
                <a:picLocks noChangeAspect="1"/>
              </p:cNvPicPr>
              <p:nvPr/>
            </p:nvPicPr>
            <p:blipFill>
              <a:blip r:embed="rId3">
                <a:extLst>
                  <a:ext uri="{28A0092B-C50C-407E-A947-70E740481C1C}">
                    <a14:useLocalDpi xmlns:a14="http://schemas.microsoft.com/office/drawing/2010/main" val="0"/>
                  </a:ext>
                </a:extLst>
              </a:blip>
              <a:srcRect r="52566" b="58357"/>
              <a:stretch/>
            </p:blipFill>
            <p:spPr>
              <a:xfrm>
                <a:off x="3374136" y="3870359"/>
                <a:ext cx="1005110" cy="709577"/>
              </a:xfrm>
              <a:prstGeom prst="rect">
                <a:avLst/>
              </a:prstGeom>
            </p:spPr>
          </p:pic>
          <p:sp>
            <p:nvSpPr>
              <p:cNvPr id="133" name="テキスト ボックス 132">
                <a:extLst>
                  <a:ext uri="{FF2B5EF4-FFF2-40B4-BE49-F238E27FC236}">
                    <a16:creationId xmlns:a16="http://schemas.microsoft.com/office/drawing/2014/main" id="{854D0916-CCEE-2866-376D-6C6251034DF0}"/>
                  </a:ext>
                </a:extLst>
              </p:cNvPr>
              <p:cNvSpPr txBox="1"/>
              <p:nvPr/>
            </p:nvSpPr>
            <p:spPr>
              <a:xfrm>
                <a:off x="3459628" y="4497808"/>
                <a:ext cx="1200912" cy="369332"/>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２</a:t>
                </a:r>
                <a:r>
                  <a:rPr kumimoji="1" lang="en-US" altLang="ja-JP">
                    <a:latin typeface="HGS創英角ｺﾞｼｯｸUB" panose="020B0900000000000000" pitchFamily="50" charset="-128"/>
                    <a:ea typeface="HGS創英角ｺﾞｼｯｸUB" panose="020B0900000000000000" pitchFamily="50" charset="-128"/>
                  </a:rPr>
                  <a:t>or</a:t>
                </a:r>
                <a:r>
                  <a:rPr kumimoji="1" lang="ja-JP" altLang="en-US">
                    <a:latin typeface="HGS創英角ｺﾞｼｯｸUB" panose="020B0900000000000000" pitchFamily="50" charset="-128"/>
                    <a:ea typeface="HGS創英角ｺﾞｼｯｸUB" panose="020B0900000000000000" pitchFamily="50" charset="-128"/>
                  </a:rPr>
                  <a:t>３？</a:t>
                </a:r>
                <a:endParaRPr kumimoji="1" lang="en-US" altLang="ja-JP">
                  <a:latin typeface="HGS創英角ｺﾞｼｯｸUB" panose="020B0900000000000000" pitchFamily="50" charset="-128"/>
                  <a:ea typeface="HGS創英角ｺﾞｼｯｸUB" panose="020B0900000000000000" pitchFamily="50" charset="-128"/>
                </a:endParaRPr>
              </a:p>
            </p:txBody>
          </p:sp>
        </p:grpSp>
        <p:cxnSp>
          <p:nvCxnSpPr>
            <p:cNvPr id="125" name="直線矢印コネクタ 124">
              <a:extLst>
                <a:ext uri="{FF2B5EF4-FFF2-40B4-BE49-F238E27FC236}">
                  <a16:creationId xmlns:a16="http://schemas.microsoft.com/office/drawing/2014/main" id="{76EBDB30-C2FD-A2ED-0C5B-1D926D824384}"/>
                </a:ext>
              </a:extLst>
            </p:cNvPr>
            <p:cNvCxnSpPr>
              <a:cxnSpLocks/>
            </p:cNvCxnSpPr>
            <p:nvPr/>
          </p:nvCxnSpPr>
          <p:spPr>
            <a:xfrm flipH="1" flipV="1">
              <a:off x="1682496" y="4647778"/>
              <a:ext cx="565529" cy="652343"/>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26" name="直線矢印コネクタ 125">
              <a:extLst>
                <a:ext uri="{FF2B5EF4-FFF2-40B4-BE49-F238E27FC236}">
                  <a16:creationId xmlns:a16="http://schemas.microsoft.com/office/drawing/2014/main" id="{FBD271A9-7197-B52D-ABDC-A43354318DD3}"/>
                </a:ext>
              </a:extLst>
            </p:cNvPr>
            <p:cNvCxnSpPr>
              <a:cxnSpLocks/>
            </p:cNvCxnSpPr>
            <p:nvPr/>
          </p:nvCxnSpPr>
          <p:spPr>
            <a:xfrm flipV="1">
              <a:off x="2848287" y="4368087"/>
              <a:ext cx="572470" cy="913954"/>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27" name="直線矢印コネクタ 126">
              <a:extLst>
                <a:ext uri="{FF2B5EF4-FFF2-40B4-BE49-F238E27FC236}">
                  <a16:creationId xmlns:a16="http://schemas.microsoft.com/office/drawing/2014/main" id="{BB2E3233-4DEC-D893-2183-DD9C5974842B}"/>
                </a:ext>
              </a:extLst>
            </p:cNvPr>
            <p:cNvCxnSpPr>
              <a:cxnSpLocks/>
            </p:cNvCxnSpPr>
            <p:nvPr/>
          </p:nvCxnSpPr>
          <p:spPr>
            <a:xfrm flipV="1">
              <a:off x="1658447" y="2834640"/>
              <a:ext cx="380665" cy="791218"/>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28" name="直線矢印コネクタ 127">
              <a:extLst>
                <a:ext uri="{FF2B5EF4-FFF2-40B4-BE49-F238E27FC236}">
                  <a16:creationId xmlns:a16="http://schemas.microsoft.com/office/drawing/2014/main" id="{17D8DE59-4551-39A1-33CA-E91D19B56F8D}"/>
                </a:ext>
              </a:extLst>
            </p:cNvPr>
            <p:cNvCxnSpPr>
              <a:cxnSpLocks/>
            </p:cNvCxnSpPr>
            <p:nvPr/>
          </p:nvCxnSpPr>
          <p:spPr>
            <a:xfrm flipV="1">
              <a:off x="1933685" y="3830809"/>
              <a:ext cx="1082469" cy="214761"/>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29" name="直線矢印コネクタ 128">
              <a:extLst>
                <a:ext uri="{FF2B5EF4-FFF2-40B4-BE49-F238E27FC236}">
                  <a16:creationId xmlns:a16="http://schemas.microsoft.com/office/drawing/2014/main" id="{B61D908C-552D-F657-794F-CBCC9DDBA003}"/>
                </a:ext>
              </a:extLst>
            </p:cNvPr>
            <p:cNvCxnSpPr>
              <a:cxnSpLocks/>
            </p:cNvCxnSpPr>
            <p:nvPr/>
          </p:nvCxnSpPr>
          <p:spPr>
            <a:xfrm flipH="1" flipV="1">
              <a:off x="2869504" y="2764852"/>
              <a:ext cx="652839" cy="52676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0" name="直線矢印コネクタ 129">
              <a:extLst>
                <a:ext uri="{FF2B5EF4-FFF2-40B4-BE49-F238E27FC236}">
                  <a16:creationId xmlns:a16="http://schemas.microsoft.com/office/drawing/2014/main" id="{E9EE1FFA-9188-60E0-B58D-DA0906F4921B}"/>
                </a:ext>
              </a:extLst>
            </p:cNvPr>
            <p:cNvCxnSpPr>
              <a:cxnSpLocks/>
              <a:endCxn id="134" idx="3"/>
            </p:cNvCxnSpPr>
            <p:nvPr/>
          </p:nvCxnSpPr>
          <p:spPr>
            <a:xfrm flipH="1">
              <a:off x="1843310" y="3631639"/>
              <a:ext cx="1140711" cy="27591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49" name="グループ化 148">
            <a:extLst>
              <a:ext uri="{FF2B5EF4-FFF2-40B4-BE49-F238E27FC236}">
                <a16:creationId xmlns:a16="http://schemas.microsoft.com/office/drawing/2014/main" id="{88460BF7-D8B9-C487-55DF-587DFEB0CEE8}"/>
              </a:ext>
            </a:extLst>
          </p:cNvPr>
          <p:cNvGrpSpPr/>
          <p:nvPr/>
        </p:nvGrpSpPr>
        <p:grpSpPr>
          <a:xfrm>
            <a:off x="3964846" y="1127759"/>
            <a:ext cx="3976938" cy="1514027"/>
            <a:chOff x="3964846" y="1127759"/>
            <a:chExt cx="3976938" cy="1514027"/>
          </a:xfrm>
        </p:grpSpPr>
        <p:sp>
          <p:nvSpPr>
            <p:cNvPr id="141" name="吹き出し: 角を丸めた四角形 140">
              <a:extLst>
                <a:ext uri="{FF2B5EF4-FFF2-40B4-BE49-F238E27FC236}">
                  <a16:creationId xmlns:a16="http://schemas.microsoft.com/office/drawing/2014/main" id="{83E65971-ADFF-215B-5B92-628E5C6AE903}"/>
                </a:ext>
              </a:extLst>
            </p:cNvPr>
            <p:cNvSpPr/>
            <p:nvPr/>
          </p:nvSpPr>
          <p:spPr>
            <a:xfrm>
              <a:off x="3964846" y="1127759"/>
              <a:ext cx="3976938" cy="1514027"/>
            </a:xfrm>
            <a:prstGeom prst="wedgeRoundRectCallout">
              <a:avLst>
                <a:gd name="adj1" fmla="val -41140"/>
                <a:gd name="adj2" fmla="val 74646"/>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テキスト ボックス 141">
              <a:extLst>
                <a:ext uri="{FF2B5EF4-FFF2-40B4-BE49-F238E27FC236}">
                  <a16:creationId xmlns:a16="http://schemas.microsoft.com/office/drawing/2014/main" id="{C7034CFA-DBD7-8DA9-3B3B-5302B076BBEB}"/>
                </a:ext>
              </a:extLst>
            </p:cNvPr>
            <p:cNvSpPr txBox="1"/>
            <p:nvPr/>
          </p:nvSpPr>
          <p:spPr>
            <a:xfrm>
              <a:off x="4038575" y="1260386"/>
              <a:ext cx="3903209" cy="1200329"/>
            </a:xfrm>
            <a:prstGeom prst="rect">
              <a:avLst/>
            </a:prstGeom>
            <a:noFill/>
          </p:spPr>
          <p:txBody>
            <a:bodyPr wrap="square" rtlCol="0">
              <a:spAutoFit/>
            </a:bodyPr>
            <a:lstStyle/>
            <a:p>
              <a:r>
                <a:rPr kumimoji="1" lang="ja-JP" altLang="en-US" sz="2400">
                  <a:latin typeface="HGS創英角ｺﾞｼｯｸUB" panose="020B0900000000000000" pitchFamily="50" charset="-128"/>
                  <a:ea typeface="HGS創英角ｺﾞｼｯｸUB" panose="020B0900000000000000" pitchFamily="50" charset="-128"/>
                </a:rPr>
                <a:t>順番はわからないが都市１から都市４までの最短距離は覚えておこう！</a:t>
              </a:r>
            </a:p>
          </p:txBody>
        </p:sp>
      </p:grpSp>
      <p:grpSp>
        <p:nvGrpSpPr>
          <p:cNvPr id="151" name="グループ化 150">
            <a:extLst>
              <a:ext uri="{FF2B5EF4-FFF2-40B4-BE49-F238E27FC236}">
                <a16:creationId xmlns:a16="http://schemas.microsoft.com/office/drawing/2014/main" id="{248903E7-C568-BA65-22E8-A019A51364E2}"/>
              </a:ext>
            </a:extLst>
          </p:cNvPr>
          <p:cNvGrpSpPr/>
          <p:nvPr/>
        </p:nvGrpSpPr>
        <p:grpSpPr>
          <a:xfrm>
            <a:off x="9360122" y="505532"/>
            <a:ext cx="1051944" cy="1610575"/>
            <a:chOff x="9360122" y="505532"/>
            <a:chExt cx="1051944" cy="1610575"/>
          </a:xfrm>
        </p:grpSpPr>
        <p:pic>
          <p:nvPicPr>
            <p:cNvPr id="6" name="図 5" descr="グラフィカル ユーザー インターフェイス, ダイアグラム&#10;&#10;AI によって生成されたコンテンツは間違っている可能性があります。">
              <a:extLst>
                <a:ext uri="{FF2B5EF4-FFF2-40B4-BE49-F238E27FC236}">
                  <a16:creationId xmlns:a16="http://schemas.microsoft.com/office/drawing/2014/main" id="{465115D7-5C90-6C75-9107-95802D91E9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60122" y="505532"/>
              <a:ext cx="1051944" cy="584776"/>
            </a:xfrm>
            <a:prstGeom prst="rect">
              <a:avLst/>
            </a:prstGeom>
          </p:spPr>
        </p:pic>
        <p:sp>
          <p:nvSpPr>
            <p:cNvPr id="143" name="テキスト ボックス 142">
              <a:extLst>
                <a:ext uri="{FF2B5EF4-FFF2-40B4-BE49-F238E27FC236}">
                  <a16:creationId xmlns:a16="http://schemas.microsoft.com/office/drawing/2014/main" id="{7183E37C-E417-C55C-6DC6-62869F77CD3B}"/>
                </a:ext>
              </a:extLst>
            </p:cNvPr>
            <p:cNvSpPr txBox="1"/>
            <p:nvPr/>
          </p:nvSpPr>
          <p:spPr>
            <a:xfrm>
              <a:off x="9671956" y="1178695"/>
              <a:ext cx="532412" cy="369332"/>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5</a:t>
              </a:r>
            </a:p>
          </p:txBody>
        </p:sp>
        <p:cxnSp>
          <p:nvCxnSpPr>
            <p:cNvPr id="144" name="直線矢印コネクタ 143">
              <a:extLst>
                <a:ext uri="{FF2B5EF4-FFF2-40B4-BE49-F238E27FC236}">
                  <a16:creationId xmlns:a16="http://schemas.microsoft.com/office/drawing/2014/main" id="{C4E4B71F-629E-C484-8F2A-52A90FF8D526}"/>
                </a:ext>
              </a:extLst>
            </p:cNvPr>
            <p:cNvCxnSpPr>
              <a:cxnSpLocks/>
            </p:cNvCxnSpPr>
            <p:nvPr/>
          </p:nvCxnSpPr>
          <p:spPr>
            <a:xfrm flipV="1">
              <a:off x="9548971" y="1494271"/>
              <a:ext cx="162852" cy="621836"/>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48" name="グループ化 147">
            <a:extLst>
              <a:ext uri="{FF2B5EF4-FFF2-40B4-BE49-F238E27FC236}">
                <a16:creationId xmlns:a16="http://schemas.microsoft.com/office/drawing/2014/main" id="{62A10024-4CF4-2BBE-58D0-ADE86954AC27}"/>
              </a:ext>
            </a:extLst>
          </p:cNvPr>
          <p:cNvGrpSpPr/>
          <p:nvPr/>
        </p:nvGrpSpPr>
        <p:grpSpPr>
          <a:xfrm>
            <a:off x="4172868" y="5083991"/>
            <a:ext cx="3887928" cy="1514027"/>
            <a:chOff x="4172868" y="5083991"/>
            <a:chExt cx="3887928" cy="1514027"/>
          </a:xfrm>
        </p:grpSpPr>
        <p:sp>
          <p:nvSpPr>
            <p:cNvPr id="146" name="吹き出し: 角を丸めた四角形 145">
              <a:extLst>
                <a:ext uri="{FF2B5EF4-FFF2-40B4-BE49-F238E27FC236}">
                  <a16:creationId xmlns:a16="http://schemas.microsoft.com/office/drawing/2014/main" id="{CA4E657F-B73A-DB2F-268E-0326C549FC0E}"/>
                </a:ext>
              </a:extLst>
            </p:cNvPr>
            <p:cNvSpPr/>
            <p:nvPr/>
          </p:nvSpPr>
          <p:spPr>
            <a:xfrm>
              <a:off x="4172868" y="5083991"/>
              <a:ext cx="3755072" cy="1514027"/>
            </a:xfrm>
            <a:prstGeom prst="wedgeRoundRectCallout">
              <a:avLst>
                <a:gd name="adj1" fmla="val 39334"/>
                <a:gd name="adj2" fmla="val -87079"/>
                <a:gd name="adj3" fmla="val 16667"/>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7" name="テキスト ボックス 146">
              <a:extLst>
                <a:ext uri="{FF2B5EF4-FFF2-40B4-BE49-F238E27FC236}">
                  <a16:creationId xmlns:a16="http://schemas.microsoft.com/office/drawing/2014/main" id="{CC728B45-EF39-1D42-DF0D-6342FC83F37B}"/>
                </a:ext>
              </a:extLst>
            </p:cNvPr>
            <p:cNvSpPr txBox="1"/>
            <p:nvPr/>
          </p:nvSpPr>
          <p:spPr>
            <a:xfrm>
              <a:off x="4256018" y="5240839"/>
              <a:ext cx="3804778" cy="1200329"/>
            </a:xfrm>
            <a:prstGeom prst="rect">
              <a:avLst/>
            </a:prstGeom>
            <a:noFill/>
          </p:spPr>
          <p:txBody>
            <a:bodyPr wrap="square" rtlCol="0">
              <a:spAutoFit/>
            </a:bodyPr>
            <a:lstStyle/>
            <a:p>
              <a:r>
                <a:rPr kumimoji="1" lang="ja-JP" altLang="en-US" sz="2400">
                  <a:latin typeface="HGS創英角ｺﾞｼｯｸUB" panose="020B0900000000000000" pitchFamily="50" charset="-128"/>
                  <a:ea typeface="HGS創英角ｺﾞｼｯｸUB" panose="020B0900000000000000" pitchFamily="50" charset="-128"/>
                </a:rPr>
                <a:t>都市１→４の最短距離を利用して都市１→５の最短距離を求めよう！</a:t>
              </a:r>
            </a:p>
          </p:txBody>
        </p:sp>
      </p:grpSp>
      <p:sp>
        <p:nvSpPr>
          <p:cNvPr id="150" name="雲 149">
            <a:extLst>
              <a:ext uri="{FF2B5EF4-FFF2-40B4-BE49-F238E27FC236}">
                <a16:creationId xmlns:a16="http://schemas.microsoft.com/office/drawing/2014/main" id="{87411D27-EA75-25A3-E550-479DE5B11B14}"/>
              </a:ext>
            </a:extLst>
          </p:cNvPr>
          <p:cNvSpPr/>
          <p:nvPr/>
        </p:nvSpPr>
        <p:spPr>
          <a:xfrm>
            <a:off x="7464139" y="3090920"/>
            <a:ext cx="4169664" cy="2447401"/>
          </a:xfrm>
          <a:prstGeom prst="cloud">
            <a:avLst/>
          </a:prstGeom>
          <a:solidFill>
            <a:srgbClr val="FFE3BD">
              <a:alpha val="19000"/>
            </a:srgbClr>
          </a:solidFill>
          <a:ln w="19050">
            <a:solidFill>
              <a:srgbClr val="261C1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スライド番号プレースホルダー 2">
            <a:extLst>
              <a:ext uri="{FF2B5EF4-FFF2-40B4-BE49-F238E27FC236}">
                <a16:creationId xmlns:a16="http://schemas.microsoft.com/office/drawing/2014/main" id="{847795D3-5E8D-40C3-26C4-626D62440AF6}"/>
              </a:ext>
            </a:extLst>
          </p:cNvPr>
          <p:cNvSpPr>
            <a:spLocks noGrp="1"/>
          </p:cNvSpPr>
          <p:nvPr>
            <p:ph type="sldNum" sz="quarter" idx="12"/>
          </p:nvPr>
        </p:nvSpPr>
        <p:spPr/>
        <p:txBody>
          <a:bodyPr/>
          <a:lstStyle/>
          <a:p>
            <a:fld id="{9E365578-86CB-437F-8A21-C7B14E4ACE69}" type="slidenum">
              <a:rPr kumimoji="1" lang="ja-JP" altLang="en-US" sz="2000" smtClean="0"/>
              <a:t>13</a:t>
            </a:fld>
            <a:endParaRPr kumimoji="1" lang="ja-JP" altLang="en-US" sz="2000"/>
          </a:p>
        </p:txBody>
      </p:sp>
    </p:spTree>
    <p:extLst>
      <p:ext uri="{BB962C8B-B14F-4D97-AF65-F5344CB8AC3E}">
        <p14:creationId xmlns:p14="http://schemas.microsoft.com/office/powerpoint/2010/main" val="4245048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02EE6-CAC1-7871-292B-92E3527624F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C5EB934-C67A-8826-2F6F-511C459935CA}"/>
              </a:ext>
            </a:extLst>
          </p:cNvPr>
          <p:cNvSpPr>
            <a:spLocks noGrp="1"/>
          </p:cNvSpPr>
          <p:nvPr>
            <p:ph type="title"/>
          </p:nvPr>
        </p:nvSpPr>
        <p:spPr/>
        <p:txBody>
          <a:bodyPr/>
          <a:lstStyle/>
          <a:p>
            <a:r>
              <a:rPr lang="ja-JP" altLang="en-US">
                <a:latin typeface="HGS創英角ｺﾞｼｯｸUB" panose="020B0900000000000000" pitchFamily="50" charset="-128"/>
                <a:ea typeface="HGS創英角ｺﾞｼｯｸUB" panose="020B0900000000000000" pitchFamily="50" charset="-128"/>
              </a:rPr>
              <a:t>効率</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5" name="テキスト ボックス 4">
            <a:extLst>
              <a:ext uri="{FF2B5EF4-FFF2-40B4-BE49-F238E27FC236}">
                <a16:creationId xmlns:a16="http://schemas.microsoft.com/office/drawing/2014/main" id="{8EB5003B-3F7D-3530-EC7F-E3E2913A8545}"/>
              </a:ext>
            </a:extLst>
          </p:cNvPr>
          <p:cNvSpPr txBox="1"/>
          <p:nvPr/>
        </p:nvSpPr>
        <p:spPr>
          <a:xfrm>
            <a:off x="666496" y="1417582"/>
            <a:ext cx="8833104" cy="923330"/>
          </a:xfrm>
          <a:prstGeom prst="rect">
            <a:avLst/>
          </a:prstGeom>
          <a:noFill/>
        </p:spPr>
        <p:txBody>
          <a:bodyPr wrap="square" rtlCol="0">
            <a:spAutoFit/>
          </a:bodyPr>
          <a:lstStyle/>
          <a:p>
            <a:r>
              <a:rPr kumimoji="1" lang="ja-JP" altLang="en-US">
                <a:latin typeface="HGS創英角ｺﾞｼｯｸUB" panose="020B0900000000000000" pitchFamily="50" charset="-128"/>
                <a:ea typeface="HGS創英角ｺﾞｼｯｸUB" panose="020B0900000000000000" pitchFamily="50" charset="-128"/>
              </a:rPr>
              <a:t>・訪問済みの都市をビット列の</a:t>
            </a:r>
            <a:r>
              <a:rPr kumimoji="1" lang="en-US" altLang="ja-JP">
                <a:latin typeface="HGS創英角ｺﾞｼｯｸUB" panose="020B0900000000000000" pitchFamily="50" charset="-128"/>
                <a:ea typeface="HGS創英角ｺﾞｼｯｸUB" panose="020B0900000000000000" pitchFamily="50" charset="-128"/>
              </a:rPr>
              <a:t>0,1</a:t>
            </a:r>
            <a:r>
              <a:rPr kumimoji="1" lang="ja-JP" altLang="en-US">
                <a:latin typeface="HGS創英角ｺﾞｼｯｸUB" panose="020B0900000000000000" pitchFamily="50" charset="-128"/>
                <a:ea typeface="HGS創英角ｺﾞｼｯｸUB" panose="020B0900000000000000" pitchFamily="50" charset="-128"/>
              </a:rPr>
              <a:t>で表現する。都市が５つの場合次のようになる。（都市２と５が訪問済みの場合）</a:t>
            </a:r>
            <a:endParaRPr kumimoji="1" lang="en-US" altLang="ja-JP">
              <a:latin typeface="HGS創英角ｺﾞｼｯｸUB" panose="020B0900000000000000" pitchFamily="50" charset="-128"/>
              <a:ea typeface="HGS創英角ｺﾞｼｯｸUB" panose="020B0900000000000000" pitchFamily="50" charset="-128"/>
            </a:endParaRPr>
          </a:p>
          <a:p>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CCE5968-817B-FA35-1746-D2091166E1A4}"/>
              </a:ext>
            </a:extLst>
          </p:cNvPr>
          <p:cNvSpPr txBox="1"/>
          <p:nvPr/>
        </p:nvSpPr>
        <p:spPr>
          <a:xfrm>
            <a:off x="1353312" y="2048256"/>
            <a:ext cx="8595360" cy="1384995"/>
          </a:xfrm>
          <a:prstGeom prst="rect">
            <a:avLst/>
          </a:prstGeom>
          <a:noFill/>
        </p:spPr>
        <p:txBody>
          <a:bodyPr wrap="square" rtlCol="0">
            <a:spAutoFit/>
          </a:bodyPr>
          <a:lstStyle/>
          <a:p>
            <a:endParaRPr kumimoji="1" lang="en-US" altLang="ja-JP">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　　 都市５        　 都市４            都市３            都市２            都市１</a:t>
            </a:r>
            <a:endParaRPr kumimoji="1" lang="en-US" altLang="ja-JP" sz="2400">
              <a:latin typeface="HGS創英角ｺﾞｼｯｸUB" panose="020B0900000000000000" pitchFamily="50" charset="-128"/>
              <a:ea typeface="HGS創英角ｺﾞｼｯｸUB" panose="020B0900000000000000" pitchFamily="50" charset="-128"/>
            </a:endParaRPr>
          </a:p>
          <a:p>
            <a:r>
              <a:rPr kumimoji="1" lang="en-US" altLang="ja-JP" sz="2400">
                <a:latin typeface="HGS創英角ｺﾞｼｯｸUB" panose="020B0900000000000000" pitchFamily="50" charset="-128"/>
                <a:ea typeface="HGS創英角ｺﾞｼｯｸUB" panose="020B0900000000000000" pitchFamily="50" charset="-128"/>
              </a:rPr>
              <a:t>       </a:t>
            </a:r>
            <a:r>
              <a:rPr kumimoji="1" lang="en-US" altLang="ja-JP" sz="2400">
                <a:solidFill>
                  <a:srgbClr val="FF0000"/>
                </a:solidFill>
                <a:latin typeface="HGS創英角ｺﾞｼｯｸUB" panose="020B0900000000000000" pitchFamily="50" charset="-128"/>
                <a:ea typeface="HGS創英角ｺﾞｼｯｸUB" panose="020B0900000000000000" pitchFamily="50" charset="-128"/>
              </a:rPr>
              <a:t>1</a:t>
            </a:r>
            <a:r>
              <a:rPr kumimoji="1" lang="en-US" altLang="ja-JP" sz="2400">
                <a:latin typeface="HGS創英角ｺﾞｼｯｸUB" panose="020B0900000000000000" pitchFamily="50" charset="-128"/>
                <a:ea typeface="HGS創英角ｺﾞｼｯｸUB" panose="020B0900000000000000" pitchFamily="50" charset="-128"/>
              </a:rPr>
              <a:t>              0              0              </a:t>
            </a:r>
            <a:r>
              <a:rPr kumimoji="1" lang="en-US" altLang="ja-JP" sz="2400">
                <a:solidFill>
                  <a:srgbClr val="FF0000"/>
                </a:solidFill>
                <a:latin typeface="HGS創英角ｺﾞｼｯｸUB" panose="020B0900000000000000" pitchFamily="50" charset="-128"/>
                <a:ea typeface="HGS創英角ｺﾞｼｯｸUB" panose="020B0900000000000000" pitchFamily="50" charset="-128"/>
              </a:rPr>
              <a:t>1</a:t>
            </a:r>
            <a:r>
              <a:rPr kumimoji="1" lang="en-US" altLang="ja-JP" sz="2400">
                <a:latin typeface="HGS創英角ｺﾞｼｯｸUB" panose="020B0900000000000000" pitchFamily="50" charset="-128"/>
                <a:ea typeface="HGS創英角ｺﾞｼｯｸUB" panose="020B0900000000000000" pitchFamily="50" charset="-128"/>
              </a:rPr>
              <a:t>              0</a:t>
            </a:r>
          </a:p>
          <a:p>
            <a:r>
              <a:rPr kumimoji="1" lang="en-US" altLang="ja-JP" sz="2400">
                <a:latin typeface="HGS創英角ｺﾞｼｯｸUB" panose="020B0900000000000000" pitchFamily="50" charset="-128"/>
                <a:ea typeface="HGS創英角ｺﾞｼｯｸUB" panose="020B0900000000000000" pitchFamily="50" charset="-128"/>
              </a:rPr>
              <a:t>    </a:t>
            </a:r>
            <a:r>
              <a:rPr kumimoji="1" lang="ja-JP" altLang="en-US">
                <a:latin typeface="HGS創英角ｺﾞｼｯｸUB" panose="020B0900000000000000" pitchFamily="50" charset="-128"/>
                <a:ea typeface="HGS創英角ｺﾞｼｯｸUB" panose="020B0900000000000000" pitchFamily="50" charset="-128"/>
              </a:rPr>
              <a:t>訪問済み　　            　　　　　　　　　　　訪問済み</a:t>
            </a:r>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3F42E8AC-EC8E-0507-5D85-9A16666FE83F}"/>
                  </a:ext>
                </a:extLst>
              </p:cNvPr>
              <p:cNvSpPr txBox="1"/>
              <p:nvPr/>
            </p:nvSpPr>
            <p:spPr>
              <a:xfrm>
                <a:off x="838200" y="3571581"/>
                <a:ext cx="9210040" cy="2686889"/>
              </a:xfrm>
              <a:prstGeom prst="rect">
                <a:avLst/>
              </a:prstGeom>
              <a:noFill/>
            </p:spPr>
            <p:txBody>
              <a:bodyPr wrap="square" rtlCol="0">
                <a:spAutoFit/>
              </a:bodyPr>
              <a:lstStyle/>
              <a:p>
                <a:r>
                  <a:rPr kumimoji="1" lang="en-US" altLang="ja-JP">
                    <a:latin typeface="HGS創英角ｺﾞｼｯｸUB" panose="020B0900000000000000" pitchFamily="50" charset="-128"/>
                    <a:ea typeface="HGS創英角ｺﾞｼｯｸUB" panose="020B0900000000000000" pitchFamily="50" charset="-128"/>
                  </a:rPr>
                  <a:t>N</a:t>
                </a:r>
                <a:r>
                  <a:rPr kumimoji="1" lang="ja-JP" altLang="en-US">
                    <a:latin typeface="HGS創英角ｺﾞｼｯｸUB" panose="020B0900000000000000" pitchFamily="50" charset="-128"/>
                    <a:ea typeface="HGS創英角ｺﾞｼｯｸUB" panose="020B0900000000000000" pitchFamily="50" charset="-128"/>
                  </a:rPr>
                  <a:t>個の都市の訪問状態のすべての総数は</a:t>
                </a:r>
                <a:r>
                  <a:rPr kumimoji="1" lang="en-US" altLang="ja-JP">
                    <a:latin typeface="HGS創英角ｺﾞｼｯｸUB" panose="020B0900000000000000" pitchFamily="50" charset="-128"/>
                    <a:ea typeface="HGS創英角ｺﾞｼｯｸUB" panose="020B0900000000000000" pitchFamily="50" charset="-128"/>
                  </a:rPr>
                  <a:t>N</a:t>
                </a:r>
                <a:r>
                  <a:rPr kumimoji="1" lang="ja-JP" altLang="en-US">
                    <a:latin typeface="HGS創英角ｺﾞｼｯｸUB" panose="020B0900000000000000" pitchFamily="50" charset="-128"/>
                    <a:ea typeface="HGS創英角ｺﾞｼｯｸUB" panose="020B0900000000000000" pitchFamily="50" charset="-128"/>
                  </a:rPr>
                  <a:t>桁のビット列で表現されるため総数は</a:t>
                </a:r>
                <a14:m>
                  <m:oMath xmlns:m="http://schemas.openxmlformats.org/officeDocument/2006/math">
                    <m:sSup>
                      <m:sSupPr>
                        <m:ctrlPr>
                          <a:rPr kumimoji="1" lang="en-US" altLang="ja-JP" i="1" smtClean="0">
                            <a:latin typeface="Cambria Math" panose="02040503050406030204" pitchFamily="18" charset="0"/>
                          </a:rPr>
                        </m:ctrlPr>
                      </m:sSupPr>
                      <m:e>
                        <m:r>
                          <a:rPr kumimoji="1" lang="en-US" altLang="ja-JP" b="0" i="1" smtClean="0">
                            <a:latin typeface="Cambria Math" panose="02040503050406030204" pitchFamily="18" charset="0"/>
                          </a:rPr>
                          <m:t>2</m:t>
                        </m:r>
                      </m:e>
                      <m:sup>
                        <m:r>
                          <a:rPr kumimoji="1" lang="en-US" altLang="ja-JP" b="0" i="1" smtClean="0">
                            <a:latin typeface="Cambria Math" panose="02040503050406030204" pitchFamily="18" charset="0"/>
                          </a:rPr>
                          <m:t>𝑁</m:t>
                        </m:r>
                      </m:sup>
                    </m:sSup>
                  </m:oMath>
                </a14:m>
                <a:r>
                  <a:rPr kumimoji="1" lang="ja-JP" altLang="en-US">
                    <a:latin typeface="HGS創英角ｺﾞｼｯｸUB" panose="020B0900000000000000" pitchFamily="50" charset="-128"/>
                    <a:ea typeface="HGS創英角ｺﾞｼｯｸUB" panose="020B0900000000000000" pitchFamily="50" charset="-128"/>
                  </a:rPr>
                  <a:t>通り</a:t>
                </a:r>
                <a:endParaRPr kumimoji="1" lang="en-US" altLang="ja-JP">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それぞれに</a:t>
                </a:r>
                <a14:m>
                  <m:oMath xmlns:m="http://schemas.openxmlformats.org/officeDocument/2006/math">
                    <m:sSup>
                      <m:sSupPr>
                        <m:ctrlPr>
                          <a:rPr kumimoji="1" lang="en-US" altLang="ja-JP" i="1" smtClean="0">
                            <a:latin typeface="Cambria Math" panose="02040503050406030204" pitchFamily="18" charset="0"/>
                          </a:rPr>
                        </m:ctrlPr>
                      </m:sSupPr>
                      <m:e>
                        <m:r>
                          <a:rPr kumimoji="1" lang="en-US" altLang="ja-JP" b="0" i="1" smtClean="0">
                            <a:latin typeface="Cambria Math" panose="02040503050406030204" pitchFamily="18" charset="0"/>
                          </a:rPr>
                          <m:t>𝑁</m:t>
                        </m:r>
                      </m:e>
                      <m:sup>
                        <m:r>
                          <a:rPr kumimoji="1" lang="en-US" altLang="ja-JP" b="0" i="1" smtClean="0">
                            <a:latin typeface="Cambria Math" panose="02040503050406030204" pitchFamily="18" charset="0"/>
                          </a:rPr>
                          <m:t>2</m:t>
                        </m:r>
                      </m:sup>
                    </m:sSup>
                  </m:oMath>
                </a14:m>
                <a:r>
                  <a:rPr kumimoji="1" lang="ja-JP" altLang="en-US">
                    <a:latin typeface="HGS創英角ｺﾞｼｯｸUB" panose="020B0900000000000000" pitchFamily="50" charset="-128"/>
                    <a:ea typeface="HGS創英角ｺﾞｼｯｸUB" panose="020B0900000000000000" pitchFamily="50" charset="-128"/>
                  </a:rPr>
                  <a:t>回の演算を行うので演算回数は　</a:t>
                </a:r>
                <a14:m>
                  <m:oMath xmlns:m="http://schemas.openxmlformats.org/officeDocument/2006/math">
                    <m:r>
                      <a:rPr kumimoji="1" lang="ja-JP" altLang="en-US" sz="2400" i="1" dirty="0">
                        <a:latin typeface="Cambria Math" panose="02040503050406030204" pitchFamily="18" charset="0"/>
                      </a:rPr>
                      <m:t>　</m:t>
                    </m:r>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2</m:t>
                        </m:r>
                      </m:e>
                      <m:sup>
                        <m:r>
                          <a:rPr kumimoji="1" lang="en-US" altLang="ja-JP" sz="2400" i="1">
                            <a:latin typeface="Cambria Math" panose="02040503050406030204" pitchFamily="18" charset="0"/>
                          </a:rPr>
                          <m:t>𝑁</m:t>
                        </m:r>
                      </m:sup>
                    </m:sSup>
                    <m:r>
                      <a:rPr kumimoji="1" lang="en-US" altLang="ja-JP" sz="2400" i="1" smtClean="0">
                        <a:latin typeface="Cambria Math" panose="02040503050406030204" pitchFamily="18" charset="0"/>
                        <a:ea typeface="Cambria Math" panose="02040503050406030204" pitchFamily="18" charset="0"/>
                      </a:rPr>
                      <m:t>×</m:t>
                    </m:r>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𝑁</m:t>
                        </m:r>
                      </m:e>
                      <m:sup>
                        <m:r>
                          <a:rPr kumimoji="1" lang="en-US" altLang="ja-JP" sz="2400" i="1">
                            <a:latin typeface="Cambria Math" panose="02040503050406030204" pitchFamily="18" charset="0"/>
                          </a:rPr>
                          <m:t>2</m:t>
                        </m:r>
                      </m:sup>
                    </m:sSup>
                  </m:oMath>
                </a14:m>
                <a:r>
                  <a:rPr kumimoji="1" lang="ja-JP" altLang="en-US" sz="2400">
                    <a:latin typeface="HGS創英角ｺﾞｼｯｸUB" panose="020B0900000000000000" pitchFamily="50" charset="-128"/>
                    <a:ea typeface="HGS創英角ｺﾞｼｯｸUB" panose="020B0900000000000000" pitchFamily="50" charset="-128"/>
                  </a:rPr>
                  <a:t>　</a:t>
                </a:r>
                <a:endParaRPr kumimoji="1" lang="en-US" altLang="ja-JP" sz="2400">
                  <a:latin typeface="HGS創英角ｺﾞｼｯｸUB" panose="020B0900000000000000" pitchFamily="50" charset="-128"/>
                  <a:ea typeface="HGS創英角ｺﾞｼｯｸUB" panose="020B0900000000000000" pitchFamily="50" charset="-128"/>
                </a:endParaRPr>
              </a:p>
              <a:p>
                <a:endParaRPr kumimoji="1" lang="en-US" altLang="ja-JP" sz="2400">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総当たりの演算回数は　　</a:t>
                </a:r>
                <a14:m>
                  <m:oMath xmlns:m="http://schemas.openxmlformats.org/officeDocument/2006/math">
                    <m:r>
                      <m:rPr>
                        <m:sty m:val="p"/>
                      </m:rPr>
                      <a:rPr kumimoji="1" lang="en-US" altLang="ja-JP" sz="2400" i="1">
                        <a:latin typeface="Cambria Math" panose="02040503050406030204" pitchFamily="18" charset="0"/>
                        <a:ea typeface="HGS創英角ｺﾞｼｯｸUB" panose="020B0900000000000000" pitchFamily="50" charset="-128"/>
                      </a:rPr>
                      <m:t>N</m:t>
                    </m:r>
                    <m:r>
                      <a:rPr kumimoji="1" lang="en-US" altLang="ja-JP" sz="2400" b="0" i="1" smtClean="0">
                        <a:latin typeface="Cambria Math" panose="02040503050406030204" pitchFamily="18" charset="0"/>
                        <a:ea typeface="Cambria Math" panose="02040503050406030204" pitchFamily="18" charset="0"/>
                      </a:rPr>
                      <m:t>! </m:t>
                    </m:r>
                  </m:oMath>
                </a14:m>
                <a:r>
                  <a:rPr kumimoji="1" lang="ja-JP" altLang="en-US">
                    <a:latin typeface="HGS創英角ｺﾞｼｯｸUB" panose="020B0900000000000000" pitchFamily="50" charset="-128"/>
                    <a:ea typeface="HGS創英角ｺﾞｼｯｸUB" panose="020B0900000000000000" pitchFamily="50" charset="-128"/>
                  </a:rPr>
                  <a:t>　　なので都市数が２０個の時、効率は</a:t>
                </a:r>
                <a:endParaRPr kumimoji="1" lang="en-US" altLang="ja-JP">
                  <a:latin typeface="HGS創英角ｺﾞｼｯｸUB" panose="020B0900000000000000" pitchFamily="50" charset="-128"/>
                  <a:ea typeface="HGS創英角ｺﾞｼｯｸUB" panose="020B0900000000000000" pitchFamily="50" charset="-128"/>
                </a:endParaRPr>
              </a:p>
              <a:p>
                <a:endParaRPr kumimoji="1" lang="en-US" altLang="ja-JP" sz="2400">
                  <a:latin typeface="HGS創英角ｺﾞｼｯｸUB" panose="020B0900000000000000" pitchFamily="50" charset="-128"/>
                  <a:ea typeface="HGS創英角ｺﾞｼｯｸUB" panose="020B0900000000000000" pitchFamily="50" charset="-128"/>
                </a:endParaRPr>
              </a:p>
              <a:p>
                <a:pPr/>
                <a14:m>
                  <m:oMathPara xmlns:m="http://schemas.openxmlformats.org/officeDocument/2006/math">
                    <m:oMathParaPr>
                      <m:jc m:val="centerGroup"/>
                    </m:oMathParaPr>
                    <m:oMath xmlns:m="http://schemas.openxmlformats.org/officeDocument/2006/math">
                      <m:f>
                        <m:fPr>
                          <m:ctrlPr>
                            <a:rPr kumimoji="1" lang="en-US" altLang="ja-JP" sz="2400" i="1" smtClean="0">
                              <a:latin typeface="Cambria Math" panose="02040503050406030204" pitchFamily="18" charset="0"/>
                              <a:ea typeface="HGS創英角ｺﾞｼｯｸUB" panose="020B0900000000000000" pitchFamily="50" charset="-128"/>
                            </a:rPr>
                          </m:ctrlPr>
                        </m:fPr>
                        <m:num>
                          <m:sSup>
                            <m:sSupPr>
                              <m:ctrlPr>
                                <a:rPr kumimoji="1" lang="en-US" altLang="ja-JP" sz="2400" i="1">
                                  <a:latin typeface="Cambria Math" panose="02040503050406030204" pitchFamily="18" charset="0"/>
                                </a:rPr>
                              </m:ctrlPr>
                            </m:sSupPr>
                            <m:e>
                              <m:r>
                                <a:rPr kumimoji="1" lang="en-US" altLang="ja-JP" sz="2400" i="1">
                                  <a:latin typeface="Cambria Math" panose="02040503050406030204" pitchFamily="18" charset="0"/>
                                </a:rPr>
                                <m:t>2</m:t>
                              </m:r>
                            </m:e>
                            <m:sup>
                              <m:r>
                                <a:rPr kumimoji="1" lang="en-US" altLang="ja-JP" sz="2400" b="0" i="1" smtClean="0">
                                  <a:latin typeface="Cambria Math" panose="02040503050406030204" pitchFamily="18" charset="0"/>
                                </a:rPr>
                                <m:t>20</m:t>
                              </m:r>
                            </m:sup>
                          </m:sSup>
                          <m:r>
                            <a:rPr kumimoji="1" lang="en-US" altLang="ja-JP" sz="2400" i="1">
                              <a:latin typeface="Cambria Math" panose="02040503050406030204" pitchFamily="18" charset="0"/>
                              <a:ea typeface="Cambria Math" panose="02040503050406030204" pitchFamily="18" charset="0"/>
                            </a:rPr>
                            <m:t>×</m:t>
                          </m:r>
                          <m:sSup>
                            <m:sSupPr>
                              <m:ctrlPr>
                                <a:rPr kumimoji="1" lang="en-US" altLang="ja-JP" sz="2400" i="1">
                                  <a:latin typeface="Cambria Math" panose="02040503050406030204" pitchFamily="18" charset="0"/>
                                </a:rPr>
                              </m:ctrlPr>
                            </m:sSupPr>
                            <m:e>
                              <m:r>
                                <a:rPr kumimoji="1" lang="en-US" altLang="ja-JP" sz="2400" b="0" i="1" smtClean="0">
                                  <a:latin typeface="Cambria Math" panose="02040503050406030204" pitchFamily="18" charset="0"/>
                                </a:rPr>
                                <m:t>20</m:t>
                              </m:r>
                            </m:e>
                            <m:sup>
                              <m:r>
                                <a:rPr kumimoji="1" lang="en-US" altLang="ja-JP" sz="2400" i="1">
                                  <a:latin typeface="Cambria Math" panose="02040503050406030204" pitchFamily="18" charset="0"/>
                                </a:rPr>
                                <m:t>2</m:t>
                              </m:r>
                            </m:sup>
                          </m:sSup>
                          <m:r>
                            <m:rPr>
                              <m:nor/>
                            </m:rPr>
                            <a:rPr kumimoji="1" lang="ja-JP" altLang="en-US" sz="2400" dirty="0">
                              <a:latin typeface="HGS創英角ｺﾞｼｯｸUB" panose="020B0900000000000000" pitchFamily="50" charset="-128"/>
                              <a:ea typeface="HGS創英角ｺﾞｼｯｸUB" panose="020B0900000000000000" pitchFamily="50" charset="-128"/>
                            </a:rPr>
                            <m:t>　</m:t>
                          </m:r>
                        </m:num>
                        <m:den>
                          <m:r>
                            <a:rPr kumimoji="1" lang="en-US" altLang="ja-JP" sz="2400" b="0" i="1" smtClean="0">
                              <a:latin typeface="Cambria Math" panose="02040503050406030204" pitchFamily="18" charset="0"/>
                              <a:ea typeface="HGS創英角ｺﾞｼｯｸUB" panose="020B0900000000000000" pitchFamily="50" charset="-128"/>
                            </a:rPr>
                            <m:t>20</m:t>
                          </m:r>
                          <m:r>
                            <a:rPr kumimoji="1" lang="en-US" altLang="ja-JP" sz="2400" i="1">
                              <a:latin typeface="Cambria Math" panose="02040503050406030204" pitchFamily="18" charset="0"/>
                              <a:ea typeface="Cambria Math" panose="02040503050406030204" pitchFamily="18" charset="0"/>
                            </a:rPr>
                            <m:t>! </m:t>
                          </m:r>
                        </m:den>
                      </m:f>
                      <m:r>
                        <a:rPr kumimoji="1" lang="en-US" altLang="ja-JP" sz="2400" b="0" i="1" smtClean="0">
                          <a:latin typeface="Cambria Math" panose="02040503050406030204" pitchFamily="18" charset="0"/>
                          <a:ea typeface="HGS創英角ｺﾞｼｯｸUB" panose="020B0900000000000000" pitchFamily="50" charset="-128"/>
                        </a:rPr>
                        <m:t>=1.723</m:t>
                      </m:r>
                      <m:r>
                        <a:rPr kumimoji="1" lang="en-US" altLang="ja-JP" sz="2400" b="0" i="1" smtClean="0">
                          <a:latin typeface="Cambria Math" panose="02040503050406030204" pitchFamily="18" charset="0"/>
                          <a:ea typeface="Cambria Math" panose="02040503050406030204" pitchFamily="18" charset="0"/>
                        </a:rPr>
                        <m:t>×</m:t>
                      </m:r>
                      <m:sSup>
                        <m:sSupPr>
                          <m:ctrlPr>
                            <a:rPr kumimoji="1" lang="en-US" altLang="ja-JP" sz="2400" b="0" i="1" smtClean="0">
                              <a:latin typeface="Cambria Math" panose="02040503050406030204" pitchFamily="18" charset="0"/>
                              <a:ea typeface="Cambria Math" panose="02040503050406030204" pitchFamily="18" charset="0"/>
                            </a:rPr>
                          </m:ctrlPr>
                        </m:sSupPr>
                        <m:e>
                          <m:r>
                            <a:rPr kumimoji="1" lang="en-US" altLang="ja-JP" sz="2400" b="0" i="1" smtClean="0">
                              <a:latin typeface="Cambria Math" panose="02040503050406030204" pitchFamily="18" charset="0"/>
                              <a:ea typeface="Cambria Math" panose="02040503050406030204" pitchFamily="18" charset="0"/>
                            </a:rPr>
                            <m:t>10</m:t>
                          </m:r>
                        </m:e>
                        <m:sup>
                          <m:r>
                            <a:rPr kumimoji="1" lang="en-US" altLang="ja-JP" sz="2400" b="0" i="1" smtClean="0">
                              <a:latin typeface="Cambria Math" panose="02040503050406030204" pitchFamily="18" charset="0"/>
                              <a:ea typeface="Cambria Math" panose="02040503050406030204" pitchFamily="18" charset="0"/>
                            </a:rPr>
                            <m:t>−10</m:t>
                          </m:r>
                        </m:sup>
                      </m:sSup>
                      <m:r>
                        <a:rPr kumimoji="1" lang="en-US" altLang="ja-JP" sz="2400" b="0" i="1" smtClean="0">
                          <a:latin typeface="Cambria Math" panose="02040503050406030204" pitchFamily="18" charset="0"/>
                          <a:ea typeface="Cambria Math" panose="02040503050406030204" pitchFamily="18" charset="0"/>
                        </a:rPr>
                        <m:t>=1.723×</m:t>
                      </m:r>
                      <m:sSup>
                        <m:sSupPr>
                          <m:ctrlPr>
                            <a:rPr kumimoji="1" lang="en-US" altLang="ja-JP" sz="2400" b="0" i="1" smtClean="0">
                              <a:latin typeface="Cambria Math" panose="02040503050406030204" pitchFamily="18" charset="0"/>
                              <a:ea typeface="Cambria Math" panose="02040503050406030204" pitchFamily="18" charset="0"/>
                            </a:rPr>
                          </m:ctrlPr>
                        </m:sSupPr>
                        <m:e>
                          <m:r>
                            <a:rPr kumimoji="1" lang="en-US" altLang="ja-JP" sz="2400" b="0" i="1" smtClean="0">
                              <a:latin typeface="Cambria Math" panose="02040503050406030204" pitchFamily="18" charset="0"/>
                              <a:ea typeface="Cambria Math" panose="02040503050406030204" pitchFamily="18" charset="0"/>
                            </a:rPr>
                            <m:t>10</m:t>
                          </m:r>
                        </m:e>
                        <m:sup>
                          <m:r>
                            <a:rPr kumimoji="1" lang="en-US" altLang="ja-JP" sz="2400" b="0" i="1" smtClean="0">
                              <a:latin typeface="Cambria Math" panose="02040503050406030204" pitchFamily="18" charset="0"/>
                              <a:ea typeface="Cambria Math" panose="02040503050406030204" pitchFamily="18" charset="0"/>
                            </a:rPr>
                            <m:t>−8</m:t>
                          </m:r>
                        </m:sup>
                      </m:sSup>
                      <m:r>
                        <a:rPr kumimoji="1" lang="en-US" altLang="ja-JP" sz="2400" b="0" i="1" smtClean="0">
                          <a:latin typeface="Cambria Math" panose="02040503050406030204" pitchFamily="18" charset="0"/>
                          <a:ea typeface="Cambria Math" panose="02040503050406030204" pitchFamily="18" charset="0"/>
                        </a:rPr>
                        <m:t>[%]</m:t>
                      </m:r>
                    </m:oMath>
                  </m:oMathPara>
                </a14:m>
                <a:endParaRPr kumimoji="1" lang="ja-JP" altLang="en-US" sz="2400">
                  <a:latin typeface="HGS創英角ｺﾞｼｯｸUB" panose="020B0900000000000000" pitchFamily="50" charset="-128"/>
                  <a:ea typeface="HGS創英角ｺﾞｼｯｸUB" panose="020B0900000000000000" pitchFamily="50" charset="-128"/>
                </a:endParaRPr>
              </a:p>
            </p:txBody>
          </p:sp>
        </mc:Choice>
        <mc:Fallback xmlns="">
          <p:sp>
            <p:nvSpPr>
              <p:cNvPr id="3" name="テキスト ボックス 2">
                <a:extLst>
                  <a:ext uri="{FF2B5EF4-FFF2-40B4-BE49-F238E27FC236}">
                    <a16:creationId xmlns:a16="http://schemas.microsoft.com/office/drawing/2014/main" id="{3F42E8AC-EC8E-0507-5D85-9A16666FE83F}"/>
                  </a:ext>
                </a:extLst>
              </p:cNvPr>
              <p:cNvSpPr txBox="1">
                <a:spLocks noRot="1" noChangeAspect="1" noMove="1" noResize="1" noEditPoints="1" noAdjustHandles="1" noChangeArrowheads="1" noChangeShapeType="1" noTextEdit="1"/>
              </p:cNvSpPr>
              <p:nvPr/>
            </p:nvSpPr>
            <p:spPr>
              <a:xfrm>
                <a:off x="838200" y="3571581"/>
                <a:ext cx="9210040" cy="2686889"/>
              </a:xfrm>
              <a:prstGeom prst="rect">
                <a:avLst/>
              </a:prstGeom>
              <a:blipFill>
                <a:blip r:embed="rId3"/>
                <a:stretch>
                  <a:fillRect l="-596" t="-1814"/>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09B2889D-FACE-521B-BA25-87EC4182721F}"/>
              </a:ext>
            </a:extLst>
          </p:cNvPr>
          <p:cNvSpPr>
            <a:spLocks noGrp="1"/>
          </p:cNvSpPr>
          <p:nvPr>
            <p:ph type="sldNum" sz="quarter" idx="12"/>
          </p:nvPr>
        </p:nvSpPr>
        <p:spPr/>
        <p:txBody>
          <a:bodyPr/>
          <a:lstStyle/>
          <a:p>
            <a:fld id="{9E365578-86CB-437F-8A21-C7B14E4ACE69}" type="slidenum">
              <a:rPr kumimoji="1" lang="ja-JP" altLang="en-US" sz="2000" smtClean="0"/>
              <a:t>14</a:t>
            </a:fld>
            <a:endParaRPr kumimoji="1" lang="ja-JP" altLang="en-US" sz="2000" dirty="0"/>
          </a:p>
        </p:txBody>
      </p:sp>
    </p:spTree>
    <p:extLst>
      <p:ext uri="{BB962C8B-B14F-4D97-AF65-F5344CB8AC3E}">
        <p14:creationId xmlns:p14="http://schemas.microsoft.com/office/powerpoint/2010/main" val="1095457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D370E4-0734-3126-F245-F9C44DE226E6}"/>
              </a:ext>
            </a:extLst>
          </p:cNvPr>
          <p:cNvSpPr>
            <a:spLocks noGrp="1"/>
          </p:cNvSpPr>
          <p:nvPr>
            <p:ph type="title"/>
          </p:nvPr>
        </p:nvSpPr>
        <p:spPr/>
        <p:txBody>
          <a:bodyPr/>
          <a:lstStyle/>
          <a:p>
            <a:r>
              <a:rPr lang="ja-JP" altLang="en-US">
                <a:latin typeface="HGS創英角ｺﾞｼｯｸUB" panose="020B0900000000000000" pitchFamily="50" charset="-128"/>
                <a:ea typeface="HGS創英角ｺﾞｼｯｸUB" panose="020B0900000000000000" pitchFamily="50" charset="-128"/>
              </a:rPr>
              <a:t>分枝限定法</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2F28E766-78C1-94C0-C4EE-4CFF2EF7F0D6}"/>
              </a:ext>
            </a:extLst>
          </p:cNvPr>
          <p:cNvSpPr>
            <a:spLocks noGrp="1"/>
          </p:cNvSpPr>
          <p:nvPr>
            <p:ph idx="1"/>
          </p:nvPr>
        </p:nvSpPr>
        <p:spPr/>
        <p:txBody>
          <a:bodyPr/>
          <a:lstStyle/>
          <a:p>
            <a:pPr marL="0" indent="0">
              <a:buNone/>
            </a:pPr>
            <a:r>
              <a:rPr lang="ja-JP" altLang="en-US">
                <a:latin typeface="HGS創英角ｺﾞｼｯｸUB" panose="020B0900000000000000" pitchFamily="50" charset="-128"/>
                <a:ea typeface="HGS創英角ｺﾞｼｯｸUB" panose="020B0900000000000000" pitchFamily="50" charset="-128"/>
              </a:rPr>
              <a:t>〇概要</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・全探索を効率よく省略しながら最適解を見つける。</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〇手順</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・探索空間を「部分問題」に分割</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・各部分問題ごとに下界を計算</a:t>
            </a: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kumimoji="1" lang="ja-JP" altLang="en-US">
                <a:latin typeface="HGS創英角ｺﾞｼｯｸUB" panose="020B0900000000000000" pitchFamily="50" charset="-128"/>
                <a:ea typeface="HGS創英角ｺﾞｼｯｸUB" panose="020B0900000000000000" pitchFamily="50" charset="-128"/>
              </a:rPr>
              <a:t>・その下界が現在の最良解よりも悪い場合は探索を打ち切る。</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endParaRPr kumimoji="1" lang="en-US" altLang="ja-JP">
              <a:latin typeface="HGS創英角ｺﾞｼｯｸUB" panose="020B0900000000000000" pitchFamily="50" charset="-128"/>
              <a:ea typeface="HGS創英角ｺﾞｼｯｸUB" panose="020B0900000000000000" pitchFamily="50" charset="-128"/>
            </a:endParaRPr>
          </a:p>
        </p:txBody>
      </p:sp>
      <p:sp>
        <p:nvSpPr>
          <p:cNvPr id="4" name="スライド番号プレースホルダー 3">
            <a:extLst>
              <a:ext uri="{FF2B5EF4-FFF2-40B4-BE49-F238E27FC236}">
                <a16:creationId xmlns:a16="http://schemas.microsoft.com/office/drawing/2014/main" id="{74205F95-8FA1-96EF-081A-62AAA6CBE3C6}"/>
              </a:ext>
            </a:extLst>
          </p:cNvPr>
          <p:cNvSpPr>
            <a:spLocks noGrp="1"/>
          </p:cNvSpPr>
          <p:nvPr>
            <p:ph type="sldNum" sz="quarter" idx="12"/>
          </p:nvPr>
        </p:nvSpPr>
        <p:spPr/>
        <p:txBody>
          <a:bodyPr/>
          <a:lstStyle/>
          <a:p>
            <a:fld id="{9E365578-86CB-437F-8A21-C7B14E4ACE69}" type="slidenum">
              <a:rPr kumimoji="1" lang="ja-JP" altLang="en-US" smtClean="0"/>
              <a:t>15</a:t>
            </a:fld>
            <a:endParaRPr kumimoji="1" lang="ja-JP" altLang="en-US"/>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8449B87A-05B8-1326-1036-FE823F1F25B1}"/>
              </a:ext>
            </a:extLst>
          </p:cNvPr>
          <p:cNvPicPr>
            <a:picLocks noChangeAspect="1"/>
          </p:cNvPicPr>
          <p:nvPr/>
        </p:nvPicPr>
        <p:blipFill>
          <a:blip r:embed="rId2">
            <a:extLst>
              <a:ext uri="{28A0092B-C50C-407E-A947-70E740481C1C}">
                <a14:useLocalDpi xmlns:a14="http://schemas.microsoft.com/office/drawing/2010/main" val="0"/>
              </a:ext>
            </a:extLst>
          </a:blip>
          <a:srcRect l="-442" t="66248" r="62912" b="-3331"/>
          <a:stretch/>
        </p:blipFill>
        <p:spPr>
          <a:xfrm>
            <a:off x="8610600" y="539393"/>
            <a:ext cx="1618255" cy="1514198"/>
          </a:xfrm>
          <a:prstGeom prst="rect">
            <a:avLst/>
          </a:prstGeom>
        </p:spPr>
      </p:pic>
    </p:spTree>
    <p:extLst>
      <p:ext uri="{BB962C8B-B14F-4D97-AF65-F5344CB8AC3E}">
        <p14:creationId xmlns:p14="http://schemas.microsoft.com/office/powerpoint/2010/main" val="4644631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9CE5CD7-5584-EB14-2915-5A0E9CB3BF7C}"/>
              </a:ext>
            </a:extLst>
          </p:cNvPr>
          <p:cNvSpPr>
            <a:spLocks noGrp="1"/>
          </p:cNvSpPr>
          <p:nvPr>
            <p:ph idx="1"/>
          </p:nvPr>
        </p:nvSpPr>
        <p:spPr>
          <a:xfrm>
            <a:off x="838200" y="1910993"/>
            <a:ext cx="10515600" cy="4265970"/>
          </a:xfrm>
        </p:spPr>
        <p:txBody>
          <a:bodyPr/>
          <a:lstStyle/>
          <a:p>
            <a:r>
              <a:rPr kumimoji="1" lang="en-US" altLang="ja-JP">
                <a:latin typeface="HGS創英角ｺﾞｼｯｸUB" panose="020B0900000000000000" pitchFamily="50" charset="-128"/>
                <a:ea typeface="HGS創英角ｺﾞｼｯｸUB" panose="020B0900000000000000" pitchFamily="50" charset="-128"/>
              </a:rPr>
              <a:t>CPU</a:t>
            </a:r>
            <a:r>
              <a:rPr kumimoji="1" lang="ja-JP" altLang="en-US">
                <a:latin typeface="HGS創英角ｺﾞｼｯｸUB" panose="020B0900000000000000" pitchFamily="50" charset="-128"/>
                <a:ea typeface="HGS創英角ｺﾞｼｯｸUB" panose="020B0900000000000000" pitchFamily="50" charset="-128"/>
              </a:rPr>
              <a:t>：</a:t>
            </a:r>
            <a:r>
              <a:rPr kumimoji="1" lang="en-US" altLang="ja-JP">
                <a:latin typeface="HGS創英角ｺﾞｼｯｸUB" panose="020B0900000000000000" pitchFamily="50" charset="-128"/>
                <a:ea typeface="HGS創英角ｺﾞｼｯｸUB" panose="020B0900000000000000" pitchFamily="50" charset="-128"/>
              </a:rPr>
              <a:t>AMD Ryzen 7 5825U </a:t>
            </a:r>
          </a:p>
          <a:p>
            <a:r>
              <a:rPr lang="en-US" altLang="ja-JP">
                <a:latin typeface="HGS創英角ｺﾞｼｯｸUB" panose="020B0900000000000000" pitchFamily="50" charset="-128"/>
                <a:ea typeface="HGS創英角ｺﾞｼｯｸUB" panose="020B0900000000000000" pitchFamily="50" charset="-128"/>
              </a:rPr>
              <a:t>RAM</a:t>
            </a:r>
            <a:r>
              <a:rPr lang="ja-JP" altLang="en-US">
                <a:latin typeface="HGS創英角ｺﾞｼｯｸUB" panose="020B0900000000000000" pitchFamily="50" charset="-128"/>
                <a:ea typeface="HGS創英角ｺﾞｼｯｸUB" panose="020B0900000000000000" pitchFamily="50" charset="-128"/>
              </a:rPr>
              <a:t>：</a:t>
            </a:r>
            <a:r>
              <a:rPr lang="en-US" altLang="ja-JP">
                <a:latin typeface="HGS創英角ｺﾞｼｯｸUB" panose="020B0900000000000000" pitchFamily="50" charset="-128"/>
                <a:ea typeface="HGS創英角ｺﾞｼｯｸUB" panose="020B0900000000000000" pitchFamily="50" charset="-128"/>
              </a:rPr>
              <a:t>16.0 GB (15.4 GB </a:t>
            </a:r>
            <a:r>
              <a:rPr lang="ja-JP" altLang="en-US">
                <a:latin typeface="HGS創英角ｺﾞｼｯｸUB" panose="020B0900000000000000" pitchFamily="50" charset="-128"/>
                <a:ea typeface="HGS創英角ｺﾞｼｯｸUB" panose="020B0900000000000000" pitchFamily="50" charset="-128"/>
              </a:rPr>
              <a:t>使用可能</a:t>
            </a:r>
            <a:r>
              <a:rPr lang="en-US" altLang="ja-JP">
                <a:latin typeface="HGS創英角ｺﾞｼｯｸUB" panose="020B0900000000000000" pitchFamily="50" charset="-128"/>
                <a:ea typeface="HGS創英角ｺﾞｼｯｸUB" panose="020B0900000000000000" pitchFamily="50" charset="-128"/>
              </a:rPr>
              <a:t>)</a:t>
            </a:r>
          </a:p>
          <a:p>
            <a:r>
              <a:rPr lang="ja-JP" altLang="en-US">
                <a:latin typeface="HGS創英角ｺﾞｼｯｸUB" panose="020B0900000000000000" pitchFamily="50" charset="-128"/>
                <a:ea typeface="HGS創英角ｺﾞｼｯｸUB" panose="020B0900000000000000" pitchFamily="50" charset="-128"/>
              </a:rPr>
              <a:t>使用エディター：</a:t>
            </a:r>
            <a:r>
              <a:rPr lang="en-US" altLang="ja-JP">
                <a:latin typeface="HGS創英角ｺﾞｼｯｸUB" panose="020B0900000000000000" pitchFamily="50" charset="-128"/>
                <a:ea typeface="HGS創英角ｺﾞｼｯｸUB" panose="020B0900000000000000" pitchFamily="50" charset="-128"/>
              </a:rPr>
              <a:t>Visual Studio Code</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4" name="タイトル 1">
            <a:extLst>
              <a:ext uri="{FF2B5EF4-FFF2-40B4-BE49-F238E27FC236}">
                <a16:creationId xmlns:a16="http://schemas.microsoft.com/office/drawing/2014/main" id="{3555CE22-1213-D129-5309-B606C7217E63}"/>
              </a:ext>
            </a:extLst>
          </p:cNvPr>
          <p:cNvSpPr>
            <a:spLocks noGrp="1"/>
          </p:cNvSpPr>
          <p:nvPr>
            <p:ph type="title"/>
          </p:nvPr>
        </p:nvSpPr>
        <p:spPr>
          <a:xfrm>
            <a:off x="838200" y="365125"/>
            <a:ext cx="10515600" cy="1325563"/>
          </a:xfrm>
        </p:spPr>
        <p:txBody>
          <a:bodyPr/>
          <a:lstStyle/>
          <a:p>
            <a:r>
              <a:rPr kumimoji="1" lang="ja-JP" altLang="en-US">
                <a:latin typeface="HGS創英角ｺﾞｼｯｸUB" panose="020B0900000000000000" pitchFamily="50" charset="-128"/>
                <a:ea typeface="HGS創英角ｺﾞｼｯｸUB" panose="020B0900000000000000" pitchFamily="50" charset="-128"/>
              </a:rPr>
              <a:t>実験方法</a:t>
            </a:r>
          </a:p>
        </p:txBody>
      </p:sp>
      <p:cxnSp>
        <p:nvCxnSpPr>
          <p:cNvPr id="5" name="直線コネクタ 4">
            <a:extLst>
              <a:ext uri="{FF2B5EF4-FFF2-40B4-BE49-F238E27FC236}">
                <a16:creationId xmlns:a16="http://schemas.microsoft.com/office/drawing/2014/main" id="{BBC4ECCD-022A-4BAA-F144-01D557ABD992}"/>
              </a:ext>
            </a:extLst>
          </p:cNvPr>
          <p:cNvCxnSpPr>
            <a:cxnSpLocks/>
          </p:cNvCxnSpPr>
          <p:nvPr/>
        </p:nvCxnSpPr>
        <p:spPr>
          <a:xfrm>
            <a:off x="838200" y="1413933"/>
            <a:ext cx="4566007" cy="0"/>
          </a:xfrm>
          <a:prstGeom prst="line">
            <a:avLst/>
          </a:prstGeom>
          <a:ln w="38100">
            <a:solidFill>
              <a:srgbClr val="261C1A"/>
            </a:solidFill>
          </a:ln>
        </p:spPr>
        <p:style>
          <a:lnRef idx="1">
            <a:schemeClr val="dk1"/>
          </a:lnRef>
          <a:fillRef idx="0">
            <a:schemeClr val="dk1"/>
          </a:fillRef>
          <a:effectRef idx="0">
            <a:schemeClr val="dk1"/>
          </a:effectRef>
          <a:fontRef idx="minor">
            <a:schemeClr val="tx1"/>
          </a:fontRef>
        </p:style>
      </p:cxnSp>
      <p:pic>
        <p:nvPicPr>
          <p:cNvPr id="7" name="図 6" descr="アイコン&#10;&#10;AI によって生成されたコンテンツは間違っている可能性があります。">
            <a:extLst>
              <a:ext uri="{FF2B5EF4-FFF2-40B4-BE49-F238E27FC236}">
                <a16:creationId xmlns:a16="http://schemas.microsoft.com/office/drawing/2014/main" id="{41EFCE2B-8A50-BB69-E484-84A899665E1C}"/>
              </a:ext>
            </a:extLst>
          </p:cNvPr>
          <p:cNvPicPr>
            <a:picLocks noChangeAspect="1"/>
          </p:cNvPicPr>
          <p:nvPr/>
        </p:nvPicPr>
        <p:blipFill>
          <a:blip r:embed="rId2">
            <a:extLst>
              <a:ext uri="{28A0092B-C50C-407E-A947-70E740481C1C}">
                <a14:useLocalDpi xmlns:a14="http://schemas.microsoft.com/office/drawing/2010/main" val="0"/>
              </a:ext>
            </a:extLst>
          </a:blip>
          <a:srcRect r="62470" b="62917"/>
          <a:stretch/>
        </p:blipFill>
        <p:spPr>
          <a:xfrm>
            <a:off x="8409322" y="1910993"/>
            <a:ext cx="1618255" cy="1514198"/>
          </a:xfrm>
          <a:prstGeom prst="rect">
            <a:avLst/>
          </a:prstGeom>
        </p:spPr>
      </p:pic>
      <p:pic>
        <p:nvPicPr>
          <p:cNvPr id="9" name="図 8" descr="アイコン&#10;&#10;AI によって生成されたコンテンツは間違っている可能性があります。">
            <a:extLst>
              <a:ext uri="{FF2B5EF4-FFF2-40B4-BE49-F238E27FC236}">
                <a16:creationId xmlns:a16="http://schemas.microsoft.com/office/drawing/2014/main" id="{8726ADBC-9423-3CEC-A8DA-B2AF5E8A0B13}"/>
              </a:ext>
            </a:extLst>
          </p:cNvPr>
          <p:cNvPicPr>
            <a:picLocks noChangeAspect="1"/>
          </p:cNvPicPr>
          <p:nvPr/>
        </p:nvPicPr>
        <p:blipFill>
          <a:blip r:embed="rId3">
            <a:extLst>
              <a:ext uri="{28A0092B-C50C-407E-A947-70E740481C1C}">
                <a14:useLocalDpi xmlns:a14="http://schemas.microsoft.com/office/drawing/2010/main" val="0"/>
              </a:ext>
            </a:extLst>
          </a:blip>
          <a:srcRect r="60058" b="65624"/>
          <a:stretch/>
        </p:blipFill>
        <p:spPr>
          <a:xfrm>
            <a:off x="8348443" y="4457606"/>
            <a:ext cx="1740012" cy="1257388"/>
          </a:xfrm>
          <a:prstGeom prst="rect">
            <a:avLst/>
          </a:prstGeom>
        </p:spPr>
      </p:pic>
      <p:sp>
        <p:nvSpPr>
          <p:cNvPr id="2" name="スライド番号プレースホルダー 1">
            <a:extLst>
              <a:ext uri="{FF2B5EF4-FFF2-40B4-BE49-F238E27FC236}">
                <a16:creationId xmlns:a16="http://schemas.microsoft.com/office/drawing/2014/main" id="{A2922735-1511-EC55-BDA4-75569D0BA944}"/>
              </a:ext>
            </a:extLst>
          </p:cNvPr>
          <p:cNvSpPr>
            <a:spLocks noGrp="1"/>
          </p:cNvSpPr>
          <p:nvPr>
            <p:ph type="sldNum" sz="quarter" idx="12"/>
          </p:nvPr>
        </p:nvSpPr>
        <p:spPr/>
        <p:txBody>
          <a:bodyPr/>
          <a:lstStyle/>
          <a:p>
            <a:fld id="{9E365578-86CB-437F-8A21-C7B14E4ACE69}" type="slidenum">
              <a:rPr kumimoji="1" lang="ja-JP" altLang="en-US" smtClean="0"/>
              <a:t>16</a:t>
            </a:fld>
            <a:endParaRPr kumimoji="1" lang="ja-JP" altLang="en-US"/>
          </a:p>
        </p:txBody>
      </p:sp>
    </p:spTree>
    <p:extLst>
      <p:ext uri="{BB962C8B-B14F-4D97-AF65-F5344CB8AC3E}">
        <p14:creationId xmlns:p14="http://schemas.microsoft.com/office/powerpoint/2010/main" val="2570241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678986-AD1B-FFBF-6E59-37408DB34988}"/>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a:t>
            </a:r>
            <a:r>
              <a:rPr kumimoji="1" lang="ja-JP" altLang="en-US">
                <a:latin typeface="HGS創英角ｺﾞｼｯｸUB" panose="020B0900000000000000" pitchFamily="50" charset="-128"/>
                <a:ea typeface="HGS創英角ｺﾞｼｯｸUB" panose="020B0900000000000000" pitchFamily="50" charset="-128"/>
              </a:rPr>
              <a:t>最近隣法</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pic>
        <p:nvPicPr>
          <p:cNvPr id="5" name="コンテンツ プレースホルダー 4" descr="グラフ, 折れ線グラフ&#10;&#10;AI によって生成されたコンテンツは間違っている可能性があります。">
            <a:extLst>
              <a:ext uri="{FF2B5EF4-FFF2-40B4-BE49-F238E27FC236}">
                <a16:creationId xmlns:a16="http://schemas.microsoft.com/office/drawing/2014/main" id="{A1D7C005-E293-E427-C9CA-1BFADB85EC8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16648" r="16648"/>
          <a:stretch/>
        </p:blipFill>
        <p:spPr>
          <a:xfrm>
            <a:off x="6600825" y="923925"/>
            <a:ext cx="5010150" cy="5010150"/>
          </a:xfrm>
        </p:spPr>
      </p:pic>
      <p:sp>
        <p:nvSpPr>
          <p:cNvPr id="6" name="テキスト ボックス 5">
            <a:extLst>
              <a:ext uri="{FF2B5EF4-FFF2-40B4-BE49-F238E27FC236}">
                <a16:creationId xmlns:a16="http://schemas.microsoft.com/office/drawing/2014/main" id="{AB062C4F-5D4A-25C6-BC56-8EFBE989FEDC}"/>
              </a:ext>
            </a:extLst>
          </p:cNvPr>
          <p:cNvSpPr txBox="1"/>
          <p:nvPr/>
        </p:nvSpPr>
        <p:spPr>
          <a:xfrm>
            <a:off x="1100137" y="2890391"/>
            <a:ext cx="4748213" cy="1077218"/>
          </a:xfrm>
          <a:prstGeom prst="rect">
            <a:avLst/>
          </a:prstGeom>
          <a:noFill/>
        </p:spPr>
        <p:txBody>
          <a:bodyPr wrap="square" rtlCol="0">
            <a:spAutoFit/>
          </a:bodyPr>
          <a:lstStyle/>
          <a:p>
            <a:r>
              <a:rPr kumimoji="1" lang="ja-JP" altLang="en-US" sz="3200" dirty="0">
                <a:latin typeface="HGS創英角ｺﾞｼｯｸUB" panose="020B0900000000000000" pitchFamily="50" charset="-128"/>
                <a:ea typeface="HGS創英角ｺﾞｼｯｸUB" panose="020B0900000000000000" pitchFamily="50" charset="-128"/>
              </a:rPr>
              <a:t>総移動距離：</a:t>
            </a:r>
            <a:r>
              <a:rPr kumimoji="1" lang="en-US" altLang="ja-JP" sz="3200" dirty="0">
                <a:latin typeface="HGS創英角ｺﾞｼｯｸUB" panose="020B0900000000000000" pitchFamily="50" charset="-128"/>
                <a:ea typeface="HGS創英角ｺﾞｼｯｸUB" panose="020B0900000000000000" pitchFamily="50" charset="-128"/>
              </a:rPr>
              <a:t>963.57</a:t>
            </a:r>
          </a:p>
          <a:p>
            <a:r>
              <a:rPr kumimoji="1" lang="ja-JP" altLang="en-US" sz="3200" dirty="0">
                <a:latin typeface="HGS創英角ｺﾞｼｯｸUB" panose="020B0900000000000000" pitchFamily="50" charset="-128"/>
                <a:ea typeface="HGS創英角ｺﾞｼｯｸUB" panose="020B0900000000000000" pitchFamily="50" charset="-128"/>
              </a:rPr>
              <a:t>実行時間：</a:t>
            </a:r>
            <a:r>
              <a:rPr kumimoji="1" lang="en-US" altLang="ja-JP" sz="3200" dirty="0">
                <a:latin typeface="HGS創英角ｺﾞｼｯｸUB" panose="020B0900000000000000" pitchFamily="50" charset="-128"/>
                <a:ea typeface="HGS創英角ｺﾞｼｯｸUB" panose="020B0900000000000000" pitchFamily="50" charset="-128"/>
              </a:rPr>
              <a:t>0.000167</a:t>
            </a:r>
            <a:r>
              <a:rPr kumimoji="1" lang="ja-JP" altLang="en-US" sz="3200" dirty="0">
                <a:latin typeface="HGS創英角ｺﾞｼｯｸUB" panose="020B0900000000000000" pitchFamily="50" charset="-128"/>
                <a:ea typeface="HGS創英角ｺﾞｼｯｸUB" panose="020B0900000000000000" pitchFamily="50" charset="-128"/>
              </a:rPr>
              <a:t>秒</a:t>
            </a:r>
            <a:endParaRPr kumimoji="1" lang="en-US" altLang="ja-JP" sz="3200" dirty="0">
              <a:latin typeface="HGS創英角ｺﾞｼｯｸUB" panose="020B0900000000000000" pitchFamily="50" charset="-128"/>
              <a:ea typeface="HGS創英角ｺﾞｼｯｸUB" panose="020B0900000000000000" pitchFamily="50" charset="-128"/>
            </a:endParaRPr>
          </a:p>
        </p:txBody>
      </p:sp>
      <p:pic>
        <p:nvPicPr>
          <p:cNvPr id="7" name="図 6" descr="アイコン&#10;&#10;AI によって生成されたコンテンツは間違っている可能性があります。">
            <a:extLst>
              <a:ext uri="{FF2B5EF4-FFF2-40B4-BE49-F238E27FC236}">
                <a16:creationId xmlns:a16="http://schemas.microsoft.com/office/drawing/2014/main" id="{E08CA639-93EB-4083-8335-808437AED2E1}"/>
              </a:ext>
            </a:extLst>
          </p:cNvPr>
          <p:cNvPicPr>
            <a:picLocks noChangeAspect="1"/>
          </p:cNvPicPr>
          <p:nvPr/>
        </p:nvPicPr>
        <p:blipFill>
          <a:blip r:embed="rId3">
            <a:extLst>
              <a:ext uri="{28A0092B-C50C-407E-A947-70E740481C1C}">
                <a14:useLocalDpi xmlns:a14="http://schemas.microsoft.com/office/drawing/2010/main" val="0"/>
              </a:ext>
            </a:extLst>
          </a:blip>
          <a:srcRect l="59393" t="65782" r="-952" b="-2865"/>
          <a:stretch/>
        </p:blipFill>
        <p:spPr>
          <a:xfrm>
            <a:off x="4808872" y="4419877"/>
            <a:ext cx="1791953" cy="1514198"/>
          </a:xfrm>
          <a:prstGeom prst="rect">
            <a:avLst/>
          </a:prstGeom>
        </p:spPr>
      </p:pic>
      <p:sp>
        <p:nvSpPr>
          <p:cNvPr id="3" name="テキスト ボックス 2">
            <a:extLst>
              <a:ext uri="{FF2B5EF4-FFF2-40B4-BE49-F238E27FC236}">
                <a16:creationId xmlns:a16="http://schemas.microsoft.com/office/drawing/2014/main" id="{CAF291A3-A1B6-8502-2E13-7F3FF27189CF}"/>
              </a:ext>
            </a:extLst>
          </p:cNvPr>
          <p:cNvSpPr txBox="1"/>
          <p:nvPr/>
        </p:nvSpPr>
        <p:spPr>
          <a:xfrm>
            <a:off x="4010025" y="5960154"/>
            <a:ext cx="7850981" cy="400110"/>
          </a:xfrm>
          <a:prstGeom prst="rect">
            <a:avLst/>
          </a:prstGeom>
          <a:noFill/>
        </p:spPr>
        <p:txBody>
          <a:bodyPr wrap="square" rtlCol="0">
            <a:spAutoFit/>
          </a:bodyPr>
          <a:lstStyle/>
          <a:p>
            <a:pPr algn="ctr"/>
            <a:r>
              <a:rPr kumimoji="1" lang="en-US" altLang="ja-JP" sz="2000">
                <a:latin typeface="HGS創英角ｺﾞｼｯｸUB" panose="020B0900000000000000" pitchFamily="50" charset="-128"/>
                <a:ea typeface="HGS創英角ｺﾞｼｯｸUB" panose="020B0900000000000000" pitchFamily="50" charset="-128"/>
              </a:rPr>
              <a:t>※</a:t>
            </a:r>
            <a:r>
              <a:rPr kumimoji="1" lang="ja-JP" altLang="en-US" sz="2000">
                <a:latin typeface="HGS創英角ｺﾞｼｯｸUB" panose="020B0900000000000000" pitchFamily="50" charset="-128"/>
                <a:ea typeface="HGS創英角ｺﾞｼｯｸUB" panose="020B0900000000000000" pitchFamily="50" charset="-128"/>
              </a:rPr>
              <a:t>画像は一例（分かりやすさのため、都市の位置を固定）</a:t>
            </a:r>
            <a:endParaRPr kumimoji="1" lang="en-US" altLang="ja-JP" sz="2000">
              <a:latin typeface="HGS創英角ｺﾞｼｯｸUB" panose="020B0900000000000000" pitchFamily="50" charset="-128"/>
              <a:ea typeface="HGS創英角ｺﾞｼｯｸUB" panose="020B0900000000000000" pitchFamily="50" charset="-128"/>
            </a:endParaRPr>
          </a:p>
        </p:txBody>
      </p:sp>
      <p:sp>
        <p:nvSpPr>
          <p:cNvPr id="4" name="スライド番号プレースホルダー 3">
            <a:extLst>
              <a:ext uri="{FF2B5EF4-FFF2-40B4-BE49-F238E27FC236}">
                <a16:creationId xmlns:a16="http://schemas.microsoft.com/office/drawing/2014/main" id="{9B2879F9-8279-91EA-3E5C-27A997ADC62C}"/>
              </a:ext>
            </a:extLst>
          </p:cNvPr>
          <p:cNvSpPr>
            <a:spLocks noGrp="1"/>
          </p:cNvSpPr>
          <p:nvPr>
            <p:ph type="sldNum" sz="quarter" idx="12"/>
          </p:nvPr>
        </p:nvSpPr>
        <p:spPr/>
        <p:txBody>
          <a:bodyPr/>
          <a:lstStyle/>
          <a:p>
            <a:fld id="{9E365578-86CB-437F-8A21-C7B14E4ACE69}" type="slidenum">
              <a:rPr kumimoji="1" lang="ja-JP" altLang="en-US" smtClean="0"/>
              <a:t>17</a:t>
            </a:fld>
            <a:endParaRPr kumimoji="1" lang="ja-JP" altLang="en-US"/>
          </a:p>
        </p:txBody>
      </p:sp>
    </p:spTree>
    <p:extLst>
      <p:ext uri="{BB962C8B-B14F-4D97-AF65-F5344CB8AC3E}">
        <p14:creationId xmlns:p14="http://schemas.microsoft.com/office/powerpoint/2010/main" val="3735163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4EC4D-9FD9-30E4-3724-45EE9E4288C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19376A-AF9C-6A0C-12F1-472838ADB4BC}"/>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lang="en-US" altLang="ja-JP">
                <a:latin typeface="HGS創英角ｺﾞｼｯｸUB" panose="020B0900000000000000" pitchFamily="50" charset="-128"/>
                <a:ea typeface="HGS創英角ｺﾞｼｯｸUB" panose="020B0900000000000000" pitchFamily="50" charset="-128"/>
              </a:rPr>
              <a:t>【</a:t>
            </a:r>
            <a:r>
              <a:rPr kumimoji="1" lang="en-US" altLang="ja-JP">
                <a:latin typeface="HGS創英角ｺﾞｼｯｸUB" panose="020B0900000000000000" pitchFamily="50" charset="-128"/>
                <a:ea typeface="HGS創英角ｺﾞｼｯｸUB" panose="020B0900000000000000" pitchFamily="50" charset="-128"/>
              </a:rPr>
              <a:t>2-opt</a:t>
            </a:r>
            <a:r>
              <a:rPr kumimoji="1" lang="ja-JP" altLang="en-US">
                <a:latin typeface="HGS創英角ｺﾞｼｯｸUB" panose="020B0900000000000000" pitchFamily="50" charset="-128"/>
                <a:ea typeface="HGS創英角ｺﾞｼｯｸUB" panose="020B0900000000000000" pitchFamily="50" charset="-128"/>
              </a:rPr>
              <a:t>法</a:t>
            </a:r>
            <a:r>
              <a:rPr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8" name="テキスト ボックス 7">
            <a:extLst>
              <a:ext uri="{FF2B5EF4-FFF2-40B4-BE49-F238E27FC236}">
                <a16:creationId xmlns:a16="http://schemas.microsoft.com/office/drawing/2014/main" id="{A0C40954-7A5E-3C85-5DAF-F52EF465943B}"/>
              </a:ext>
            </a:extLst>
          </p:cNvPr>
          <p:cNvSpPr txBox="1"/>
          <p:nvPr/>
        </p:nvSpPr>
        <p:spPr>
          <a:xfrm>
            <a:off x="999143" y="2582615"/>
            <a:ext cx="6458932" cy="1692771"/>
          </a:xfrm>
          <a:prstGeom prst="rect">
            <a:avLst/>
          </a:prstGeom>
          <a:noFill/>
        </p:spPr>
        <p:txBody>
          <a:bodyPr wrap="square" rtlCol="0">
            <a:spAutoFit/>
          </a:bodyPr>
          <a:lstStyle/>
          <a:p>
            <a:r>
              <a:rPr kumimoji="1" lang="ja-JP" altLang="en-US" sz="3200" dirty="0">
                <a:latin typeface="HGS創英角ｺﾞｼｯｸUB" panose="020B0900000000000000" pitchFamily="50" charset="-128"/>
                <a:ea typeface="HGS創英角ｺﾞｼｯｸUB" panose="020B0900000000000000" pitchFamily="50" charset="-128"/>
              </a:rPr>
              <a:t>総移動距離：</a:t>
            </a:r>
            <a:r>
              <a:rPr kumimoji="1" lang="en-US" altLang="ja-JP" sz="3200" dirty="0">
                <a:latin typeface="HGS創英角ｺﾞｼｯｸUB" panose="020B0900000000000000" pitchFamily="50" charset="-128"/>
                <a:ea typeface="HGS創英角ｺﾞｼｯｸUB" panose="020B0900000000000000" pitchFamily="50" charset="-128"/>
              </a:rPr>
              <a:t>910.07</a:t>
            </a:r>
          </a:p>
          <a:p>
            <a:r>
              <a:rPr kumimoji="1" lang="ja-JP" altLang="en-US" sz="3200" dirty="0">
                <a:latin typeface="HGS創英角ｺﾞｼｯｸUB" panose="020B0900000000000000" pitchFamily="50" charset="-128"/>
                <a:ea typeface="HGS創英角ｺﾞｼｯｸUB" panose="020B0900000000000000" pitchFamily="50" charset="-128"/>
              </a:rPr>
              <a:t>実行時間：</a:t>
            </a:r>
            <a:r>
              <a:rPr kumimoji="1" lang="en-US" altLang="ja-JP" sz="3200" dirty="0">
                <a:latin typeface="HGS創英角ｺﾞｼｯｸUB" panose="020B0900000000000000" pitchFamily="50" charset="-128"/>
                <a:ea typeface="HGS創英角ｺﾞｼｯｸUB" panose="020B0900000000000000" pitchFamily="50" charset="-128"/>
              </a:rPr>
              <a:t>0.007701</a:t>
            </a:r>
            <a:r>
              <a:rPr kumimoji="1" lang="ja-JP" altLang="en-US" sz="3200" dirty="0">
                <a:latin typeface="HGS創英角ｺﾞｼｯｸUB" panose="020B0900000000000000" pitchFamily="50" charset="-128"/>
                <a:ea typeface="HGS創英角ｺﾞｼｯｸUB" panose="020B0900000000000000" pitchFamily="50" charset="-128"/>
              </a:rPr>
              <a:t>秒</a:t>
            </a:r>
            <a:endParaRPr kumimoji="1" lang="en-US" altLang="ja-JP" sz="3200" dirty="0">
              <a:latin typeface="HGS創英角ｺﾞｼｯｸUB" panose="020B0900000000000000" pitchFamily="50" charset="-128"/>
              <a:ea typeface="HGS創英角ｺﾞｼｯｸUB" panose="020B0900000000000000" pitchFamily="50" charset="-128"/>
            </a:endParaRPr>
          </a:p>
          <a:p>
            <a:r>
              <a:rPr kumimoji="1" lang="en-US" altLang="ja-JP" sz="2000" dirty="0">
                <a:latin typeface="HGS創英角ｺﾞｼｯｸUB" panose="020B0900000000000000" pitchFamily="50" charset="-128"/>
                <a:ea typeface="HGS創英角ｺﾞｼｯｸUB" panose="020B0900000000000000" pitchFamily="50" charset="-128"/>
              </a:rPr>
              <a:t>2-opt</a:t>
            </a:r>
            <a:r>
              <a:rPr kumimoji="1" lang="ja-JP" altLang="en-US" sz="2000" dirty="0">
                <a:latin typeface="HGS創英角ｺﾞｼｯｸUB" panose="020B0900000000000000" pitchFamily="50" charset="-128"/>
                <a:ea typeface="HGS創英角ｺﾞｼｯｸUB" panose="020B0900000000000000" pitchFamily="50" charset="-128"/>
              </a:rPr>
              <a:t>法の総反復回数：７</a:t>
            </a:r>
            <a:endParaRPr kumimoji="1" lang="en-US" altLang="ja-JP" sz="2000" dirty="0">
              <a:latin typeface="HGS創英角ｺﾞｼｯｸUB" panose="020B0900000000000000" pitchFamily="50" charset="-128"/>
              <a:ea typeface="HGS創英角ｺﾞｼｯｸUB" panose="020B0900000000000000" pitchFamily="50" charset="-128"/>
            </a:endParaRPr>
          </a:p>
          <a:p>
            <a:r>
              <a:rPr kumimoji="1" lang="ja-JP" altLang="en-US" sz="2000" dirty="0">
                <a:latin typeface="HGS創英角ｺﾞｼｯｸUB" panose="020B0900000000000000" pitchFamily="50" charset="-128"/>
                <a:ea typeface="HGS創英角ｺﾞｼｯｸUB" panose="020B0900000000000000" pitchFamily="50" charset="-128"/>
              </a:rPr>
              <a:t>距離改善：</a:t>
            </a:r>
            <a:r>
              <a:rPr kumimoji="1" lang="en-US" altLang="ja-JP" sz="2000" dirty="0">
                <a:latin typeface="HGS創英角ｺﾞｼｯｸUB" panose="020B0900000000000000" pitchFamily="50" charset="-128"/>
                <a:ea typeface="HGS創英角ｺﾞｼｯｸUB" panose="020B0900000000000000" pitchFamily="50" charset="-128"/>
              </a:rPr>
              <a:t>53.50(5.55</a:t>
            </a:r>
            <a:r>
              <a:rPr kumimoji="1" lang="ja-JP" altLang="en-US" sz="2000" dirty="0">
                <a:latin typeface="HGS創英角ｺﾞｼｯｸUB" panose="020B0900000000000000" pitchFamily="50" charset="-128"/>
                <a:ea typeface="HGS創英角ｺﾞｼｯｸUB" panose="020B0900000000000000" pitchFamily="50" charset="-128"/>
              </a:rPr>
              <a:t>％減少）</a:t>
            </a:r>
          </a:p>
        </p:txBody>
      </p:sp>
      <p:pic>
        <p:nvPicPr>
          <p:cNvPr id="11" name="コンテンツ プレースホルダー 4">
            <a:extLst>
              <a:ext uri="{FF2B5EF4-FFF2-40B4-BE49-F238E27FC236}">
                <a16:creationId xmlns:a16="http://schemas.microsoft.com/office/drawing/2014/main" id="{B96B35AC-9039-134E-F9AD-07D6DD711797}"/>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6600825" y="923925"/>
            <a:ext cx="5010150" cy="501015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0EA4C7B9-71A7-4ECA-98AE-A3925CEF57CD}"/>
              </a:ext>
            </a:extLst>
          </p:cNvPr>
          <p:cNvPicPr>
            <a:picLocks noChangeAspect="1"/>
          </p:cNvPicPr>
          <p:nvPr/>
        </p:nvPicPr>
        <p:blipFill>
          <a:blip r:embed="rId3">
            <a:extLst>
              <a:ext uri="{28A0092B-C50C-407E-A947-70E740481C1C}">
                <a14:useLocalDpi xmlns:a14="http://schemas.microsoft.com/office/drawing/2010/main" val="0"/>
              </a:ext>
            </a:extLst>
          </a:blip>
          <a:srcRect l="59393" t="65782" r="-952" b="-2865"/>
          <a:stretch/>
        </p:blipFill>
        <p:spPr>
          <a:xfrm>
            <a:off x="4808872" y="4419877"/>
            <a:ext cx="1791953" cy="1514198"/>
          </a:xfrm>
          <a:prstGeom prst="rect">
            <a:avLst/>
          </a:prstGeom>
        </p:spPr>
      </p:pic>
      <p:sp>
        <p:nvSpPr>
          <p:cNvPr id="3" name="テキスト ボックス 2">
            <a:extLst>
              <a:ext uri="{FF2B5EF4-FFF2-40B4-BE49-F238E27FC236}">
                <a16:creationId xmlns:a16="http://schemas.microsoft.com/office/drawing/2014/main" id="{09996714-1787-7B6C-BBB2-D9F01D7326EE}"/>
              </a:ext>
            </a:extLst>
          </p:cNvPr>
          <p:cNvSpPr txBox="1"/>
          <p:nvPr/>
        </p:nvSpPr>
        <p:spPr>
          <a:xfrm>
            <a:off x="4010025" y="5960154"/>
            <a:ext cx="7850981" cy="400110"/>
          </a:xfrm>
          <a:prstGeom prst="rect">
            <a:avLst/>
          </a:prstGeom>
          <a:noFill/>
        </p:spPr>
        <p:txBody>
          <a:bodyPr wrap="square" rtlCol="0">
            <a:spAutoFit/>
          </a:bodyPr>
          <a:lstStyle/>
          <a:p>
            <a:pPr algn="ctr"/>
            <a:r>
              <a:rPr kumimoji="1" lang="en-US" altLang="ja-JP" sz="2000">
                <a:latin typeface="HGS創英角ｺﾞｼｯｸUB" panose="020B0900000000000000" pitchFamily="50" charset="-128"/>
                <a:ea typeface="HGS創英角ｺﾞｼｯｸUB" panose="020B0900000000000000" pitchFamily="50" charset="-128"/>
              </a:rPr>
              <a:t>※</a:t>
            </a:r>
            <a:r>
              <a:rPr kumimoji="1" lang="ja-JP" altLang="en-US" sz="2000">
                <a:latin typeface="HGS創英角ｺﾞｼｯｸUB" panose="020B0900000000000000" pitchFamily="50" charset="-128"/>
                <a:ea typeface="HGS創英角ｺﾞｼｯｸUB" panose="020B0900000000000000" pitchFamily="50" charset="-128"/>
              </a:rPr>
              <a:t>画像は一例（分かりやすさのため、都市の位置を固定）</a:t>
            </a:r>
            <a:endParaRPr kumimoji="1" lang="en-US" altLang="ja-JP" sz="2000">
              <a:latin typeface="HGS創英角ｺﾞｼｯｸUB" panose="020B0900000000000000" pitchFamily="50" charset="-128"/>
              <a:ea typeface="HGS創英角ｺﾞｼｯｸUB" panose="020B0900000000000000" pitchFamily="50" charset="-128"/>
            </a:endParaRPr>
          </a:p>
        </p:txBody>
      </p:sp>
      <p:sp>
        <p:nvSpPr>
          <p:cNvPr id="4" name="スライド番号プレースホルダー 3">
            <a:extLst>
              <a:ext uri="{FF2B5EF4-FFF2-40B4-BE49-F238E27FC236}">
                <a16:creationId xmlns:a16="http://schemas.microsoft.com/office/drawing/2014/main" id="{4E8C6C53-AAC6-A2B2-B5E8-18BCF4B2BE41}"/>
              </a:ext>
            </a:extLst>
          </p:cNvPr>
          <p:cNvSpPr>
            <a:spLocks noGrp="1"/>
          </p:cNvSpPr>
          <p:nvPr>
            <p:ph type="sldNum" sz="quarter" idx="12"/>
          </p:nvPr>
        </p:nvSpPr>
        <p:spPr/>
        <p:txBody>
          <a:bodyPr/>
          <a:lstStyle/>
          <a:p>
            <a:fld id="{9E365578-86CB-437F-8A21-C7B14E4ACE69}" type="slidenum">
              <a:rPr kumimoji="1" lang="ja-JP" altLang="en-US" smtClean="0"/>
              <a:t>18</a:t>
            </a:fld>
            <a:endParaRPr kumimoji="1" lang="ja-JP" altLang="en-US"/>
          </a:p>
        </p:txBody>
      </p:sp>
    </p:spTree>
    <p:extLst>
      <p:ext uri="{BB962C8B-B14F-4D97-AF65-F5344CB8AC3E}">
        <p14:creationId xmlns:p14="http://schemas.microsoft.com/office/powerpoint/2010/main" val="20077683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657E4-EA75-F232-E84A-6831DF77E8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D7D52D2-F380-98A9-5F01-9DCC6885E947}"/>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a:t>
            </a:r>
            <a:r>
              <a:rPr kumimoji="1" lang="ja-JP" altLang="en-US">
                <a:latin typeface="HGS創英角ｺﾞｼｯｸUB" panose="020B0900000000000000" pitchFamily="50" charset="-128"/>
                <a:ea typeface="HGS創英角ｺﾞｼｯｸUB" panose="020B0900000000000000" pitchFamily="50" charset="-128"/>
              </a:rPr>
              <a:t>多出発局所探索</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8" name="テキスト ボックス 7">
            <a:extLst>
              <a:ext uri="{FF2B5EF4-FFF2-40B4-BE49-F238E27FC236}">
                <a16:creationId xmlns:a16="http://schemas.microsoft.com/office/drawing/2014/main" id="{3A4D1CA6-935C-94C2-15BF-E5037522436D}"/>
              </a:ext>
            </a:extLst>
          </p:cNvPr>
          <p:cNvSpPr txBox="1"/>
          <p:nvPr/>
        </p:nvSpPr>
        <p:spPr>
          <a:xfrm>
            <a:off x="1052099" y="2582615"/>
            <a:ext cx="5352747" cy="2616101"/>
          </a:xfrm>
          <a:prstGeom prst="rect">
            <a:avLst/>
          </a:prstGeom>
          <a:noFill/>
        </p:spPr>
        <p:txBody>
          <a:bodyPr wrap="none" rtlCol="0">
            <a:spAutoFit/>
          </a:bodyPr>
          <a:lstStyle/>
          <a:p>
            <a:r>
              <a:rPr kumimoji="1" lang="ja-JP" altLang="en-US" sz="3200" dirty="0">
                <a:latin typeface="HGS創英角ｺﾞｼｯｸUB" panose="020B0900000000000000" pitchFamily="50" charset="-128"/>
                <a:ea typeface="HGS創英角ｺﾞｼｯｸUB" panose="020B0900000000000000" pitchFamily="50" charset="-128"/>
              </a:rPr>
              <a:t>総移動距離</a:t>
            </a:r>
            <a:r>
              <a:rPr kumimoji="1" lang="en-US" altLang="ja-JP" sz="3200" dirty="0">
                <a:latin typeface="HGS創英角ｺﾞｼｯｸUB" panose="020B0900000000000000" pitchFamily="50" charset="-128"/>
                <a:ea typeface="HGS創英角ｺﾞｼｯｸUB" panose="020B0900000000000000" pitchFamily="50" charset="-128"/>
              </a:rPr>
              <a:t>: 895.68</a:t>
            </a:r>
          </a:p>
          <a:p>
            <a:r>
              <a:rPr kumimoji="1" lang="ja-JP" altLang="en-US" sz="3200" dirty="0">
                <a:latin typeface="HGS創英角ｺﾞｼｯｸUB" panose="020B0900000000000000" pitchFamily="50" charset="-128"/>
                <a:ea typeface="HGS創英角ｺﾞｼｯｸUB" panose="020B0900000000000000" pitchFamily="50" charset="-128"/>
              </a:rPr>
              <a:t>実行時間：</a:t>
            </a:r>
            <a:r>
              <a:rPr kumimoji="1" lang="en-US" altLang="ja-JP" sz="3200" dirty="0">
                <a:latin typeface="HGS創英角ｺﾞｼｯｸUB" panose="020B0900000000000000" pitchFamily="50" charset="-128"/>
                <a:ea typeface="HGS創英角ｺﾞｼｯｸUB" panose="020B0900000000000000" pitchFamily="50" charset="-128"/>
              </a:rPr>
              <a:t>0.257616</a:t>
            </a:r>
            <a:r>
              <a:rPr kumimoji="1" lang="ja-JP" altLang="en-US" sz="3200" dirty="0">
                <a:latin typeface="HGS創英角ｺﾞｼｯｸUB" panose="020B0900000000000000" pitchFamily="50" charset="-128"/>
                <a:ea typeface="HGS創英角ｺﾞｼｯｸUB" panose="020B0900000000000000" pitchFamily="50" charset="-128"/>
              </a:rPr>
              <a:t>秒</a:t>
            </a:r>
            <a:endParaRPr kumimoji="1" lang="en-US" altLang="ja-JP" sz="3200" dirty="0">
              <a:latin typeface="HGS創英角ｺﾞｼｯｸUB" panose="020B0900000000000000" pitchFamily="50" charset="-128"/>
              <a:ea typeface="HGS創英角ｺﾞｼｯｸUB" panose="020B0900000000000000" pitchFamily="50" charset="-128"/>
            </a:endParaRPr>
          </a:p>
          <a:p>
            <a:r>
              <a:rPr kumimoji="1" lang="ja-JP" altLang="en-US" sz="2000" dirty="0">
                <a:latin typeface="HGS創英角ｺﾞｼｯｸUB" panose="020B0900000000000000" pitchFamily="50" charset="-128"/>
                <a:ea typeface="HGS創英角ｺﾞｼｯｸUB" panose="020B0900000000000000" pitchFamily="50" charset="-128"/>
              </a:rPr>
              <a:t>通常の</a:t>
            </a:r>
            <a:r>
              <a:rPr kumimoji="1" lang="en-US" altLang="ja-JP" sz="2000" dirty="0">
                <a:latin typeface="HGS創英角ｺﾞｼｯｸUB" panose="020B0900000000000000" pitchFamily="50" charset="-128"/>
                <a:ea typeface="HGS創英角ｺﾞｼｯｸUB" panose="020B0900000000000000" pitchFamily="50" charset="-128"/>
              </a:rPr>
              <a:t>2-opt</a:t>
            </a:r>
            <a:r>
              <a:rPr kumimoji="1" lang="ja-JP" altLang="en-US" sz="2000" dirty="0">
                <a:latin typeface="HGS創英角ｺﾞｼｯｸUB" panose="020B0900000000000000" pitchFamily="50" charset="-128"/>
                <a:ea typeface="HGS創英角ｺﾞｼｯｸUB" panose="020B0900000000000000" pitchFamily="50" charset="-128"/>
              </a:rPr>
              <a:t>からさらに改善</a:t>
            </a:r>
            <a:r>
              <a:rPr kumimoji="1" lang="en-US" altLang="ja-JP" sz="2000" dirty="0">
                <a:latin typeface="HGS創英角ｺﾞｼｯｸUB" panose="020B0900000000000000" pitchFamily="50" charset="-128"/>
                <a:ea typeface="HGS創英角ｺﾞｼｯｸUB" panose="020B0900000000000000" pitchFamily="50" charset="-128"/>
              </a:rPr>
              <a:t>: 14.39 (1.58%)</a:t>
            </a:r>
          </a:p>
          <a:p>
            <a:r>
              <a:rPr kumimoji="1" lang="ja-JP" altLang="en-US" sz="2000" dirty="0">
                <a:latin typeface="HGS創英角ｺﾞｼｯｸUB" panose="020B0900000000000000" pitchFamily="50" charset="-128"/>
                <a:ea typeface="HGS創英角ｺﾞｼｯｸUB" panose="020B0900000000000000" pitchFamily="50" charset="-128"/>
              </a:rPr>
              <a:t>最近隣法からの総改善</a:t>
            </a:r>
            <a:r>
              <a:rPr kumimoji="1" lang="en-US" altLang="ja-JP" sz="2000" dirty="0">
                <a:latin typeface="HGS創英角ｺﾞｼｯｸUB" panose="020B0900000000000000" pitchFamily="50" charset="-128"/>
                <a:ea typeface="HGS創英角ｺﾞｼｯｸUB" panose="020B0900000000000000" pitchFamily="50" charset="-128"/>
              </a:rPr>
              <a:t>: 67.89 (7.05%)</a:t>
            </a:r>
          </a:p>
          <a:p>
            <a:endParaRPr kumimoji="1" lang="en-US" altLang="ja-JP" sz="2000" dirty="0">
              <a:latin typeface="HGS創英角ｺﾞｼｯｸUB" panose="020B0900000000000000" pitchFamily="50" charset="-128"/>
              <a:ea typeface="HGS創英角ｺﾞｼｯｸUB" panose="020B0900000000000000" pitchFamily="50" charset="-128"/>
            </a:endParaRPr>
          </a:p>
          <a:p>
            <a:r>
              <a:rPr kumimoji="1" lang="ja-JP" altLang="en-US" sz="2000" dirty="0">
                <a:latin typeface="HGS創英角ｺﾞｼｯｸUB" panose="020B0900000000000000" pitchFamily="50" charset="-128"/>
                <a:ea typeface="HGS創英角ｺﾞｼｯｸUB" panose="020B0900000000000000" pitchFamily="50" charset="-128"/>
              </a:rPr>
              <a:t>ただし、場合によっては</a:t>
            </a:r>
            <a:br>
              <a:rPr kumimoji="1" lang="en-US" altLang="ja-JP" sz="2000" dirty="0">
                <a:latin typeface="HGS創英角ｺﾞｼｯｸUB" panose="020B0900000000000000" pitchFamily="50" charset="-128"/>
                <a:ea typeface="HGS創英角ｺﾞｼｯｸUB" panose="020B0900000000000000" pitchFamily="50" charset="-128"/>
              </a:rPr>
            </a:br>
            <a:r>
              <a:rPr kumimoji="1" lang="ja-JP" altLang="en-US" sz="2000" dirty="0">
                <a:latin typeface="HGS創英角ｺﾞｼｯｸUB" panose="020B0900000000000000" pitchFamily="50" charset="-128"/>
                <a:ea typeface="HGS創英角ｺﾞｼｯｸUB" panose="020B0900000000000000" pitchFamily="50" charset="-128"/>
              </a:rPr>
              <a:t>異なる出力結果が生じた</a:t>
            </a:r>
            <a:endParaRPr kumimoji="1" lang="ja-JP" altLang="en-US" sz="2400" dirty="0">
              <a:latin typeface="HGS創英角ｺﾞｼｯｸUB" panose="020B0900000000000000" pitchFamily="50" charset="-128"/>
              <a:ea typeface="HGS創英角ｺﾞｼｯｸUB" panose="020B0900000000000000" pitchFamily="50" charset="-128"/>
            </a:endParaRPr>
          </a:p>
        </p:txBody>
      </p:sp>
      <p:pic>
        <p:nvPicPr>
          <p:cNvPr id="3" name="コンテンツ プレースホルダー 4">
            <a:extLst>
              <a:ext uri="{FF2B5EF4-FFF2-40B4-BE49-F238E27FC236}">
                <a16:creationId xmlns:a16="http://schemas.microsoft.com/office/drawing/2014/main" id="{6A6C3A7B-1309-F12E-7BDA-82AC9B045EF0}"/>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08" b="97112" l="4407" r="95593">
                        <a14:foregroundMark x1="608" y1="14590" x2="5471" y2="85866"/>
                        <a14:foregroundMark x1="5471" y1="85866" x2="12614" y2="14134"/>
                        <a14:foregroundMark x1="8815" y1="14438" x2="4863" y2="41185"/>
                        <a14:foregroundMark x1="4863" y1="41185" x2="13526" y2="87690"/>
                        <a14:foregroundMark x1="13526" y1="87690" x2="69605" y2="91641"/>
                        <a14:foregroundMark x1="69605" y1="91641" x2="94833" y2="88754"/>
                        <a14:foregroundMark x1="94833" y1="88754" x2="95593" y2="88754"/>
                        <a14:foregroundMark x1="94073" y1="89514" x2="38602" y2="94073"/>
                        <a14:foregroundMark x1="38602" y1="94073" x2="85410" y2="92097"/>
                        <a14:foregroundMark x1="85410" y1="92097" x2="86322" y2="23252"/>
                        <a14:foregroundMark x1="86322" y1="23252" x2="95897" y2="55167"/>
                        <a14:foregroundMark x1="95897" y1="55167" x2="95441" y2="23708"/>
                        <a14:foregroundMark x1="95441" y1="23708" x2="80243" y2="5471"/>
                        <a14:foregroundMark x1="80243" y1="5471" x2="25988" y2="8359"/>
                        <a14:foregroundMark x1="25988" y1="8359" x2="77204" y2="1216"/>
                        <a14:foregroundMark x1="69605" y1="5471" x2="4863" y2="17629"/>
                        <a14:foregroundMark x1="4863" y1="17629" x2="11094" y2="6231"/>
                        <a14:foregroundMark x1="11094" y1="6231" x2="8207" y2="7295"/>
                        <a14:foregroundMark x1="8207" y1="4559" x2="912" y2="97720"/>
                        <a14:foregroundMark x1="912" y1="97720" x2="40729" y2="93009"/>
                        <a14:foregroundMark x1="40729" y1="93009" x2="27812" y2="95745"/>
                        <a14:foregroundMark x1="27812" y1="95745" x2="77508" y2="94377"/>
                        <a14:foregroundMark x1="77508" y1="94377" x2="81307" y2="91793"/>
                        <a14:foregroundMark x1="94073" y1="92249" x2="73252" y2="97264"/>
                        <a14:foregroundMark x1="73252" y1="97264" x2="60030" y2="92705"/>
                        <a14:foregroundMark x1="49544" y1="99088" x2="99392" y2="95289"/>
                        <a14:foregroundMark x1="99392" y1="95289" x2="96049" y2="36018"/>
                        <a14:foregroundMark x1="96049" y1="36018" x2="95441" y2="67173"/>
                        <a14:foregroundMark x1="95441" y1="67173" x2="89210" y2="608"/>
                        <a14:backgroundMark x1="2888" y1="3951" x2="1672" y2="608"/>
                        <a14:backgroundMark x1="2128" y1="7599" x2="1976" y2="2736"/>
                        <a14:backgroundMark x1="3191" y1="5015" x2="2432" y2="4559"/>
                        <a14:backgroundMark x1="3799" y1="1520" x2="1672" y2="12462"/>
                        <a14:backgroundMark x1="1672" y1="12462" x2="0" y2="12310"/>
                        <a14:backgroundMark x1="3040" y1="4255" x2="3495" y2="10638"/>
                        <a14:backgroundMark x1="3951" y1="2888" x2="2432" y2="12766"/>
                        <a14:backgroundMark x1="2432" y1="12766" x2="2280" y2="12766"/>
                      </a14:backgroundRemoval>
                    </a14:imgEffect>
                  </a14:imgLayer>
                </a14:imgProps>
              </a:ext>
              <a:ext uri="{28A0092B-C50C-407E-A947-70E740481C1C}">
                <a14:useLocalDpi xmlns:a14="http://schemas.microsoft.com/office/drawing/2010/main" val="0"/>
              </a:ext>
            </a:extLst>
          </a:blip>
          <a:srcRect/>
          <a:stretch/>
        </p:blipFill>
        <p:spPr>
          <a:xfrm>
            <a:off x="6600825" y="923925"/>
            <a:ext cx="5010150" cy="5010150"/>
          </a:xfrm>
          <a:prstGeom prst="rect">
            <a:avLst/>
          </a:prstGeom>
        </p:spPr>
      </p:pic>
      <p:pic>
        <p:nvPicPr>
          <p:cNvPr id="10" name="図 9" descr="アイコン&#10;&#10;AI によって生成されたコンテンツは間違っている可能性があります。">
            <a:extLst>
              <a:ext uri="{FF2B5EF4-FFF2-40B4-BE49-F238E27FC236}">
                <a16:creationId xmlns:a16="http://schemas.microsoft.com/office/drawing/2014/main" id="{CB2E4760-F94C-CA53-B0A0-72223FF2CCAF}"/>
              </a:ext>
            </a:extLst>
          </p:cNvPr>
          <p:cNvPicPr>
            <a:picLocks noChangeAspect="1"/>
          </p:cNvPicPr>
          <p:nvPr/>
        </p:nvPicPr>
        <p:blipFill>
          <a:blip r:embed="rId5">
            <a:extLst>
              <a:ext uri="{28A0092B-C50C-407E-A947-70E740481C1C}">
                <a14:useLocalDpi xmlns:a14="http://schemas.microsoft.com/office/drawing/2010/main" val="0"/>
              </a:ext>
            </a:extLst>
          </a:blip>
          <a:srcRect l="59393" t="65782" r="-952" b="-2865"/>
          <a:stretch/>
        </p:blipFill>
        <p:spPr>
          <a:xfrm>
            <a:off x="4808872" y="4419877"/>
            <a:ext cx="1791953" cy="1514198"/>
          </a:xfrm>
          <a:prstGeom prst="rect">
            <a:avLst/>
          </a:prstGeom>
        </p:spPr>
      </p:pic>
      <p:sp>
        <p:nvSpPr>
          <p:cNvPr id="4" name="テキスト ボックス 3">
            <a:extLst>
              <a:ext uri="{FF2B5EF4-FFF2-40B4-BE49-F238E27FC236}">
                <a16:creationId xmlns:a16="http://schemas.microsoft.com/office/drawing/2014/main" id="{F1FAE4AA-EE12-AAC6-832E-A002670415A6}"/>
              </a:ext>
            </a:extLst>
          </p:cNvPr>
          <p:cNvSpPr txBox="1"/>
          <p:nvPr/>
        </p:nvSpPr>
        <p:spPr>
          <a:xfrm>
            <a:off x="4010025" y="5960154"/>
            <a:ext cx="7850981" cy="400110"/>
          </a:xfrm>
          <a:prstGeom prst="rect">
            <a:avLst/>
          </a:prstGeom>
          <a:noFill/>
        </p:spPr>
        <p:txBody>
          <a:bodyPr wrap="square" rtlCol="0">
            <a:spAutoFit/>
          </a:bodyPr>
          <a:lstStyle/>
          <a:p>
            <a:pPr algn="ctr"/>
            <a:r>
              <a:rPr kumimoji="1" lang="en-US" altLang="ja-JP" sz="2000">
                <a:latin typeface="HGS創英角ｺﾞｼｯｸUB" panose="020B0900000000000000" pitchFamily="50" charset="-128"/>
                <a:ea typeface="HGS創英角ｺﾞｼｯｸUB" panose="020B0900000000000000" pitchFamily="50" charset="-128"/>
              </a:rPr>
              <a:t>※</a:t>
            </a:r>
            <a:r>
              <a:rPr kumimoji="1" lang="ja-JP" altLang="en-US" sz="2000">
                <a:latin typeface="HGS創英角ｺﾞｼｯｸUB" panose="020B0900000000000000" pitchFamily="50" charset="-128"/>
                <a:ea typeface="HGS創英角ｺﾞｼｯｸUB" panose="020B0900000000000000" pitchFamily="50" charset="-128"/>
              </a:rPr>
              <a:t>画像は一例（分かりやすさのため、都市の位置を固定）</a:t>
            </a:r>
            <a:endParaRPr kumimoji="1" lang="en-US" altLang="ja-JP" sz="2000">
              <a:latin typeface="HGS創英角ｺﾞｼｯｸUB" panose="020B0900000000000000" pitchFamily="50" charset="-128"/>
              <a:ea typeface="HGS創英角ｺﾞｼｯｸUB" panose="020B0900000000000000" pitchFamily="50" charset="-128"/>
            </a:endParaRPr>
          </a:p>
        </p:txBody>
      </p:sp>
      <p:sp>
        <p:nvSpPr>
          <p:cNvPr id="5" name="スライド番号プレースホルダー 4">
            <a:extLst>
              <a:ext uri="{FF2B5EF4-FFF2-40B4-BE49-F238E27FC236}">
                <a16:creationId xmlns:a16="http://schemas.microsoft.com/office/drawing/2014/main" id="{D8C9156D-9A8A-E15A-020C-3FAFDD614226}"/>
              </a:ext>
            </a:extLst>
          </p:cNvPr>
          <p:cNvSpPr>
            <a:spLocks noGrp="1"/>
          </p:cNvSpPr>
          <p:nvPr>
            <p:ph type="sldNum" sz="quarter" idx="12"/>
          </p:nvPr>
        </p:nvSpPr>
        <p:spPr/>
        <p:txBody>
          <a:bodyPr/>
          <a:lstStyle/>
          <a:p>
            <a:fld id="{9E365578-86CB-437F-8A21-C7B14E4ACE69}" type="slidenum">
              <a:rPr kumimoji="1" lang="ja-JP" altLang="en-US" smtClean="0"/>
              <a:t>19</a:t>
            </a:fld>
            <a:endParaRPr kumimoji="1" lang="ja-JP" altLang="en-US"/>
          </a:p>
        </p:txBody>
      </p:sp>
    </p:spTree>
    <p:extLst>
      <p:ext uri="{BB962C8B-B14F-4D97-AF65-F5344CB8AC3E}">
        <p14:creationId xmlns:p14="http://schemas.microsoft.com/office/powerpoint/2010/main" val="27669993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6A5E-8248-5693-A732-B281F5B531F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E39DDA1-8B43-A6B6-6123-BBFBABB78D0F}"/>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 Held-Karp</a:t>
            </a:r>
            <a:r>
              <a:rPr kumimoji="1" lang="ja-JP" altLang="en-US">
                <a:latin typeface="HGS創英角ｺﾞｼｯｸUB" panose="020B0900000000000000" pitchFamily="50" charset="-128"/>
                <a:ea typeface="HGS創英角ｺﾞｼｯｸUB" panose="020B0900000000000000" pitchFamily="50" charset="-128"/>
              </a:rPr>
              <a:t>法</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8" name="テキスト ボックス 7">
            <a:extLst>
              <a:ext uri="{FF2B5EF4-FFF2-40B4-BE49-F238E27FC236}">
                <a16:creationId xmlns:a16="http://schemas.microsoft.com/office/drawing/2014/main" id="{1B53B66A-32A6-FC77-DB70-8697C4520307}"/>
              </a:ext>
            </a:extLst>
          </p:cNvPr>
          <p:cNvSpPr txBox="1"/>
          <p:nvPr/>
        </p:nvSpPr>
        <p:spPr>
          <a:xfrm>
            <a:off x="1052099" y="2582615"/>
            <a:ext cx="4426212" cy="1077218"/>
          </a:xfrm>
          <a:prstGeom prst="rect">
            <a:avLst/>
          </a:prstGeom>
          <a:noFill/>
        </p:spPr>
        <p:txBody>
          <a:bodyPr wrap="none" rtlCol="0">
            <a:spAutoFit/>
          </a:bodyPr>
          <a:lstStyle/>
          <a:p>
            <a:r>
              <a:rPr kumimoji="1" lang="ja-JP" altLang="en-US" sz="3200">
                <a:latin typeface="HGS創英角ｺﾞｼｯｸUB" panose="020B0900000000000000" pitchFamily="50" charset="-128"/>
                <a:ea typeface="HGS創英角ｺﾞｼｯｸUB" panose="020B0900000000000000" pitchFamily="50" charset="-128"/>
              </a:rPr>
              <a:t>総移動距離</a:t>
            </a:r>
            <a:r>
              <a:rPr kumimoji="1" lang="en-US" altLang="ja-JP" sz="3200">
                <a:latin typeface="HGS創英角ｺﾞｼｯｸUB" panose="020B0900000000000000" pitchFamily="50" charset="-128"/>
                <a:ea typeface="HGS創英角ｺﾞｼｯｸUB" panose="020B0900000000000000" pitchFamily="50" charset="-128"/>
              </a:rPr>
              <a:t>: 895.68</a:t>
            </a:r>
          </a:p>
          <a:p>
            <a:r>
              <a:rPr kumimoji="1" lang="ja-JP" altLang="en-US" sz="3200">
                <a:latin typeface="HGS創英角ｺﾞｼｯｸUB" panose="020B0900000000000000" pitchFamily="50" charset="-128"/>
                <a:ea typeface="HGS創英角ｺﾞｼｯｸUB" panose="020B0900000000000000" pitchFamily="50" charset="-128"/>
              </a:rPr>
              <a:t>実行時間： </a:t>
            </a:r>
            <a:r>
              <a:rPr kumimoji="1" lang="en-US" altLang="ja-JP" sz="3200">
                <a:latin typeface="HGS創英角ｺﾞｼｯｸUB" panose="020B0900000000000000" pitchFamily="50" charset="-128"/>
                <a:ea typeface="HGS創英角ｺﾞｼｯｸUB" panose="020B0900000000000000" pitchFamily="50" charset="-128"/>
              </a:rPr>
              <a:t>62.2539</a:t>
            </a:r>
            <a:r>
              <a:rPr kumimoji="1" lang="ja-JP" altLang="en-US" sz="3200">
                <a:latin typeface="HGS創英角ｺﾞｼｯｸUB" panose="020B0900000000000000" pitchFamily="50" charset="-128"/>
                <a:ea typeface="HGS創英角ｺﾞｼｯｸUB" panose="020B0900000000000000" pitchFamily="50" charset="-128"/>
              </a:rPr>
              <a:t>秒</a:t>
            </a:r>
            <a:endParaRPr kumimoji="1" lang="en-US" altLang="ja-JP" sz="3200">
              <a:latin typeface="HGS創英角ｺﾞｼｯｸUB" panose="020B0900000000000000" pitchFamily="50" charset="-128"/>
              <a:ea typeface="HGS創英角ｺﾞｼｯｸUB" panose="020B0900000000000000" pitchFamily="50" charset="-128"/>
            </a:endParaRPr>
          </a:p>
        </p:txBody>
      </p:sp>
      <p:pic>
        <p:nvPicPr>
          <p:cNvPr id="12" name="図 11" descr="グラフ, 折れ線グラフ&#10;&#10;AI によって生成されたコンテンツは間違っている可能性があります。">
            <a:extLst>
              <a:ext uri="{FF2B5EF4-FFF2-40B4-BE49-F238E27FC236}">
                <a16:creationId xmlns:a16="http://schemas.microsoft.com/office/drawing/2014/main" id="{77A83CBC-4FF5-584C-0A96-FDD95015ACAC}"/>
              </a:ext>
            </a:extLst>
          </p:cNvPr>
          <p:cNvPicPr>
            <a:picLocks noChangeAspect="1"/>
          </p:cNvPicPr>
          <p:nvPr/>
        </p:nvPicPr>
        <p:blipFill>
          <a:blip r:embed="rId2">
            <a:alphaModFix/>
            <a:extLst>
              <a:ext uri="{28A0092B-C50C-407E-A947-70E740481C1C}">
                <a14:useLocalDpi xmlns:a14="http://schemas.microsoft.com/office/drawing/2010/main" val="0"/>
              </a:ext>
            </a:extLst>
          </a:blip>
          <a:stretch>
            <a:fillRect/>
          </a:stretch>
        </p:blipFill>
        <p:spPr>
          <a:xfrm>
            <a:off x="6534902" y="961954"/>
            <a:ext cx="5010150" cy="4972121"/>
          </a:xfrm>
          <a:prstGeom prst="rect">
            <a:avLst/>
          </a:prstGeom>
        </p:spPr>
      </p:pic>
      <p:pic>
        <p:nvPicPr>
          <p:cNvPr id="13" name="図 12" descr="アイコン&#10;&#10;AI によって生成されたコンテンツは間違っている可能性があります。">
            <a:extLst>
              <a:ext uri="{FF2B5EF4-FFF2-40B4-BE49-F238E27FC236}">
                <a16:creationId xmlns:a16="http://schemas.microsoft.com/office/drawing/2014/main" id="{757C83FF-CBA5-197D-4D30-6AB75B73407A}"/>
              </a:ext>
            </a:extLst>
          </p:cNvPr>
          <p:cNvPicPr>
            <a:picLocks noChangeAspect="1"/>
          </p:cNvPicPr>
          <p:nvPr/>
        </p:nvPicPr>
        <p:blipFill>
          <a:blip r:embed="rId3">
            <a:extLst>
              <a:ext uri="{28A0092B-C50C-407E-A947-70E740481C1C}">
                <a14:useLocalDpi xmlns:a14="http://schemas.microsoft.com/office/drawing/2010/main" val="0"/>
              </a:ext>
            </a:extLst>
          </a:blip>
          <a:srcRect l="59393" t="65782" r="-952" b="-2865"/>
          <a:stretch/>
        </p:blipFill>
        <p:spPr>
          <a:xfrm>
            <a:off x="4808872" y="4419877"/>
            <a:ext cx="1791953" cy="1514198"/>
          </a:xfrm>
          <a:prstGeom prst="rect">
            <a:avLst/>
          </a:prstGeom>
        </p:spPr>
      </p:pic>
      <p:sp>
        <p:nvSpPr>
          <p:cNvPr id="3" name="テキスト ボックス 2">
            <a:extLst>
              <a:ext uri="{FF2B5EF4-FFF2-40B4-BE49-F238E27FC236}">
                <a16:creationId xmlns:a16="http://schemas.microsoft.com/office/drawing/2014/main" id="{4FD2C527-B672-DE94-AB91-EFA9AF3038CF}"/>
              </a:ext>
            </a:extLst>
          </p:cNvPr>
          <p:cNvSpPr txBox="1"/>
          <p:nvPr/>
        </p:nvSpPr>
        <p:spPr>
          <a:xfrm>
            <a:off x="4010025" y="5960154"/>
            <a:ext cx="7850981" cy="400110"/>
          </a:xfrm>
          <a:prstGeom prst="rect">
            <a:avLst/>
          </a:prstGeom>
          <a:noFill/>
        </p:spPr>
        <p:txBody>
          <a:bodyPr wrap="square" rtlCol="0">
            <a:spAutoFit/>
          </a:bodyPr>
          <a:lstStyle/>
          <a:p>
            <a:pPr algn="ctr"/>
            <a:r>
              <a:rPr kumimoji="1" lang="en-US" altLang="ja-JP" sz="2000">
                <a:latin typeface="HGS創英角ｺﾞｼｯｸUB" panose="020B0900000000000000" pitchFamily="50" charset="-128"/>
                <a:ea typeface="HGS創英角ｺﾞｼｯｸUB" panose="020B0900000000000000" pitchFamily="50" charset="-128"/>
              </a:rPr>
              <a:t>※</a:t>
            </a:r>
            <a:r>
              <a:rPr kumimoji="1" lang="ja-JP" altLang="en-US" sz="2000">
                <a:latin typeface="HGS創英角ｺﾞｼｯｸUB" panose="020B0900000000000000" pitchFamily="50" charset="-128"/>
                <a:ea typeface="HGS創英角ｺﾞｼｯｸUB" panose="020B0900000000000000" pitchFamily="50" charset="-128"/>
              </a:rPr>
              <a:t>画像は一例（分かりやすさのため、都市の位置を固定）</a:t>
            </a:r>
            <a:endParaRPr kumimoji="1" lang="en-US" altLang="ja-JP" sz="2000">
              <a:latin typeface="HGS創英角ｺﾞｼｯｸUB" panose="020B0900000000000000" pitchFamily="50" charset="-128"/>
              <a:ea typeface="HGS創英角ｺﾞｼｯｸUB" panose="020B0900000000000000" pitchFamily="50" charset="-128"/>
            </a:endParaRPr>
          </a:p>
        </p:txBody>
      </p:sp>
      <p:sp>
        <p:nvSpPr>
          <p:cNvPr id="4" name="スライド番号プレースホルダー 3">
            <a:extLst>
              <a:ext uri="{FF2B5EF4-FFF2-40B4-BE49-F238E27FC236}">
                <a16:creationId xmlns:a16="http://schemas.microsoft.com/office/drawing/2014/main" id="{17BA7D08-4031-3CE5-76C3-44BF99B45C49}"/>
              </a:ext>
            </a:extLst>
          </p:cNvPr>
          <p:cNvSpPr>
            <a:spLocks noGrp="1"/>
          </p:cNvSpPr>
          <p:nvPr>
            <p:ph type="sldNum" sz="quarter" idx="12"/>
          </p:nvPr>
        </p:nvSpPr>
        <p:spPr/>
        <p:txBody>
          <a:bodyPr/>
          <a:lstStyle/>
          <a:p>
            <a:fld id="{9E365578-86CB-437F-8A21-C7B14E4ACE69}" type="slidenum">
              <a:rPr kumimoji="1" lang="ja-JP" altLang="en-US" smtClean="0"/>
              <a:t>20</a:t>
            </a:fld>
            <a:endParaRPr kumimoji="1" lang="ja-JP" altLang="en-US"/>
          </a:p>
        </p:txBody>
      </p:sp>
    </p:spTree>
    <p:extLst>
      <p:ext uri="{BB962C8B-B14F-4D97-AF65-F5344CB8AC3E}">
        <p14:creationId xmlns:p14="http://schemas.microsoft.com/office/powerpoint/2010/main" val="3167972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925B7-06B6-F5F6-4DF7-F1CEF54A1A3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2DD3B3-A25D-A6AC-2405-AD3B935D030A}"/>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a:t>
            </a:r>
            <a:r>
              <a:rPr lang="ja-JP" altLang="en-US">
                <a:latin typeface="HGS創英角ｺﾞｼｯｸUB" panose="020B0900000000000000" pitchFamily="50" charset="-128"/>
                <a:ea typeface="HGS創英角ｺﾞｼｯｸUB" panose="020B0900000000000000" pitchFamily="50" charset="-128"/>
              </a:rPr>
              <a:t>分枝限定法</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8" name="テキスト ボックス 7">
            <a:extLst>
              <a:ext uri="{FF2B5EF4-FFF2-40B4-BE49-F238E27FC236}">
                <a16:creationId xmlns:a16="http://schemas.microsoft.com/office/drawing/2014/main" id="{1B8AFF1B-12EE-E932-0B64-8B6676712BA2}"/>
              </a:ext>
            </a:extLst>
          </p:cNvPr>
          <p:cNvSpPr txBox="1"/>
          <p:nvPr/>
        </p:nvSpPr>
        <p:spPr>
          <a:xfrm>
            <a:off x="1052099" y="2582615"/>
            <a:ext cx="6340197" cy="2554545"/>
          </a:xfrm>
          <a:prstGeom prst="rect">
            <a:avLst/>
          </a:prstGeom>
          <a:noFill/>
        </p:spPr>
        <p:txBody>
          <a:bodyPr wrap="none" rtlCol="0">
            <a:spAutoFit/>
          </a:bodyPr>
          <a:lstStyle/>
          <a:p>
            <a:r>
              <a:rPr kumimoji="1" lang="ja-JP" altLang="en-US" sz="3200" dirty="0">
                <a:latin typeface="HGS創英角ｺﾞｼｯｸUB" panose="020B0900000000000000" pitchFamily="50" charset="-128"/>
                <a:ea typeface="HGS創英角ｺﾞｼｯｸUB" panose="020B0900000000000000" pitchFamily="50" charset="-128"/>
              </a:rPr>
              <a:t>総移動距離：</a:t>
            </a:r>
            <a:r>
              <a:rPr kumimoji="1" lang="ja-JP" altLang="en-US" sz="3200" dirty="0">
                <a:solidFill>
                  <a:srgbClr val="FF0000"/>
                </a:solidFill>
                <a:latin typeface="HGS創英角ｺﾞｼｯｸUB" panose="020B0900000000000000" pitchFamily="50" charset="-128"/>
                <a:ea typeface="HGS創英角ｺﾞｼｯｸUB" panose="020B0900000000000000" pitchFamily="50" charset="-128"/>
              </a:rPr>
              <a:t>測定不能</a:t>
            </a:r>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a:p>
            <a:r>
              <a:rPr kumimoji="1" lang="ja-JP" altLang="en-US" sz="3200" dirty="0">
                <a:latin typeface="HGS創英角ｺﾞｼｯｸUB" panose="020B0900000000000000" pitchFamily="50" charset="-128"/>
                <a:ea typeface="HGS創英角ｺﾞｼｯｸUB" panose="020B0900000000000000" pitchFamily="50" charset="-128"/>
              </a:rPr>
              <a:t>実行時間：</a:t>
            </a:r>
            <a:r>
              <a:rPr kumimoji="1" lang="ja-JP" altLang="en-US" sz="3200" dirty="0">
                <a:solidFill>
                  <a:srgbClr val="FF0000"/>
                </a:solidFill>
                <a:latin typeface="HGS創英角ｺﾞｼｯｸUB" panose="020B0900000000000000" pitchFamily="50" charset="-128"/>
                <a:ea typeface="HGS創英角ｺﾞｼｯｸUB" panose="020B0900000000000000" pitchFamily="50" charset="-128"/>
              </a:rPr>
              <a:t>測定不能</a:t>
            </a:r>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a:p>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a:p>
            <a:r>
              <a:rPr kumimoji="1" lang="ja-JP" altLang="en-US" sz="3200" dirty="0">
                <a:solidFill>
                  <a:srgbClr val="FF0000"/>
                </a:solidFill>
                <a:latin typeface="HGS創英角ｺﾞｼｯｸUB" panose="020B0900000000000000" pitchFamily="50" charset="-128"/>
                <a:ea typeface="HGS創英角ｺﾞｼｯｸUB" panose="020B0900000000000000" pitchFamily="50" charset="-128"/>
              </a:rPr>
              <a:t>原因：処理時間が長すぎたため。</a:t>
            </a:r>
            <a:endParaRPr kumimoji="1" lang="en-US" altLang="ja-JP" sz="3200">
              <a:solidFill>
                <a:srgbClr val="FF0000"/>
              </a:solidFill>
              <a:latin typeface="HGS創英角ｺﾞｼｯｸUB" panose="020B0900000000000000" pitchFamily="50" charset="-128"/>
              <a:ea typeface="HGS創英角ｺﾞｼｯｸUB" panose="020B0900000000000000" pitchFamily="50" charset="-128"/>
            </a:endParaRPr>
          </a:p>
          <a:p>
            <a:r>
              <a:rPr kumimoji="1" lang="ja-JP" altLang="en-US" sz="3200">
                <a:solidFill>
                  <a:srgbClr val="FF0000"/>
                </a:solidFill>
                <a:latin typeface="HGS創英角ｺﾞｼｯｸUB" panose="020B0900000000000000" pitchFamily="50" charset="-128"/>
                <a:ea typeface="HGS創英角ｺﾞｼｯｸUB" panose="020B0900000000000000" pitchFamily="50" charset="-128"/>
              </a:rPr>
              <a:t>　　　</a:t>
            </a:r>
            <a:r>
              <a:rPr kumimoji="1" lang="en-US" altLang="ja-JP" sz="3200">
                <a:solidFill>
                  <a:srgbClr val="FF0000"/>
                </a:solidFill>
                <a:latin typeface="HGS創英角ｺﾞｼｯｸUB" panose="020B0900000000000000" pitchFamily="50" charset="-128"/>
                <a:ea typeface="HGS創英角ｺﾞｼｯｸUB" panose="020B0900000000000000" pitchFamily="50" charset="-128"/>
              </a:rPr>
              <a:t>O(n!)</a:t>
            </a:r>
            <a:r>
              <a:rPr kumimoji="1" lang="ja-JP" altLang="en-US" sz="3200">
                <a:solidFill>
                  <a:srgbClr val="FF0000"/>
                </a:solidFill>
                <a:latin typeface="HGS創英角ｺﾞｼｯｸUB" panose="020B0900000000000000" pitchFamily="50" charset="-128"/>
                <a:ea typeface="HGS創英角ｺﾞｼｯｸUB" panose="020B0900000000000000" pitchFamily="50" charset="-128"/>
              </a:rPr>
              <a:t>になる。</a:t>
            </a:r>
            <a:endParaRPr kumimoji="1" lang="en-US" altLang="ja-JP" sz="3200" dirty="0">
              <a:solidFill>
                <a:srgbClr val="FF0000"/>
              </a:solidFill>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4E079A53-DCDD-93F9-61A3-126AF13ED4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27279" y="3998801"/>
            <a:ext cx="2413215" cy="2281586"/>
          </a:xfrm>
          <a:prstGeom prst="rect">
            <a:avLst/>
          </a:prstGeom>
        </p:spPr>
      </p:pic>
      <p:sp>
        <p:nvSpPr>
          <p:cNvPr id="4" name="スライド番号プレースホルダー 3">
            <a:extLst>
              <a:ext uri="{FF2B5EF4-FFF2-40B4-BE49-F238E27FC236}">
                <a16:creationId xmlns:a16="http://schemas.microsoft.com/office/drawing/2014/main" id="{D7255559-D7ED-2EC1-5401-9D9927851066}"/>
              </a:ext>
            </a:extLst>
          </p:cNvPr>
          <p:cNvSpPr>
            <a:spLocks noGrp="1"/>
          </p:cNvSpPr>
          <p:nvPr>
            <p:ph type="sldNum" sz="quarter" idx="12"/>
          </p:nvPr>
        </p:nvSpPr>
        <p:spPr/>
        <p:txBody>
          <a:bodyPr/>
          <a:lstStyle/>
          <a:p>
            <a:fld id="{9E365578-86CB-437F-8A21-C7B14E4ACE69}" type="slidenum">
              <a:rPr kumimoji="1" lang="ja-JP" altLang="en-US" smtClean="0"/>
              <a:t>21</a:t>
            </a:fld>
            <a:endParaRPr kumimoji="1" lang="ja-JP" altLang="en-US"/>
          </a:p>
        </p:txBody>
      </p:sp>
    </p:spTree>
    <p:extLst>
      <p:ext uri="{BB962C8B-B14F-4D97-AF65-F5344CB8AC3E}">
        <p14:creationId xmlns:p14="http://schemas.microsoft.com/office/powerpoint/2010/main" val="2014148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A3654-80C1-73D2-E9DB-F5D93DA3840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82F5673-284C-DB2D-7188-0230EABF8CA6}"/>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a:t>
            </a:r>
            <a:r>
              <a:rPr lang="ja-JP" altLang="en-US">
                <a:latin typeface="HGS創英角ｺﾞｼｯｸUB" panose="020B0900000000000000" pitchFamily="50" charset="-128"/>
                <a:ea typeface="HGS創英角ｺﾞｼｯｸUB" panose="020B0900000000000000" pitchFamily="50" charset="-128"/>
              </a:rPr>
              <a:t>まとめ</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graphicFrame>
        <p:nvGraphicFramePr>
          <p:cNvPr id="11" name="グラフ 10">
            <a:extLst>
              <a:ext uri="{FF2B5EF4-FFF2-40B4-BE49-F238E27FC236}">
                <a16:creationId xmlns:a16="http://schemas.microsoft.com/office/drawing/2014/main" id="{8BF4BFCE-D20C-8EB0-FBC7-C1671E53D02F}"/>
              </a:ext>
            </a:extLst>
          </p:cNvPr>
          <p:cNvGraphicFramePr/>
          <p:nvPr>
            <p:extLst>
              <p:ext uri="{D42A27DB-BD31-4B8C-83A1-F6EECF244321}">
                <p14:modId xmlns:p14="http://schemas.microsoft.com/office/powerpoint/2010/main" val="4254992988"/>
              </p:ext>
            </p:extLst>
          </p:nvPr>
        </p:nvGraphicFramePr>
        <p:xfrm>
          <a:off x="838200" y="1647967"/>
          <a:ext cx="10515600" cy="5078102"/>
        </p:xfrm>
        <a:graphic>
          <a:graphicData uri="http://schemas.openxmlformats.org/drawingml/2006/chart">
            <c:chart xmlns:c="http://schemas.openxmlformats.org/drawingml/2006/chart" xmlns:r="http://schemas.openxmlformats.org/officeDocument/2006/relationships" r:id="rId3"/>
          </a:graphicData>
        </a:graphic>
      </p:graphicFrame>
      <p:pic>
        <p:nvPicPr>
          <p:cNvPr id="14" name="図 13" descr="アイコン&#10;&#10;AI によって生成されたコンテンツは間違っている可能性があります。">
            <a:extLst>
              <a:ext uri="{FF2B5EF4-FFF2-40B4-BE49-F238E27FC236}">
                <a16:creationId xmlns:a16="http://schemas.microsoft.com/office/drawing/2014/main" id="{F781DE9D-761C-D17D-5093-0FBE42E98E27}"/>
              </a:ext>
            </a:extLst>
          </p:cNvPr>
          <p:cNvPicPr>
            <a:picLocks noChangeAspect="1"/>
          </p:cNvPicPr>
          <p:nvPr/>
        </p:nvPicPr>
        <p:blipFill>
          <a:blip r:embed="rId4">
            <a:extLst>
              <a:ext uri="{28A0092B-C50C-407E-A947-70E740481C1C}">
                <a14:useLocalDpi xmlns:a14="http://schemas.microsoft.com/office/drawing/2010/main" val="0"/>
              </a:ext>
            </a:extLst>
          </a:blip>
          <a:srcRect l="57828" t="64680"/>
          <a:stretch/>
        </p:blipFill>
        <p:spPr>
          <a:xfrm>
            <a:off x="8184995" y="407845"/>
            <a:ext cx="1563725" cy="1240122"/>
          </a:xfrm>
          <a:prstGeom prst="rect">
            <a:avLst/>
          </a:prstGeom>
        </p:spPr>
      </p:pic>
      <p:sp>
        <p:nvSpPr>
          <p:cNvPr id="3" name="スライド番号プレースホルダー 2">
            <a:extLst>
              <a:ext uri="{FF2B5EF4-FFF2-40B4-BE49-F238E27FC236}">
                <a16:creationId xmlns:a16="http://schemas.microsoft.com/office/drawing/2014/main" id="{93C460C5-884C-302E-513F-A1D6AE58065D}"/>
              </a:ext>
            </a:extLst>
          </p:cNvPr>
          <p:cNvSpPr>
            <a:spLocks noGrp="1"/>
          </p:cNvSpPr>
          <p:nvPr>
            <p:ph type="sldNum" sz="quarter" idx="12"/>
          </p:nvPr>
        </p:nvSpPr>
        <p:spPr/>
        <p:txBody>
          <a:bodyPr/>
          <a:lstStyle/>
          <a:p>
            <a:fld id="{9E365578-86CB-437F-8A21-C7B14E4ACE69}" type="slidenum">
              <a:rPr kumimoji="1" lang="ja-JP" altLang="en-US" smtClean="0"/>
              <a:t>22</a:t>
            </a:fld>
            <a:endParaRPr kumimoji="1" lang="ja-JP" altLang="en-US"/>
          </a:p>
        </p:txBody>
      </p:sp>
    </p:spTree>
    <p:extLst>
      <p:ext uri="{BB962C8B-B14F-4D97-AF65-F5344CB8AC3E}">
        <p14:creationId xmlns:p14="http://schemas.microsoft.com/office/powerpoint/2010/main" val="1491555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E4D4D-D3A3-5963-6C5F-40B1F73ED0A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F7A857E-864F-7837-31C8-F87FEC6A7061}"/>
              </a:ext>
            </a:extLst>
          </p:cNvPr>
          <p:cNvSpPr>
            <a:spLocks noGrp="1"/>
          </p:cNvSpPr>
          <p:nvPr>
            <p:ph type="title"/>
          </p:nvPr>
        </p:nvSpPr>
        <p:spPr/>
        <p:txBody>
          <a:bodyPr/>
          <a:lstStyle/>
          <a:p>
            <a:r>
              <a:rPr kumimoji="1" lang="ja-JP" altLang="en-US">
                <a:latin typeface="HGS創英角ｺﾞｼｯｸUB" panose="020B0900000000000000" pitchFamily="50" charset="-128"/>
                <a:ea typeface="HGS創英角ｺﾞｼｯｸUB" panose="020B0900000000000000" pitchFamily="50" charset="-128"/>
              </a:rPr>
              <a:t>結果</a:t>
            </a:r>
            <a:r>
              <a:rPr kumimoji="1" lang="en-US" altLang="ja-JP">
                <a:latin typeface="HGS創英角ｺﾞｼｯｸUB" panose="020B0900000000000000" pitchFamily="50" charset="-128"/>
                <a:ea typeface="HGS創英角ｺﾞｼｯｸUB" panose="020B0900000000000000" pitchFamily="50" charset="-128"/>
              </a:rPr>
              <a:t>【</a:t>
            </a:r>
            <a:r>
              <a:rPr lang="ja-JP" altLang="en-US">
                <a:latin typeface="HGS創英角ｺﾞｼｯｸUB" panose="020B0900000000000000" pitchFamily="50" charset="-128"/>
                <a:ea typeface="HGS創英角ｺﾞｼｯｸUB" panose="020B0900000000000000" pitchFamily="50" charset="-128"/>
              </a:rPr>
              <a:t>都市数</a:t>
            </a:r>
            <a:r>
              <a:rPr lang="en-US" altLang="ja-JP">
                <a:latin typeface="HGS創英角ｺﾞｼｯｸUB" panose="020B0900000000000000" pitchFamily="50" charset="-128"/>
                <a:ea typeface="HGS創英角ｺﾞｼｯｸUB" panose="020B0900000000000000" pitchFamily="50" charset="-128"/>
              </a:rPr>
              <a:t>25&amp;30</a:t>
            </a:r>
            <a:r>
              <a:rPr kumimoji="1" lang="en-US" altLang="ja-JP">
                <a:latin typeface="HGS創英角ｺﾞｼｯｸUB" panose="020B0900000000000000" pitchFamily="50" charset="-128"/>
                <a:ea typeface="HGS創英角ｺﾞｼｯｸUB" panose="020B0900000000000000" pitchFamily="50" charset="-128"/>
              </a:rPr>
              <a:t>】</a:t>
            </a:r>
            <a:endParaRPr kumimoji="1" lang="ja-JP" altLang="en-US">
              <a:latin typeface="HGS創英角ｺﾞｼｯｸUB" panose="020B0900000000000000" pitchFamily="50" charset="-128"/>
              <a:ea typeface="HGS創英角ｺﾞｼｯｸUB" panose="020B0900000000000000" pitchFamily="50" charset="-128"/>
            </a:endParaRPr>
          </a:p>
        </p:txBody>
      </p:sp>
      <p:graphicFrame>
        <p:nvGraphicFramePr>
          <p:cNvPr id="11" name="グラフ 10">
            <a:extLst>
              <a:ext uri="{FF2B5EF4-FFF2-40B4-BE49-F238E27FC236}">
                <a16:creationId xmlns:a16="http://schemas.microsoft.com/office/drawing/2014/main" id="{9DA14622-F358-2052-8B39-00F62A1FDE07}"/>
              </a:ext>
            </a:extLst>
          </p:cNvPr>
          <p:cNvGraphicFramePr/>
          <p:nvPr>
            <p:extLst>
              <p:ext uri="{D42A27DB-BD31-4B8C-83A1-F6EECF244321}">
                <p14:modId xmlns:p14="http://schemas.microsoft.com/office/powerpoint/2010/main" val="609995226"/>
              </p:ext>
            </p:extLst>
          </p:nvPr>
        </p:nvGraphicFramePr>
        <p:xfrm>
          <a:off x="838200" y="1647967"/>
          <a:ext cx="10515600" cy="5078102"/>
        </p:xfrm>
        <a:graphic>
          <a:graphicData uri="http://schemas.openxmlformats.org/drawingml/2006/chart">
            <c:chart xmlns:c="http://schemas.openxmlformats.org/drawingml/2006/chart" xmlns:r="http://schemas.openxmlformats.org/officeDocument/2006/relationships" r:id="rId2"/>
          </a:graphicData>
        </a:graphic>
      </p:graphicFrame>
      <p:pic>
        <p:nvPicPr>
          <p:cNvPr id="14" name="図 13" descr="アイコン&#10;&#10;AI によって生成されたコンテンツは間違っている可能性があります。">
            <a:extLst>
              <a:ext uri="{FF2B5EF4-FFF2-40B4-BE49-F238E27FC236}">
                <a16:creationId xmlns:a16="http://schemas.microsoft.com/office/drawing/2014/main" id="{41B22220-A798-CC19-B1FE-B48F1E41536B}"/>
              </a:ext>
            </a:extLst>
          </p:cNvPr>
          <p:cNvPicPr>
            <a:picLocks noChangeAspect="1"/>
          </p:cNvPicPr>
          <p:nvPr/>
        </p:nvPicPr>
        <p:blipFill>
          <a:blip r:embed="rId3">
            <a:extLst>
              <a:ext uri="{28A0092B-C50C-407E-A947-70E740481C1C}">
                <a14:useLocalDpi xmlns:a14="http://schemas.microsoft.com/office/drawing/2010/main" val="0"/>
              </a:ext>
            </a:extLst>
          </a:blip>
          <a:srcRect l="57828" t="64680"/>
          <a:stretch/>
        </p:blipFill>
        <p:spPr>
          <a:xfrm>
            <a:off x="8184995" y="407845"/>
            <a:ext cx="1563725" cy="1240122"/>
          </a:xfrm>
          <a:prstGeom prst="rect">
            <a:avLst/>
          </a:prstGeom>
        </p:spPr>
      </p:pic>
      <p:sp>
        <p:nvSpPr>
          <p:cNvPr id="3" name="スライド番号プレースホルダー 2">
            <a:extLst>
              <a:ext uri="{FF2B5EF4-FFF2-40B4-BE49-F238E27FC236}">
                <a16:creationId xmlns:a16="http://schemas.microsoft.com/office/drawing/2014/main" id="{CEE7E509-75A2-60E2-BF56-449C8316C528}"/>
              </a:ext>
            </a:extLst>
          </p:cNvPr>
          <p:cNvSpPr>
            <a:spLocks noGrp="1"/>
          </p:cNvSpPr>
          <p:nvPr>
            <p:ph type="sldNum" sz="quarter" idx="12"/>
          </p:nvPr>
        </p:nvSpPr>
        <p:spPr/>
        <p:txBody>
          <a:bodyPr/>
          <a:lstStyle/>
          <a:p>
            <a:fld id="{9E365578-86CB-437F-8A21-C7B14E4ACE69}" type="slidenum">
              <a:rPr kumimoji="1" lang="ja-JP" altLang="en-US" smtClean="0"/>
              <a:t>23</a:t>
            </a:fld>
            <a:endParaRPr kumimoji="1" lang="ja-JP" altLang="en-US"/>
          </a:p>
        </p:txBody>
      </p:sp>
    </p:spTree>
    <p:extLst>
      <p:ext uri="{BB962C8B-B14F-4D97-AF65-F5344CB8AC3E}">
        <p14:creationId xmlns:p14="http://schemas.microsoft.com/office/powerpoint/2010/main" val="15899317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E6915A-E2C0-481B-0B77-FEB330181CAF}"/>
              </a:ext>
            </a:extLst>
          </p:cNvPr>
          <p:cNvSpPr>
            <a:spLocks noGrp="1"/>
          </p:cNvSpPr>
          <p:nvPr>
            <p:ph type="title"/>
          </p:nvPr>
        </p:nvSpPr>
        <p:spPr>
          <a:xfrm>
            <a:off x="838200" y="387428"/>
            <a:ext cx="10515600" cy="1325563"/>
          </a:xfrm>
        </p:spPr>
        <p:txBody>
          <a:bodyPr/>
          <a:lstStyle/>
          <a:p>
            <a:r>
              <a:rPr kumimoji="1" lang="ja-JP" altLang="en-US" dirty="0">
                <a:latin typeface="HGS創英角ｺﾞｼｯｸUB" panose="020B0900000000000000" pitchFamily="50" charset="-128"/>
                <a:ea typeface="HGS創英角ｺﾞｼｯｸUB" panose="020B0900000000000000" pitchFamily="50" charset="-128"/>
              </a:rPr>
              <a:t>考察</a:t>
            </a:r>
          </a:p>
        </p:txBody>
      </p:sp>
      <p:sp>
        <p:nvSpPr>
          <p:cNvPr id="3" name="コンテンツ プレースホルダー 2">
            <a:extLst>
              <a:ext uri="{FF2B5EF4-FFF2-40B4-BE49-F238E27FC236}">
                <a16:creationId xmlns:a16="http://schemas.microsoft.com/office/drawing/2014/main" id="{F1EC6B93-E448-8A6E-22BA-8FAC0D5C968B}"/>
              </a:ext>
            </a:extLst>
          </p:cNvPr>
          <p:cNvSpPr>
            <a:spLocks noGrp="1"/>
          </p:cNvSpPr>
          <p:nvPr>
            <p:ph idx="1"/>
          </p:nvPr>
        </p:nvSpPr>
        <p:spPr>
          <a:xfrm>
            <a:off x="815897" y="1825624"/>
            <a:ext cx="10664903" cy="4644947"/>
          </a:xfrm>
        </p:spPr>
        <p:txBody>
          <a:bodyPr>
            <a:normAutofit lnSpcReduction="10000"/>
          </a:bodyPr>
          <a:lstStyle/>
          <a:p>
            <a:r>
              <a:rPr kumimoji="1" lang="ja-JP" altLang="en-US" dirty="0">
                <a:latin typeface="HGS創英角ｺﾞｼｯｸUB" panose="020B0900000000000000" pitchFamily="50" charset="-128"/>
                <a:ea typeface="HGS創英角ｺﾞｼｯｸUB" panose="020B0900000000000000" pitchFamily="50" charset="-128"/>
              </a:rPr>
              <a:t>最近隣法、</a:t>
            </a:r>
            <a:r>
              <a:rPr kumimoji="1" lang="en-US" altLang="ja-JP" dirty="0">
                <a:latin typeface="HGS創英角ｺﾞｼｯｸUB" panose="020B0900000000000000" pitchFamily="50" charset="-128"/>
                <a:ea typeface="HGS創英角ｺﾞｼｯｸUB" panose="020B0900000000000000" pitchFamily="50" charset="-128"/>
              </a:rPr>
              <a:t>2-opt</a:t>
            </a:r>
            <a:r>
              <a:rPr kumimoji="1" lang="ja-JP" altLang="en-US" dirty="0">
                <a:latin typeface="HGS創英角ｺﾞｼｯｸUB" panose="020B0900000000000000" pitchFamily="50" charset="-128"/>
                <a:ea typeface="HGS創英角ｺﾞｼｯｸUB" panose="020B0900000000000000" pitchFamily="50" charset="-128"/>
              </a:rPr>
              <a:t>法、多出発局所探索と最適化を進めていくたびに結果の改善が見られた。</a:t>
            </a:r>
            <a:endParaRPr kumimoji="1" lang="en-US" altLang="ja-JP" dirty="0">
              <a:latin typeface="HGS創英角ｺﾞｼｯｸUB" panose="020B0900000000000000" pitchFamily="50" charset="-128"/>
              <a:ea typeface="HGS創英角ｺﾞｼｯｸUB" panose="020B0900000000000000" pitchFamily="50" charset="-128"/>
            </a:endParaRPr>
          </a:p>
          <a:p>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都市数</a:t>
            </a:r>
            <a:r>
              <a:rPr kumimoji="1" lang="en-US" altLang="ja-JP" dirty="0">
                <a:latin typeface="HGS創英角ｺﾞｼｯｸUB" panose="020B0900000000000000" pitchFamily="50" charset="-128"/>
                <a:ea typeface="HGS創英角ｺﾞｼｯｸUB" panose="020B0900000000000000" pitchFamily="50" charset="-128"/>
              </a:rPr>
              <a:t>20</a:t>
            </a:r>
            <a:r>
              <a:rPr kumimoji="1" lang="ja-JP" altLang="en-US" dirty="0">
                <a:latin typeface="HGS創英角ｺﾞｼｯｸUB" panose="020B0900000000000000" pitchFamily="50" charset="-128"/>
                <a:ea typeface="HGS創英角ｺﾞｼｯｸUB" panose="020B0900000000000000" pitchFamily="50" charset="-128"/>
              </a:rPr>
              <a:t>の場合、</a:t>
            </a:r>
            <a:r>
              <a:rPr kumimoji="1" lang="en-US" altLang="ja-JP" dirty="0">
                <a:latin typeface="HGS創英角ｺﾞｼｯｸUB" panose="020B0900000000000000" pitchFamily="50" charset="-128"/>
                <a:ea typeface="HGS創英角ｺﾞｼｯｸUB" panose="020B0900000000000000" pitchFamily="50" charset="-128"/>
              </a:rPr>
              <a:t>Held-Karp</a:t>
            </a:r>
            <a:r>
              <a:rPr lang="ja-JP" altLang="en-US" dirty="0">
                <a:latin typeface="HGS創英角ｺﾞｼｯｸUB" panose="020B0900000000000000" pitchFamily="50" charset="-128"/>
                <a:ea typeface="HGS創英角ｺﾞｼｯｸUB" panose="020B0900000000000000" pitchFamily="50" charset="-128"/>
              </a:rPr>
              <a:t>法と多出発局所探索では総移動距離において同じ結果が得られたので、これが最適解と考えられる。</a:t>
            </a:r>
            <a:endParaRPr kumimoji="1" lang="en-US" altLang="ja-JP" dirty="0">
              <a:latin typeface="HGS創英角ｺﾞｼｯｸUB" panose="020B0900000000000000" pitchFamily="50" charset="-128"/>
              <a:ea typeface="HGS創英角ｺﾞｼｯｸUB" panose="020B0900000000000000" pitchFamily="50" charset="-128"/>
            </a:endParaRPr>
          </a:p>
          <a:p>
            <a:endParaRPr kumimoji="1"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実行時間は指数関数的に増加し、都市数が増えても同じ傾向が見られた。</a:t>
            </a:r>
            <a:endParaRPr kumimoji="1" lang="en-US" altLang="ja-JP" dirty="0">
              <a:latin typeface="HGS創英角ｺﾞｼｯｸUB" panose="020B0900000000000000" pitchFamily="50" charset="-128"/>
              <a:ea typeface="HGS創英角ｺﾞｼｯｸUB" panose="020B0900000000000000" pitchFamily="50" charset="-128"/>
            </a:endParaRPr>
          </a:p>
          <a:p>
            <a:endParaRPr lang="en-US" altLang="ja-JP" dirty="0">
              <a:latin typeface="HGS創英角ｺﾞｼｯｸUB" panose="020B0900000000000000" pitchFamily="50" charset="-128"/>
              <a:ea typeface="HGS創英角ｺﾞｼｯｸUB" panose="020B0900000000000000" pitchFamily="50" charset="-128"/>
            </a:endParaRPr>
          </a:p>
          <a:p>
            <a:r>
              <a:rPr kumimoji="1" lang="ja-JP" altLang="en-US" dirty="0">
                <a:latin typeface="HGS創英角ｺﾞｼｯｸUB" panose="020B0900000000000000" pitchFamily="50" charset="-128"/>
                <a:ea typeface="HGS創英角ｺﾞｼｯｸUB" panose="020B0900000000000000" pitchFamily="50" charset="-128"/>
              </a:rPr>
              <a:t>分岐限定法では処理が長すぎたため、結果を得ることはできなかった。</a:t>
            </a:r>
          </a:p>
        </p:txBody>
      </p:sp>
      <p:pic>
        <p:nvPicPr>
          <p:cNvPr id="5" name="図 4" descr="アイコン&#10;&#10;AI によって生成されたコンテンツは間違っている可能性があります。">
            <a:extLst>
              <a:ext uri="{FF2B5EF4-FFF2-40B4-BE49-F238E27FC236}">
                <a16:creationId xmlns:a16="http://schemas.microsoft.com/office/drawing/2014/main" id="{956AE5C6-E75C-C5E3-D34A-632809D1E073}"/>
              </a:ext>
            </a:extLst>
          </p:cNvPr>
          <p:cNvPicPr>
            <a:picLocks noChangeAspect="1"/>
          </p:cNvPicPr>
          <p:nvPr/>
        </p:nvPicPr>
        <p:blipFill>
          <a:blip r:embed="rId2">
            <a:extLst>
              <a:ext uri="{28A0092B-C50C-407E-A947-70E740481C1C}">
                <a14:useLocalDpi xmlns:a14="http://schemas.microsoft.com/office/drawing/2010/main" val="0"/>
              </a:ext>
            </a:extLst>
          </a:blip>
          <a:srcRect t="55615" r="49812"/>
          <a:stretch/>
        </p:blipFill>
        <p:spPr>
          <a:xfrm>
            <a:off x="9128537" y="156118"/>
            <a:ext cx="1676995" cy="1435582"/>
          </a:xfrm>
          <a:prstGeom prst="rect">
            <a:avLst/>
          </a:prstGeom>
        </p:spPr>
      </p:pic>
      <p:sp>
        <p:nvSpPr>
          <p:cNvPr id="4" name="スライド番号プレースホルダー 3">
            <a:extLst>
              <a:ext uri="{FF2B5EF4-FFF2-40B4-BE49-F238E27FC236}">
                <a16:creationId xmlns:a16="http://schemas.microsoft.com/office/drawing/2014/main" id="{5030E5D5-268A-2897-F24C-4E291DE4A322}"/>
              </a:ext>
            </a:extLst>
          </p:cNvPr>
          <p:cNvSpPr>
            <a:spLocks noGrp="1"/>
          </p:cNvSpPr>
          <p:nvPr>
            <p:ph type="sldNum" sz="quarter" idx="12"/>
          </p:nvPr>
        </p:nvSpPr>
        <p:spPr/>
        <p:txBody>
          <a:bodyPr/>
          <a:lstStyle/>
          <a:p>
            <a:fld id="{9E365578-86CB-437F-8A21-C7B14E4ACE69}" type="slidenum">
              <a:rPr kumimoji="1" lang="ja-JP" altLang="en-US" smtClean="0"/>
              <a:t>24</a:t>
            </a:fld>
            <a:endParaRPr kumimoji="1" lang="ja-JP" altLang="en-US"/>
          </a:p>
        </p:txBody>
      </p:sp>
    </p:spTree>
    <p:extLst>
      <p:ext uri="{BB962C8B-B14F-4D97-AF65-F5344CB8AC3E}">
        <p14:creationId xmlns:p14="http://schemas.microsoft.com/office/powerpoint/2010/main" val="32955795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34F2B-3DBE-425C-8A72-EF529D2FD49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612A82E-12B6-B9B1-C594-9FAE8C52556C}"/>
              </a:ext>
            </a:extLst>
          </p:cNvPr>
          <p:cNvSpPr>
            <a:spLocks noGrp="1"/>
          </p:cNvSpPr>
          <p:nvPr>
            <p:ph type="title"/>
          </p:nvPr>
        </p:nvSpPr>
        <p:spPr/>
        <p:txBody>
          <a:bodyPr/>
          <a:lstStyle/>
          <a:p>
            <a:r>
              <a:rPr lang="ja-JP" altLang="en-US">
                <a:latin typeface="HGS創英角ｺﾞｼｯｸUB" panose="020B0900000000000000" pitchFamily="50" charset="-128"/>
                <a:ea typeface="HGS創英角ｺﾞｼｯｸUB" panose="020B0900000000000000" pitchFamily="50" charset="-128"/>
              </a:rPr>
              <a:t>まとめ</a:t>
            </a:r>
            <a:endParaRPr kumimoji="1" lang="ja-JP" altLang="en-US">
              <a:latin typeface="HGS創英角ｺﾞｼｯｸUB" panose="020B0900000000000000" pitchFamily="50" charset="-128"/>
              <a:ea typeface="HGS創英角ｺﾞｼｯｸUB" panose="020B0900000000000000" pitchFamily="50" charset="-128"/>
            </a:endParaRPr>
          </a:p>
        </p:txBody>
      </p:sp>
      <p:sp>
        <p:nvSpPr>
          <p:cNvPr id="3" name="コンテンツ プレースホルダー 2">
            <a:extLst>
              <a:ext uri="{FF2B5EF4-FFF2-40B4-BE49-F238E27FC236}">
                <a16:creationId xmlns:a16="http://schemas.microsoft.com/office/drawing/2014/main" id="{E10D2DD1-6C1C-0FCD-A75D-9A854789E0E4}"/>
              </a:ext>
            </a:extLst>
          </p:cNvPr>
          <p:cNvSpPr>
            <a:spLocks noGrp="1"/>
          </p:cNvSpPr>
          <p:nvPr>
            <p:ph idx="1"/>
          </p:nvPr>
        </p:nvSpPr>
        <p:spPr>
          <a:xfrm>
            <a:off x="815897" y="1825625"/>
            <a:ext cx="10770220" cy="4667250"/>
          </a:xfrm>
        </p:spPr>
        <p:txBody>
          <a:bodyPr>
            <a:normAutofit lnSpcReduction="10000"/>
          </a:bodyPr>
          <a:lstStyle/>
          <a:p>
            <a:r>
              <a:rPr lang="ja-JP" altLang="en-US">
                <a:latin typeface="HGS創英角ｺﾞｼｯｸUB" panose="020B0900000000000000" pitchFamily="50" charset="-128"/>
                <a:ea typeface="HGS創英角ｺﾞｼｯｸUB" panose="020B0900000000000000" pitchFamily="50" charset="-128"/>
              </a:rPr>
              <a:t>工程</a:t>
            </a:r>
            <a:r>
              <a:rPr kumimoji="1" lang="ja-JP" altLang="en-US">
                <a:latin typeface="HGS創英角ｺﾞｼｯｸUB" panose="020B0900000000000000" pitchFamily="50" charset="-128"/>
                <a:ea typeface="HGS創英角ｺﾞｼｯｸUB" panose="020B0900000000000000" pitchFamily="50" charset="-128"/>
              </a:rPr>
              <a:t>の効率化やコスト削減を行うときに考える、</a:t>
            </a:r>
            <a:br>
              <a:rPr kumimoji="1" lang="en-US" altLang="ja-JP">
                <a:latin typeface="HGS創英角ｺﾞｼｯｸUB" panose="020B0900000000000000" pitchFamily="50" charset="-128"/>
                <a:ea typeface="HGS創英角ｺﾞｼｯｸUB" panose="020B0900000000000000" pitchFamily="50" charset="-128"/>
              </a:rPr>
            </a:br>
            <a:r>
              <a:rPr kumimoji="1" lang="ja-JP" altLang="en-US">
                <a:latin typeface="HGS創英角ｺﾞｼｯｸUB" panose="020B0900000000000000" pitchFamily="50" charset="-128"/>
                <a:ea typeface="HGS創英角ｺﾞｼｯｸUB" panose="020B0900000000000000" pitchFamily="50" charset="-128"/>
              </a:rPr>
              <a:t>巡回セールスマン問題について、取り組んだ。</a:t>
            </a:r>
            <a:endParaRPr kumimoji="1" lang="en-US" altLang="ja-JP">
              <a:latin typeface="HGS創英角ｺﾞｼｯｸUB" panose="020B0900000000000000" pitchFamily="50" charset="-128"/>
              <a:ea typeface="HGS創英角ｺﾞｼｯｸUB" panose="020B0900000000000000" pitchFamily="50" charset="-128"/>
            </a:endParaRPr>
          </a:p>
          <a:p>
            <a:endParaRPr lang="en-US" altLang="ja-JP">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この問題は</a:t>
            </a:r>
            <a:r>
              <a:rPr kumimoji="1" lang="en-US" altLang="ja-JP">
                <a:latin typeface="HGS創英角ｺﾞｼｯｸUB" panose="020B0900000000000000" pitchFamily="50" charset="-128"/>
                <a:ea typeface="HGS創英角ｺﾞｼｯｸUB" panose="020B0900000000000000" pitchFamily="50" charset="-128"/>
              </a:rPr>
              <a:t>NP</a:t>
            </a:r>
            <a:r>
              <a:rPr kumimoji="1" lang="ja-JP" altLang="en-US">
                <a:latin typeface="HGS創英角ｺﾞｼｯｸUB" panose="020B0900000000000000" pitchFamily="50" charset="-128"/>
                <a:ea typeface="HGS創英角ｺﾞｼｯｸUB" panose="020B0900000000000000" pitchFamily="50" charset="-128"/>
              </a:rPr>
              <a:t>困難のため、あるルートを最適化させていくことで結果を導いた。</a:t>
            </a:r>
            <a:endParaRPr kumimoji="1" lang="en-US" altLang="ja-JP">
              <a:latin typeface="HGS創英角ｺﾞｼｯｸUB" panose="020B0900000000000000" pitchFamily="50" charset="-128"/>
              <a:ea typeface="HGS創英角ｺﾞｼｯｸUB" panose="020B0900000000000000" pitchFamily="50" charset="-128"/>
            </a:endParaRPr>
          </a:p>
          <a:p>
            <a:endParaRPr lang="en-US" altLang="ja-JP">
              <a:latin typeface="HGS創英角ｺﾞｼｯｸUB" panose="020B0900000000000000" pitchFamily="50" charset="-128"/>
              <a:ea typeface="HGS創英角ｺﾞｼｯｸUB" panose="020B0900000000000000" pitchFamily="50" charset="-128"/>
            </a:endParaRPr>
          </a:p>
          <a:p>
            <a:r>
              <a:rPr kumimoji="1" lang="ja-JP" altLang="en-US">
                <a:latin typeface="HGS創英角ｺﾞｼｯｸUB" panose="020B0900000000000000" pitchFamily="50" charset="-128"/>
                <a:ea typeface="HGS創英角ｺﾞｼｯｸUB" panose="020B0900000000000000" pitchFamily="50" charset="-128"/>
              </a:rPr>
              <a:t>最適化に伴い、総移動距離の短縮に成功したが、処理時間は指数関数的に増加した。</a:t>
            </a:r>
            <a:endParaRPr kumimoji="1" lang="en-US" altLang="ja-JP">
              <a:latin typeface="HGS創英角ｺﾞｼｯｸUB" panose="020B0900000000000000" pitchFamily="50" charset="-128"/>
              <a:ea typeface="HGS創英角ｺﾞｼｯｸUB" panose="020B0900000000000000" pitchFamily="50" charset="-128"/>
            </a:endParaRPr>
          </a:p>
          <a:p>
            <a:pPr marL="0" indent="0">
              <a:buNone/>
            </a:pPr>
            <a:endParaRPr lang="en-US" altLang="ja-JP">
              <a:latin typeface="HGS創英角ｺﾞｼｯｸUB" panose="020B0900000000000000" pitchFamily="50" charset="-128"/>
              <a:ea typeface="HGS創英角ｺﾞｼｯｸUB" panose="020B0900000000000000" pitchFamily="50" charset="-128"/>
            </a:endParaRPr>
          </a:p>
          <a:p>
            <a:pPr marL="0" indent="0">
              <a:buNone/>
            </a:pPr>
            <a:r>
              <a:rPr lang="ja-JP" altLang="en-US">
                <a:latin typeface="HGS創英角ｺﾞｼｯｸUB" panose="020B0900000000000000" pitchFamily="50" charset="-128"/>
                <a:ea typeface="HGS創英角ｺﾞｼｯｸUB" panose="020B0900000000000000" pitchFamily="50" charset="-128"/>
              </a:rPr>
              <a:t>・都市数が増加すると、最適解の探索法では探索できなくなった。</a:t>
            </a:r>
            <a:endParaRPr lang="en-US" altLang="ja-JP">
              <a:latin typeface="HGS創英角ｺﾞｼｯｸUB" panose="020B0900000000000000" pitchFamily="50" charset="-128"/>
              <a:ea typeface="HGS創英角ｺﾞｼｯｸUB" panose="020B0900000000000000" pitchFamily="50" charset="-128"/>
            </a:endParaRPr>
          </a:p>
        </p:txBody>
      </p:sp>
      <p:pic>
        <p:nvPicPr>
          <p:cNvPr id="4" name="図 3" descr="アイコン&#10;&#10;AI によって生成されたコンテンツは間違っている可能性があります。">
            <a:extLst>
              <a:ext uri="{FF2B5EF4-FFF2-40B4-BE49-F238E27FC236}">
                <a16:creationId xmlns:a16="http://schemas.microsoft.com/office/drawing/2014/main" id="{C96A5E2A-966E-B161-EEE4-0125934DFA09}"/>
              </a:ext>
            </a:extLst>
          </p:cNvPr>
          <p:cNvPicPr>
            <a:picLocks noChangeAspect="1"/>
          </p:cNvPicPr>
          <p:nvPr/>
        </p:nvPicPr>
        <p:blipFill>
          <a:blip r:embed="rId2">
            <a:extLst>
              <a:ext uri="{28A0092B-C50C-407E-A947-70E740481C1C}">
                <a14:useLocalDpi xmlns:a14="http://schemas.microsoft.com/office/drawing/2010/main" val="0"/>
              </a:ext>
            </a:extLst>
          </a:blip>
          <a:srcRect l="-2249" t="-153" r="52061" b="55768"/>
          <a:stretch/>
        </p:blipFill>
        <p:spPr>
          <a:xfrm>
            <a:off x="9128537" y="156118"/>
            <a:ext cx="1676995" cy="1435582"/>
          </a:xfrm>
          <a:prstGeom prst="rect">
            <a:avLst/>
          </a:prstGeom>
        </p:spPr>
      </p:pic>
      <p:sp>
        <p:nvSpPr>
          <p:cNvPr id="5" name="スライド番号プレースホルダー 4">
            <a:extLst>
              <a:ext uri="{FF2B5EF4-FFF2-40B4-BE49-F238E27FC236}">
                <a16:creationId xmlns:a16="http://schemas.microsoft.com/office/drawing/2014/main" id="{55791998-D792-848E-201D-19B0F91F149C}"/>
              </a:ext>
            </a:extLst>
          </p:cNvPr>
          <p:cNvSpPr>
            <a:spLocks noGrp="1"/>
          </p:cNvSpPr>
          <p:nvPr>
            <p:ph type="sldNum" sz="quarter" idx="12"/>
          </p:nvPr>
        </p:nvSpPr>
        <p:spPr/>
        <p:txBody>
          <a:bodyPr/>
          <a:lstStyle/>
          <a:p>
            <a:fld id="{9E365578-86CB-437F-8A21-C7B14E4ACE69}" type="slidenum">
              <a:rPr kumimoji="1" lang="ja-JP" altLang="en-US" smtClean="0"/>
              <a:t>25</a:t>
            </a:fld>
            <a:endParaRPr kumimoji="1" lang="ja-JP" altLang="en-US"/>
          </a:p>
        </p:txBody>
      </p:sp>
    </p:spTree>
    <p:extLst>
      <p:ext uri="{BB962C8B-B14F-4D97-AF65-F5344CB8AC3E}">
        <p14:creationId xmlns:p14="http://schemas.microsoft.com/office/powerpoint/2010/main" val="2630402186"/>
      </p:ext>
    </p:extLst>
  </p:cSld>
  <p:clrMapOvr>
    <a:masterClrMapping/>
  </p:clrMapOvr>
</p:sld>
</file>

<file path=ppt/theme/theme1.xml><?xml version="1.0" encoding="utf-8"?>
<a:theme xmlns:a="http://schemas.openxmlformats.org/drawingml/2006/main" name="Office 2013 - 2022 テーマ">
  <a:themeElements>
    <a:clrScheme name="Office 2013 - 2022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4c60926b-cc75-49f2-b7c8-24c1b1874ed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842DE71048AF2D43AEA6AFA98AF9E191" ma:contentTypeVersion="13" ma:contentTypeDescription="新しいドキュメントを作成します。" ma:contentTypeScope="" ma:versionID="7a3f52a98164c47517884689ce4754e4">
  <xsd:schema xmlns:xsd="http://www.w3.org/2001/XMLSchema" xmlns:xs="http://www.w3.org/2001/XMLSchema" xmlns:p="http://schemas.microsoft.com/office/2006/metadata/properties" xmlns:ns3="4c60926b-cc75-49f2-b7c8-24c1b1874ed1" xmlns:ns4="bc8daae3-b3e9-42ee-8e45-e1745e336ee1" targetNamespace="http://schemas.microsoft.com/office/2006/metadata/properties" ma:root="true" ma:fieldsID="bfdb0694804408c8ab255140afe92f76" ns3:_="" ns4:_="">
    <xsd:import namespace="4c60926b-cc75-49f2-b7c8-24c1b1874ed1"/>
    <xsd:import namespace="bc8daae3-b3e9-42ee-8e45-e1745e336ee1"/>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AutoTags" minOccurs="0"/>
                <xsd:element ref="ns3:MediaServiceGenerationTime" minOccurs="0"/>
                <xsd:element ref="ns3:MediaServiceEventHashCode" minOccurs="0"/>
                <xsd:element ref="ns3:MediaServiceOCR"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c60926b-cc75-49f2-b7c8-24c1b1874ed1"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c8daae3-b3e9-42ee-8e45-e1745e336ee1" elementFormDefault="qualified">
    <xsd:import namespace="http://schemas.microsoft.com/office/2006/documentManagement/types"/>
    <xsd:import namespace="http://schemas.microsoft.com/office/infopath/2007/PartnerControls"/>
    <xsd:element name="SharedWithUsers" ma:index="9"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共有相手の詳細情報" ma:internalName="SharedWithDetails" ma:readOnly="true">
      <xsd:simpleType>
        <xsd:restriction base="dms:Note">
          <xsd:maxLength value="255"/>
        </xsd:restriction>
      </xsd:simpleType>
    </xsd:element>
    <xsd:element name="SharingHintHash" ma:index="11"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F54EFC-97C9-483E-8495-0289849F122B}">
  <ds:schemaRefs>
    <ds:schemaRef ds:uri="http://schemas.microsoft.com/sharepoint/v3/contenttype/forms"/>
  </ds:schemaRefs>
</ds:datastoreItem>
</file>

<file path=customXml/itemProps2.xml><?xml version="1.0" encoding="utf-8"?>
<ds:datastoreItem xmlns:ds="http://schemas.openxmlformats.org/officeDocument/2006/customXml" ds:itemID="{93F2F272-0FDE-4123-89AC-2F58598461A0}">
  <ds:schemaRefs>
    <ds:schemaRef ds:uri="4c60926b-cc75-49f2-b7c8-24c1b1874ed1"/>
    <ds:schemaRef ds:uri="http://purl.org/dc/terms/"/>
    <ds:schemaRef ds:uri="http://schemas.microsoft.com/office/2006/metadata/properties"/>
    <ds:schemaRef ds:uri="http://purl.org/dc/elements/1.1/"/>
    <ds:schemaRef ds:uri="http://schemas.microsoft.com/office/infopath/2007/PartnerControls"/>
    <ds:schemaRef ds:uri="http://www.w3.org/XML/1998/namespace"/>
    <ds:schemaRef ds:uri="http://purl.org/dc/dcmitype/"/>
    <ds:schemaRef ds:uri="http://schemas.openxmlformats.org/package/2006/metadata/core-properties"/>
    <ds:schemaRef ds:uri="http://schemas.microsoft.com/office/2006/documentManagement/types"/>
    <ds:schemaRef ds:uri="bc8daae3-b3e9-42ee-8e45-e1745e336ee1"/>
  </ds:schemaRefs>
</ds:datastoreItem>
</file>

<file path=customXml/itemProps3.xml><?xml version="1.0" encoding="utf-8"?>
<ds:datastoreItem xmlns:ds="http://schemas.openxmlformats.org/officeDocument/2006/customXml" ds:itemID="{C5C46FFB-8E09-4885-AD9E-2C9872E6D1E0}">
  <ds:schemaRefs>
    <ds:schemaRef ds:uri="4c60926b-cc75-49f2-b7c8-24c1b1874ed1"/>
    <ds:schemaRef ds:uri="bc8daae3-b3e9-42ee-8e45-e1745e336ee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1385</TotalTime>
  <Words>1286</Words>
  <Application>Microsoft Office PowerPoint</Application>
  <PresentationFormat>ワイド画面</PresentationFormat>
  <Paragraphs>215</Paragraphs>
  <Slides>25</Slides>
  <Notes>4</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25</vt:i4>
      </vt:variant>
    </vt:vector>
  </HeadingPairs>
  <TitlesOfParts>
    <vt:vector size="34" baseType="lpstr">
      <vt:lpstr>HGP創英角ﾎﾟｯﾌﾟ体</vt:lpstr>
      <vt:lpstr>HGS創英角ｺﾞｼｯｸUB</vt:lpstr>
      <vt:lpstr>游ゴシック</vt:lpstr>
      <vt:lpstr>Arial</vt:lpstr>
      <vt:lpstr>Calibri</vt:lpstr>
      <vt:lpstr>Calibri Light</vt:lpstr>
      <vt:lpstr>Cambria Math</vt:lpstr>
      <vt:lpstr>Wingdings</vt:lpstr>
      <vt:lpstr>Office 2013 - 2022 テーマ</vt:lpstr>
      <vt:lpstr>最適化アルゴリズムに関する実験</vt:lpstr>
      <vt:lpstr>背景</vt:lpstr>
      <vt:lpstr>目的</vt:lpstr>
      <vt:lpstr>巡回セールスマン問題とは</vt:lpstr>
      <vt:lpstr>巡回セールスマン問題とは</vt:lpstr>
      <vt:lpstr>実験方法</vt:lpstr>
      <vt:lpstr>０．都市の生成</vt:lpstr>
      <vt:lpstr>１．最近隣法</vt:lpstr>
      <vt:lpstr>２．2-opt法</vt:lpstr>
      <vt:lpstr>イメージ図</vt:lpstr>
      <vt:lpstr>３．多出発局所探索</vt:lpstr>
      <vt:lpstr>４．Held-Karp法</vt:lpstr>
      <vt:lpstr>イメージ図</vt:lpstr>
      <vt:lpstr>効率</vt:lpstr>
      <vt:lpstr>分枝限定法</vt:lpstr>
      <vt:lpstr>実験方法</vt:lpstr>
      <vt:lpstr>結果【最近隣法】</vt:lpstr>
      <vt:lpstr>結果【2-opt法】</vt:lpstr>
      <vt:lpstr>結果【多出発局所探索】</vt:lpstr>
      <vt:lpstr>結果【 Held-Karp法】</vt:lpstr>
      <vt:lpstr>結果【分枝限定法】</vt:lpstr>
      <vt:lpstr>結果【まとめ】</vt:lpstr>
      <vt:lpstr>結果【都市数25&amp;30】</vt:lpstr>
      <vt:lpstr>考察</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新太 湯村</dc:creator>
  <cp:lastModifiedBy>牧野　唯希</cp:lastModifiedBy>
  <cp:revision>1</cp:revision>
  <dcterms:created xsi:type="dcterms:W3CDTF">2025-05-20T06:30:01Z</dcterms:created>
  <dcterms:modified xsi:type="dcterms:W3CDTF">2025-06-05T04:29:49Z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0x010100842DE71048AF2D43AEA6AFA98AF9E191</vt:lpwstr>
  </property>
</Properties>
</file>